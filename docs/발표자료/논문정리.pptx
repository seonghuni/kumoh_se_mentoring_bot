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om TaeWon" userId="977696ba6fb42b8c" providerId="LiveId" clId="{75DD894A-4F48-4D6E-8644-9765BDC717B3}"/>
    <pc:docChg chg="custSel addSld modSld">
      <pc:chgData name="Eom TaeWon" userId="977696ba6fb42b8c" providerId="LiveId" clId="{75DD894A-4F48-4D6E-8644-9765BDC717B3}" dt="2026-07-11T02:53:00.895" v="125" actId="680"/>
      <pc:docMkLst>
        <pc:docMk/>
      </pc:docMkLst>
      <pc:sldChg chg="addSp modSp mod">
        <pc:chgData name="Eom TaeWon" userId="977696ba6fb42b8c" providerId="LiveId" clId="{75DD894A-4F48-4D6E-8644-9765BDC717B3}" dt="2026-07-11T02:44:21.762" v="21" actId="20577"/>
        <pc:sldMkLst>
          <pc:docMk/>
          <pc:sldMk cId="3197411291" sldId="270"/>
        </pc:sldMkLst>
        <pc:spChg chg="mod">
          <ac:chgData name="Eom TaeWon" userId="977696ba6fb42b8c" providerId="LiveId" clId="{75DD894A-4F48-4D6E-8644-9765BDC717B3}" dt="2026-07-11T02:40:31.858" v="0"/>
          <ac:spMkLst>
            <pc:docMk/>
            <pc:sldMk cId="3197411291" sldId="270"/>
            <ac:spMk id="2" creationId="{076ACFFC-6285-B9F7-43FA-9758D528C792}"/>
          </ac:spMkLst>
        </pc:spChg>
        <pc:spChg chg="mod">
          <ac:chgData name="Eom TaeWon" userId="977696ba6fb42b8c" providerId="LiveId" clId="{75DD894A-4F48-4D6E-8644-9765BDC717B3}" dt="2026-07-11T02:44:13.270" v="15"/>
          <ac:spMkLst>
            <pc:docMk/>
            <pc:sldMk cId="3197411291" sldId="270"/>
            <ac:spMk id="3" creationId="{ED1F9474-E6CE-D3A3-2DAB-28EFE38989DB}"/>
          </ac:spMkLst>
        </pc:spChg>
        <pc:spChg chg="add mod">
          <ac:chgData name="Eom TaeWon" userId="977696ba6fb42b8c" providerId="LiveId" clId="{75DD894A-4F48-4D6E-8644-9765BDC717B3}" dt="2026-07-11T02:44:01.069" v="11" actId="1076"/>
          <ac:spMkLst>
            <pc:docMk/>
            <pc:sldMk cId="3197411291" sldId="270"/>
            <ac:spMk id="5" creationId="{3DFCC72C-B526-246F-02E8-035C25A933C4}"/>
          </ac:spMkLst>
        </pc:spChg>
        <pc:spChg chg="add mod">
          <ac:chgData name="Eom TaeWon" userId="977696ba6fb42b8c" providerId="LiveId" clId="{75DD894A-4F48-4D6E-8644-9765BDC717B3}" dt="2026-07-11T02:44:09.605" v="14" actId="1076"/>
          <ac:spMkLst>
            <pc:docMk/>
            <pc:sldMk cId="3197411291" sldId="270"/>
            <ac:spMk id="7" creationId="{6BF0A8C0-306E-E5E1-9C2A-86D5E8F9DBA6}"/>
          </ac:spMkLst>
        </pc:spChg>
        <pc:spChg chg="add mod">
          <ac:chgData name="Eom TaeWon" userId="977696ba6fb42b8c" providerId="LiveId" clId="{75DD894A-4F48-4D6E-8644-9765BDC717B3}" dt="2026-07-11T02:44:21.762" v="21" actId="20577"/>
          <ac:spMkLst>
            <pc:docMk/>
            <pc:sldMk cId="3197411291" sldId="270"/>
            <ac:spMk id="9" creationId="{54E44B67-169F-48DB-92C7-7A779BB1576B}"/>
          </ac:spMkLst>
        </pc:spChg>
      </pc:sldChg>
      <pc:sldChg chg="addSp delSp modSp new mod">
        <pc:chgData name="Eom TaeWon" userId="977696ba6fb42b8c" providerId="LiveId" clId="{75DD894A-4F48-4D6E-8644-9765BDC717B3}" dt="2026-07-11T02:52:12.723" v="118" actId="1076"/>
        <pc:sldMkLst>
          <pc:docMk/>
          <pc:sldMk cId="2669772440" sldId="273"/>
        </pc:sldMkLst>
        <pc:spChg chg="mod">
          <ac:chgData name="Eom TaeWon" userId="977696ba6fb42b8c" providerId="LiveId" clId="{75DD894A-4F48-4D6E-8644-9765BDC717B3}" dt="2026-07-11T02:47:09.937" v="56" actId="20577"/>
          <ac:spMkLst>
            <pc:docMk/>
            <pc:sldMk cId="2669772440" sldId="273"/>
            <ac:spMk id="2" creationId="{44754FEB-2528-C78E-11C2-4598B1805D52}"/>
          </ac:spMkLst>
        </pc:spChg>
        <pc:spChg chg="add mod">
          <ac:chgData name="Eom TaeWon" userId="977696ba6fb42b8c" providerId="LiveId" clId="{75DD894A-4F48-4D6E-8644-9765BDC717B3}" dt="2026-07-11T02:46:37.174" v="43" actId="20577"/>
          <ac:spMkLst>
            <pc:docMk/>
            <pc:sldMk cId="2669772440" sldId="273"/>
            <ac:spMk id="4" creationId="{37413BA5-34CE-49EE-5297-BE00DBC64716}"/>
          </ac:spMkLst>
        </pc:spChg>
        <pc:spChg chg="add mod">
          <ac:chgData name="Eom TaeWon" userId="977696ba6fb42b8c" providerId="LiveId" clId="{75DD894A-4F48-4D6E-8644-9765BDC717B3}" dt="2026-07-11T02:47:17.653" v="57"/>
          <ac:spMkLst>
            <pc:docMk/>
            <pc:sldMk cId="2669772440" sldId="273"/>
            <ac:spMk id="6" creationId="{A10D1824-D7C2-A099-BAEE-F630C90FFD25}"/>
          </ac:spMkLst>
        </pc:spChg>
        <pc:spChg chg="add mod">
          <ac:chgData name="Eom TaeWon" userId="977696ba6fb42b8c" providerId="LiveId" clId="{75DD894A-4F48-4D6E-8644-9765BDC717B3}" dt="2026-07-11T02:47:07.322" v="50"/>
          <ac:spMkLst>
            <pc:docMk/>
            <pc:sldMk cId="2669772440" sldId="273"/>
            <ac:spMk id="8" creationId="{9639AED6-87CC-3720-203F-28A2AF24E98B}"/>
          </ac:spMkLst>
        </pc:spChg>
        <pc:spChg chg="add mod">
          <ac:chgData name="Eom TaeWon" userId="977696ba6fb42b8c" providerId="LiveId" clId="{75DD894A-4F48-4D6E-8644-9765BDC717B3}" dt="2026-07-11T02:46:40.907" v="45" actId="1076"/>
          <ac:spMkLst>
            <pc:docMk/>
            <pc:sldMk cId="2669772440" sldId="273"/>
            <ac:spMk id="10" creationId="{6DC97E8A-C825-7A4F-FE01-7C809B81442E}"/>
          </ac:spMkLst>
        </pc:spChg>
        <pc:spChg chg="add mod">
          <ac:chgData name="Eom TaeWon" userId="977696ba6fb42b8c" providerId="LiveId" clId="{75DD894A-4F48-4D6E-8644-9765BDC717B3}" dt="2026-07-11T02:48:12.725" v="85" actId="20577"/>
          <ac:spMkLst>
            <pc:docMk/>
            <pc:sldMk cId="2669772440" sldId="273"/>
            <ac:spMk id="12" creationId="{408B6370-5F03-0A29-0A17-2DF5F923F007}"/>
          </ac:spMkLst>
        </pc:spChg>
        <pc:spChg chg="add mod">
          <ac:chgData name="Eom TaeWon" userId="977696ba6fb42b8c" providerId="LiveId" clId="{75DD894A-4F48-4D6E-8644-9765BDC717B3}" dt="2026-07-11T02:47:36.472" v="64" actId="1076"/>
          <ac:spMkLst>
            <pc:docMk/>
            <pc:sldMk cId="2669772440" sldId="273"/>
            <ac:spMk id="14" creationId="{9768B867-B97D-FE1F-5594-B1829F05B36F}"/>
          </ac:spMkLst>
        </pc:spChg>
        <pc:spChg chg="add mod">
          <ac:chgData name="Eom TaeWon" userId="977696ba6fb42b8c" providerId="LiveId" clId="{75DD894A-4F48-4D6E-8644-9765BDC717B3}" dt="2026-07-11T02:51:01.042" v="91" actId="1076"/>
          <ac:spMkLst>
            <pc:docMk/>
            <pc:sldMk cId="2669772440" sldId="273"/>
            <ac:spMk id="18" creationId="{A14F5CC9-C214-F337-F175-A3AD2B97EBEE}"/>
          </ac:spMkLst>
        </pc:spChg>
        <pc:spChg chg="add mod">
          <ac:chgData name="Eom TaeWon" userId="977696ba6fb42b8c" providerId="LiveId" clId="{75DD894A-4F48-4D6E-8644-9765BDC717B3}" dt="2026-07-11T02:51:36.668" v="106" actId="1076"/>
          <ac:spMkLst>
            <pc:docMk/>
            <pc:sldMk cId="2669772440" sldId="273"/>
            <ac:spMk id="20" creationId="{0767EE51-8F12-D889-27E2-6FC7FB38D946}"/>
          </ac:spMkLst>
        </pc:spChg>
        <pc:graphicFrameChg chg="add mod modGraphic">
          <ac:chgData name="Eom TaeWon" userId="977696ba6fb42b8c" providerId="LiveId" clId="{75DD894A-4F48-4D6E-8644-9765BDC717B3}" dt="2026-07-11T02:52:12.723" v="118" actId="1076"/>
          <ac:graphicFrameMkLst>
            <pc:docMk/>
            <pc:sldMk cId="2669772440" sldId="273"/>
            <ac:graphicFrameMk id="21" creationId="{7BF843BC-A978-3656-2DE1-2ED3B3784F2A}"/>
          </ac:graphicFrameMkLst>
        </pc:graphicFrameChg>
      </pc:sldChg>
      <pc:sldChg chg="addSp delSp modSp new mod setBg">
        <pc:chgData name="Eom TaeWon" userId="977696ba6fb42b8c" providerId="LiveId" clId="{75DD894A-4F48-4D6E-8644-9765BDC717B3}" dt="2026-07-11T02:52:50.650" v="124" actId="26606"/>
        <pc:sldMkLst>
          <pc:docMk/>
          <pc:sldMk cId="209708917" sldId="274"/>
        </pc:sldMkLst>
        <pc:spChg chg="mod">
          <ac:chgData name="Eom TaeWon" userId="977696ba6fb42b8c" providerId="LiveId" clId="{75DD894A-4F48-4D6E-8644-9765BDC717B3}" dt="2026-07-11T02:52:50.650" v="124" actId="26606"/>
          <ac:spMkLst>
            <pc:docMk/>
            <pc:sldMk cId="209708917" sldId="274"/>
            <ac:spMk id="2" creationId="{BDCACC82-25F4-4434-8C6D-4363A1542F25}"/>
          </ac:spMkLst>
        </pc:spChg>
        <pc:spChg chg="add">
          <ac:chgData name="Eom TaeWon" userId="977696ba6fb42b8c" providerId="LiveId" clId="{75DD894A-4F48-4D6E-8644-9765BDC717B3}" dt="2026-07-11T02:52:50.650" v="124" actId="26606"/>
          <ac:spMkLst>
            <pc:docMk/>
            <pc:sldMk cId="209708917" sldId="274"/>
            <ac:spMk id="9" creationId="{6753252F-4873-4F63-801D-CC719279A7D5}"/>
          </ac:spMkLst>
        </pc:spChg>
        <pc:spChg chg="add">
          <ac:chgData name="Eom TaeWon" userId="977696ba6fb42b8c" providerId="LiveId" clId="{75DD894A-4F48-4D6E-8644-9765BDC717B3}" dt="2026-07-11T02:52:50.650" v="124" actId="26606"/>
          <ac:spMkLst>
            <pc:docMk/>
            <pc:sldMk cId="209708917" sldId="274"/>
            <ac:spMk id="11" creationId="{047C8CCB-F95D-4249-92DD-651249D3535A}"/>
          </ac:spMkLst>
        </pc:spChg>
        <pc:graphicFrameChg chg="add mod">
          <ac:chgData name="Eom TaeWon" userId="977696ba6fb42b8c" providerId="LiveId" clId="{75DD894A-4F48-4D6E-8644-9765BDC717B3}" dt="2026-07-11T02:52:50.650" v="124" actId="26606"/>
          <ac:graphicFrameMkLst>
            <pc:docMk/>
            <pc:sldMk cId="209708917" sldId="274"/>
            <ac:graphicFrameMk id="4" creationId="{D0321255-0D20-FDC5-88E6-26B96A8AF415}"/>
          </ac:graphicFrameMkLst>
        </pc:graphicFrameChg>
      </pc:sldChg>
      <pc:sldChg chg="new">
        <pc:chgData name="Eom TaeWon" userId="977696ba6fb42b8c" providerId="LiveId" clId="{75DD894A-4F48-4D6E-8644-9765BDC717B3}" dt="2026-07-11T02:53:00.895" v="125" actId="680"/>
        <pc:sldMkLst>
          <pc:docMk/>
          <pc:sldMk cId="471699700" sldId="275"/>
        </pc:sldMkLst>
      </pc:sldChg>
    </pc:docChg>
  </pc:docChgLst>
  <pc:docChgLst>
    <pc:chgData name="Eom TaeWon" userId="977696ba6fb42b8c" providerId="LiveId" clId="{EAEF71FC-EBAA-44C0-A37C-57EF9CC41263}"/>
    <pc:docChg chg="undo custSel modSld">
      <pc:chgData name="Eom TaeWon" userId="977696ba6fb42b8c" providerId="LiveId" clId="{EAEF71FC-EBAA-44C0-A37C-57EF9CC41263}" dt="2026-07-15T05:28:24.246" v="11" actId="1076"/>
      <pc:docMkLst>
        <pc:docMk/>
      </pc:docMkLst>
      <pc:sldChg chg="modSp mod">
        <pc:chgData name="Eom TaeWon" userId="977696ba6fb42b8c" providerId="LiveId" clId="{EAEF71FC-EBAA-44C0-A37C-57EF9CC41263}" dt="2026-07-15T05:09:04.535" v="3" actId="1076"/>
        <pc:sldMkLst>
          <pc:docMk/>
          <pc:sldMk cId="1819499165" sldId="258"/>
        </pc:sldMkLst>
        <pc:spChg chg="mod">
          <ac:chgData name="Eom TaeWon" userId="977696ba6fb42b8c" providerId="LiveId" clId="{EAEF71FC-EBAA-44C0-A37C-57EF9CC41263}" dt="2026-07-15T05:09:04.535" v="3" actId="1076"/>
          <ac:spMkLst>
            <pc:docMk/>
            <pc:sldMk cId="1819499165" sldId="258"/>
            <ac:spMk id="8" creationId="{70FA9BF2-64D5-A80D-23BD-F7229E32826D}"/>
          </ac:spMkLst>
        </pc:spChg>
      </pc:sldChg>
      <pc:sldChg chg="modSp mod">
        <pc:chgData name="Eom TaeWon" userId="977696ba6fb42b8c" providerId="LiveId" clId="{EAEF71FC-EBAA-44C0-A37C-57EF9CC41263}" dt="2026-07-15T05:07:28.766" v="1" actId="14734"/>
        <pc:sldMkLst>
          <pc:docMk/>
          <pc:sldMk cId="3525339466" sldId="259"/>
        </pc:sldMkLst>
        <pc:graphicFrameChg chg="modGraphic">
          <ac:chgData name="Eom TaeWon" userId="977696ba6fb42b8c" providerId="LiveId" clId="{EAEF71FC-EBAA-44C0-A37C-57EF9CC41263}" dt="2026-07-15T05:07:28.766" v="1" actId="14734"/>
          <ac:graphicFrameMkLst>
            <pc:docMk/>
            <pc:sldMk cId="3525339466" sldId="259"/>
            <ac:graphicFrameMk id="4" creationId="{FCDFB312-990E-3062-F3DA-B91467A619FE}"/>
          </ac:graphicFrameMkLst>
        </pc:graphicFrameChg>
      </pc:sldChg>
      <pc:sldChg chg="modSp mod">
        <pc:chgData name="Eom TaeWon" userId="977696ba6fb42b8c" providerId="LiveId" clId="{EAEF71FC-EBAA-44C0-A37C-57EF9CC41263}" dt="2026-07-15T05:11:48.459" v="5" actId="1076"/>
        <pc:sldMkLst>
          <pc:docMk/>
          <pc:sldMk cId="280644629" sldId="261"/>
        </pc:sldMkLst>
        <pc:spChg chg="mod">
          <ac:chgData name="Eom TaeWon" userId="977696ba6fb42b8c" providerId="LiveId" clId="{EAEF71FC-EBAA-44C0-A37C-57EF9CC41263}" dt="2026-07-15T05:11:48.459" v="5" actId="1076"/>
          <ac:spMkLst>
            <pc:docMk/>
            <pc:sldMk cId="280644629" sldId="261"/>
            <ac:spMk id="2" creationId="{2CA8960D-40A3-27CE-364F-EA101DEEC1D9}"/>
          </ac:spMkLst>
        </pc:spChg>
      </pc:sldChg>
      <pc:sldChg chg="modSp mod">
        <pc:chgData name="Eom TaeWon" userId="977696ba6fb42b8c" providerId="LiveId" clId="{EAEF71FC-EBAA-44C0-A37C-57EF9CC41263}" dt="2026-07-15T05:15:22.777" v="6" actId="14734"/>
        <pc:sldMkLst>
          <pc:docMk/>
          <pc:sldMk cId="4076601888" sldId="263"/>
        </pc:sldMkLst>
        <pc:graphicFrameChg chg="modGraphic">
          <ac:chgData name="Eom TaeWon" userId="977696ba6fb42b8c" providerId="LiveId" clId="{EAEF71FC-EBAA-44C0-A37C-57EF9CC41263}" dt="2026-07-15T05:15:22.777" v="6" actId="14734"/>
          <ac:graphicFrameMkLst>
            <pc:docMk/>
            <pc:sldMk cId="4076601888" sldId="263"/>
            <ac:graphicFrameMk id="5" creationId="{BA2CCDD0-54A0-694B-98E9-D2CD746606F9}"/>
          </ac:graphicFrameMkLst>
        </pc:graphicFrameChg>
      </pc:sldChg>
      <pc:sldChg chg="modSp mod">
        <pc:chgData name="Eom TaeWon" userId="977696ba6fb42b8c" providerId="LiveId" clId="{EAEF71FC-EBAA-44C0-A37C-57EF9CC41263}" dt="2026-07-15T05:21:20.996" v="7" actId="14734"/>
        <pc:sldMkLst>
          <pc:docMk/>
          <pc:sldMk cId="241451888" sldId="269"/>
        </pc:sldMkLst>
        <pc:graphicFrameChg chg="modGraphic">
          <ac:chgData name="Eom TaeWon" userId="977696ba6fb42b8c" providerId="LiveId" clId="{EAEF71FC-EBAA-44C0-A37C-57EF9CC41263}" dt="2026-07-15T05:21:20.996" v="7" actId="14734"/>
          <ac:graphicFrameMkLst>
            <pc:docMk/>
            <pc:sldMk cId="241451888" sldId="269"/>
            <ac:graphicFrameMk id="7" creationId="{DF6F66E8-7A07-87FF-CF02-AEF6B2A12D5B}"/>
          </ac:graphicFrameMkLst>
        </pc:graphicFrameChg>
      </pc:sldChg>
      <pc:sldChg chg="modSp mod">
        <pc:chgData name="Eom TaeWon" userId="977696ba6fb42b8c" providerId="LiveId" clId="{EAEF71FC-EBAA-44C0-A37C-57EF9CC41263}" dt="2026-07-15T05:22:04.541" v="9" actId="14734"/>
        <pc:sldMkLst>
          <pc:docMk/>
          <pc:sldMk cId="2470319910" sldId="271"/>
        </pc:sldMkLst>
        <pc:graphicFrameChg chg="modGraphic">
          <ac:chgData name="Eom TaeWon" userId="977696ba6fb42b8c" providerId="LiveId" clId="{EAEF71FC-EBAA-44C0-A37C-57EF9CC41263}" dt="2026-07-15T05:22:04.541" v="9" actId="14734"/>
          <ac:graphicFrameMkLst>
            <pc:docMk/>
            <pc:sldMk cId="2470319910" sldId="271"/>
            <ac:graphicFrameMk id="3" creationId="{A029683F-B189-1FE1-973F-EC1AFCF41975}"/>
          </ac:graphicFrameMkLst>
        </pc:graphicFrameChg>
      </pc:sldChg>
      <pc:sldChg chg="modSp mod">
        <pc:chgData name="Eom TaeWon" userId="977696ba6fb42b8c" providerId="LiveId" clId="{EAEF71FC-EBAA-44C0-A37C-57EF9CC41263}" dt="2026-07-15T05:28:24.246" v="11" actId="1076"/>
        <pc:sldMkLst>
          <pc:docMk/>
          <pc:sldMk cId="2669772440" sldId="273"/>
        </pc:sldMkLst>
        <pc:spChg chg="mod">
          <ac:chgData name="Eom TaeWon" userId="977696ba6fb42b8c" providerId="LiveId" clId="{EAEF71FC-EBAA-44C0-A37C-57EF9CC41263}" dt="2026-07-15T05:28:24.246" v="11" actId="1076"/>
          <ac:spMkLst>
            <pc:docMk/>
            <pc:sldMk cId="2669772440" sldId="273"/>
            <ac:spMk id="6" creationId="{A10D1824-D7C2-A099-BAEE-F630C90FFD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AD06B-FE5E-1805-7879-6E5E787B7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3F0188-52F6-5D4A-7953-C4DF10DD7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68C64C-AABB-314A-7323-752116DF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F79F1-AA4E-FD2F-93D3-10DB052B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4A2B7-EC68-D352-D27D-C0E542C0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0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1F878-5241-09F1-F104-47A57FC6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9F00D-C716-FAE1-3D85-46FCDCDEB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AE5A4-5ED0-B664-CD15-18800E7F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867CE7-E3B1-55E8-ECC4-F2190AD3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9CCDC-07CA-1320-3AB8-C0FE071C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7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190C5-7ADF-D879-83E3-E138845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974CF7-F73E-4F5B-1A0C-A9FCFA7F2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ECE6E-E4C4-58CF-E670-673C904B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990E9-6838-831A-A4EA-F1691713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7E7CE-4122-E2D9-0817-F779D710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49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229CE-B7E0-CCA9-4616-6944BDB5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FA8787-7C56-885E-DD68-F722D6223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5C45AD-16BC-96D1-09B4-4D0A5BBD9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11C266-69D1-F743-ECE1-2B64096A1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D9222F-6B25-0A8C-5506-CE8E01ED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CF5E9C-DCD5-2198-249F-D5BF3001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48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AE2C8-3516-F2F3-78A1-DCE490A1B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A5F04D-02C6-5011-2C4C-48890D8B8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3BF808-A0E9-303B-9131-45C37E7E7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412D11-9D4D-95E9-FB66-13EC306D6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066D57-7CF2-DA23-D4B3-19166E839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356262-8501-0065-8D84-392D384D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3C9138-FD1A-B5F6-EB58-75AED4EC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1F16F0-2DAF-FB62-6034-8BA2B29F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8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45833-A30F-FFE2-FB47-FFEF8EBB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728A81-FA8B-2635-EE50-651DA83B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974948-4F23-84D3-3178-49CF8C62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C9CF62-C1B2-C4D8-AAEE-621F969D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2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C454F0-BD27-3811-25D6-95570475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D83E3E-033F-E4D6-54C6-CC07FB5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82541-FBC2-7BEA-2D85-31A2F854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7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AC101-B7E3-8EF0-DAAD-46F2DAE2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43DB5-A8B3-573C-7728-18A80BF70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765A74-AD97-4988-EB38-933623BD9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4AED02-9E92-411A-C900-9BA7591C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E67675-9BD9-C45F-BCF8-5F739295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1A2E8-0887-C7A4-84CA-B0DE757D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00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496F8-6151-A4FE-799A-261C1BC4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4674A5-3FF7-4887-C2C5-BAF82C037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743B6-E407-5F24-31B9-AE0A6D292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AE994D-1A79-0728-CF0A-FA84514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953A6C-A9CF-DADA-1AA1-969B4BC9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AEE48E-7C38-46C7-ED35-717D57E3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54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2E6EC-185A-6B9B-8CE8-F0F1535A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74181D-BBE7-2C01-B6F1-6A690CE1D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9E3F4-7C35-A7BE-2152-BF88057F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91BE9-D74D-59A4-499B-E6012BCC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3B0278-86B4-0CA7-F5A0-7261278D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06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9E35D4-A719-36B6-8288-0D33113C3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8ED0A1-255C-890C-1E6F-BB8A36326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8F4B4-2364-23EC-E2A3-62BF02A7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29B1E1-20A8-A561-089B-158E827E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60CEF-F454-8190-7F0B-C826DBBB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7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16404F-8A95-8D8D-DBEA-B568B58D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2AAC9-E5C7-2E2E-EF4A-7CD33B83B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3543C-A2BB-CD3A-0D9F-6A333F5B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DC8A0-5ECF-4D5A-8726-729F0546E670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DF92BF-A938-CCBB-90E5-FD951DAF7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0B879-6B54-ACA5-BD49-2BAF5D401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6E1F7-68E7-4962-8434-870C84C37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0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508AA-45EC-EDE3-5D62-CFFA82448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ko-KR" sz="4000" dirty="0" err="1"/>
              <a:t>Retrieval-Augmented</a:t>
            </a:r>
            <a:r>
              <a:rPr lang="ko-KR" altLang="ko-KR" sz="4000" dirty="0"/>
              <a:t> </a:t>
            </a:r>
            <a:r>
              <a:rPr lang="ko-KR" altLang="ko-KR" sz="4000" dirty="0" err="1"/>
              <a:t>Generation</a:t>
            </a:r>
            <a:r>
              <a:rPr lang="ko-KR" altLang="ko-KR" sz="4000" dirty="0"/>
              <a:t> </a:t>
            </a:r>
            <a:r>
              <a:rPr lang="ko-KR" altLang="ko-KR" sz="4000" dirty="0" err="1"/>
              <a:t>for</a:t>
            </a:r>
            <a:r>
              <a:rPr lang="ko-KR" altLang="ko-KR" sz="4000" dirty="0"/>
              <a:t> </a:t>
            </a:r>
            <a:r>
              <a:rPr lang="ko-KR" altLang="ko-KR" sz="4000" dirty="0" err="1"/>
              <a:t>Knowledge-Intensive</a:t>
            </a:r>
            <a:r>
              <a:rPr lang="ko-KR" altLang="ko-KR" sz="4000" dirty="0"/>
              <a:t> NLP </a:t>
            </a:r>
            <a:r>
              <a:rPr lang="ko-KR" altLang="ko-KR" sz="4000" dirty="0" err="1"/>
              <a:t>Tasks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AFC97-04FF-FEFE-569D-A39309EFF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ko-KR" dirty="0"/>
              <a:t>지식 집약적 NLP 작업을 위한 검색 증강 생성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2020.5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521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51A40-A593-0C49-EA64-A7B58921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기술의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33DA4-59B2-C4D3-B922-4A028255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대규모 사전학습 언어모델은 많은 사실 지식을 모델 파라미터 안에 저장</a:t>
            </a:r>
            <a:endParaRPr lang="en-US" altLang="ko-KR" dirty="0"/>
          </a:p>
          <a:p>
            <a:r>
              <a:rPr lang="ko-KR" altLang="ko-KR" dirty="0"/>
              <a:t>이런 모델들은 지식을 정확하게 접근하거나 조작하는 능력에는 한계</a:t>
            </a:r>
            <a:endParaRPr lang="en-US" altLang="ko-KR" dirty="0"/>
          </a:p>
          <a:p>
            <a:r>
              <a:rPr lang="ko-KR" altLang="ko-KR" dirty="0"/>
              <a:t>모델이 왜 그런 답을 냈는지 출처를 제시하기 어렵고, 세상이 바뀌었을 때 지식을 업데이트하기도 어</a:t>
            </a:r>
            <a:r>
              <a:rPr lang="ko-KR" altLang="en-US" dirty="0"/>
              <a:t>렵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 RAG(</a:t>
            </a:r>
            <a:r>
              <a:rPr lang="ko-KR" altLang="ko-KR" dirty="0" err="1"/>
              <a:t>Retrieval-Augmented</a:t>
            </a:r>
            <a:r>
              <a:rPr lang="ko-KR" altLang="ko-KR" dirty="0"/>
              <a:t> </a:t>
            </a:r>
            <a:r>
              <a:rPr lang="ko-KR" altLang="ko-KR" dirty="0" err="1"/>
              <a:t>Generation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290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BB22C-3578-A8AA-1D5B-E058A508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LLM</a:t>
            </a:r>
            <a:r>
              <a:rPr lang="ko-KR" altLang="en-US" dirty="0"/>
              <a:t>의 문제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DFB312-990E-3062-F3DA-B91467A61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2038197"/>
              </p:ext>
            </p:extLst>
          </p:nvPr>
        </p:nvGraphicFramePr>
        <p:xfrm>
          <a:off x="838200" y="1912241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709402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84319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803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지식 업데이트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모델을 다시 학습해야 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7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출처 확인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왜 그런 답을 했는지 근거가 부족함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6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환각 가능성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모르는 것도 아는 것처럼 생성할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11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최신 정보 반영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학습 이후 바뀐 정보에 약함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1822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503FB4-8E8F-5C2C-E737-E82AA2C59862}"/>
              </a:ext>
            </a:extLst>
          </p:cNvPr>
          <p:cNvSpPr txBox="1"/>
          <p:nvPr/>
        </p:nvSpPr>
        <p:spPr>
          <a:xfrm>
            <a:off x="2484197" y="5113539"/>
            <a:ext cx="6094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모델이 모든 지식을 외우게 하지 말고, 필요할 때 외부 문서를 검색해서 참고하게 하자.</a:t>
            </a:r>
            <a:endParaRPr lang="ko-KR" altLang="en-US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852285AD-6A5C-0D6E-0E83-1832BB8C4E8F}"/>
              </a:ext>
            </a:extLst>
          </p:cNvPr>
          <p:cNvSpPr/>
          <p:nvPr/>
        </p:nvSpPr>
        <p:spPr>
          <a:xfrm>
            <a:off x="4333461" y="3962400"/>
            <a:ext cx="1610139" cy="7951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33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EEAD9-D7C5-890A-4DCE-5CDE8B45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700D7-FA9D-2612-C499-4CA787046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178" y="3306418"/>
            <a:ext cx="3409122" cy="1850128"/>
          </a:xfrm>
        </p:spPr>
        <p:txBody>
          <a:bodyPr>
            <a:normAutofit/>
          </a:bodyPr>
          <a:lstStyle/>
          <a:p>
            <a:r>
              <a:rPr lang="ko-KR" altLang="ko-KR" sz="1600" dirty="0"/>
              <a:t>외부 문서 검색 인덱스에 저장된 지식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727D0A-6AA3-D765-3708-88AC0C5D7539}"/>
              </a:ext>
            </a:extLst>
          </p:cNvPr>
          <p:cNvSpPr/>
          <p:nvPr/>
        </p:nvSpPr>
        <p:spPr>
          <a:xfrm>
            <a:off x="2299252" y="2199862"/>
            <a:ext cx="2312505" cy="781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파리미터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FA9BF2-64D5-A80D-23BD-F7229E32826D}"/>
              </a:ext>
            </a:extLst>
          </p:cNvPr>
          <p:cNvSpPr/>
          <p:nvPr/>
        </p:nvSpPr>
        <p:spPr>
          <a:xfrm>
            <a:off x="7063407" y="2151966"/>
            <a:ext cx="2312505" cy="781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논</a:t>
            </a:r>
            <a:r>
              <a:rPr lang="en-US" altLang="ko-KR" dirty="0"/>
              <a:t>-</a:t>
            </a:r>
            <a:r>
              <a:rPr lang="ko-KR" altLang="en-US" dirty="0"/>
              <a:t>파라미터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D67B9BA-4F4B-CAD2-4D6B-DDF391C21B2D}"/>
              </a:ext>
            </a:extLst>
          </p:cNvPr>
          <p:cNvSpPr txBox="1">
            <a:spLocks/>
          </p:cNvSpPr>
          <p:nvPr/>
        </p:nvSpPr>
        <p:spPr>
          <a:xfrm>
            <a:off x="1750943" y="3306418"/>
            <a:ext cx="3409122" cy="1850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800" dirty="0"/>
              <a:t>모델 내부 파라미터에 저장된 지식</a:t>
            </a:r>
            <a:endParaRPr lang="en-US" altLang="ko-KR" sz="1800" dirty="0"/>
          </a:p>
          <a:p>
            <a:r>
              <a:rPr lang="en-US" altLang="ko-KR" sz="1800" dirty="0"/>
              <a:t>BART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FF4C9-56E7-2DAE-3F09-D8FE9C5EF5B8}"/>
              </a:ext>
            </a:extLst>
          </p:cNvPr>
          <p:cNvSpPr txBox="1"/>
          <p:nvPr/>
        </p:nvSpPr>
        <p:spPr>
          <a:xfrm>
            <a:off x="1750943" y="5259312"/>
            <a:ext cx="359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GPT, </a:t>
            </a:r>
            <a:r>
              <a:rPr lang="ko-KR" altLang="ko-KR" dirty="0" err="1"/>
              <a:t>Claude</a:t>
            </a:r>
            <a:r>
              <a:rPr lang="ko-KR" altLang="ko-KR" dirty="0"/>
              <a:t>, </a:t>
            </a:r>
            <a:r>
              <a:rPr lang="ko-KR" altLang="ko-KR" dirty="0" err="1"/>
              <a:t>Gemini</a:t>
            </a:r>
            <a:r>
              <a:rPr lang="ko-KR" altLang="ko-KR" dirty="0"/>
              <a:t>, </a:t>
            </a:r>
            <a:r>
              <a:rPr lang="ko-KR" altLang="ko-KR" dirty="0" err="1"/>
              <a:t>Llama</a:t>
            </a:r>
            <a:r>
              <a:rPr lang="ko-KR" altLang="ko-KR" dirty="0"/>
              <a:t>, BART 같은 </a:t>
            </a:r>
            <a:r>
              <a:rPr lang="ko-KR" altLang="ko-KR" b="1" dirty="0"/>
              <a:t>LLM 자체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DF1FD-408B-3912-0562-7461DF7FDD3E}"/>
              </a:ext>
            </a:extLst>
          </p:cNvPr>
          <p:cNvSpPr txBox="1"/>
          <p:nvPr/>
        </p:nvSpPr>
        <p:spPr>
          <a:xfrm>
            <a:off x="6354417" y="5259312"/>
            <a:ext cx="37304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PDF, 문서, DB, 웹페이지, </a:t>
            </a:r>
            <a:r>
              <a:rPr lang="ko-KR" altLang="ko-KR" dirty="0" err="1"/>
              <a:t>벡터DB</a:t>
            </a:r>
            <a:r>
              <a:rPr lang="ko-KR" altLang="ko-KR" dirty="0"/>
              <a:t>, </a:t>
            </a:r>
            <a:r>
              <a:rPr lang="ko-KR" altLang="ko-KR" dirty="0" err="1"/>
              <a:t>Chroma</a:t>
            </a:r>
            <a:r>
              <a:rPr lang="ko-KR" altLang="ko-KR" dirty="0"/>
              <a:t>, FAISS, </a:t>
            </a:r>
            <a:r>
              <a:rPr lang="ko-KR" altLang="ko-KR" dirty="0" err="1"/>
              <a:t>Pinecone</a:t>
            </a:r>
            <a:r>
              <a:rPr lang="ko-KR" altLang="ko-KR" dirty="0"/>
              <a:t>, </a:t>
            </a:r>
            <a:r>
              <a:rPr lang="ko-KR" altLang="ko-KR" dirty="0" err="1"/>
              <a:t>Weaviate</a:t>
            </a:r>
            <a:r>
              <a:rPr lang="ko-KR" altLang="ko-KR" dirty="0"/>
              <a:t> 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949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A8C84-D581-E16B-F35A-1FE5F27A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모델의 두 가지 방식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3134F2-13D3-D11C-64F0-BA42DAF14CAA}"/>
              </a:ext>
            </a:extLst>
          </p:cNvPr>
          <p:cNvSpPr/>
          <p:nvPr/>
        </p:nvSpPr>
        <p:spPr>
          <a:xfrm>
            <a:off x="2299252" y="2199862"/>
            <a:ext cx="2312505" cy="781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1) RAG-</a:t>
            </a:r>
            <a:r>
              <a:rPr lang="ko-KR" altLang="ko-KR" dirty="0" err="1"/>
              <a:t>Sequence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A15BAD-4689-EBA2-57FC-C02D35D0DF7E}"/>
              </a:ext>
            </a:extLst>
          </p:cNvPr>
          <p:cNvSpPr/>
          <p:nvPr/>
        </p:nvSpPr>
        <p:spPr>
          <a:xfrm>
            <a:off x="6778487" y="2199862"/>
            <a:ext cx="2312505" cy="781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2) RAG-</a:t>
            </a:r>
            <a:r>
              <a:rPr lang="ko-KR" altLang="ko-KR" dirty="0" err="1"/>
              <a:t>Token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C39F0-3B32-D335-499D-8C73DC7D4B6F}"/>
              </a:ext>
            </a:extLst>
          </p:cNvPr>
          <p:cNvSpPr txBox="1"/>
          <p:nvPr/>
        </p:nvSpPr>
        <p:spPr>
          <a:xfrm>
            <a:off x="1563757" y="3229930"/>
            <a:ext cx="44262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/>
              <a:t>하나의 답변 전체를 만들 때 </a:t>
            </a:r>
            <a:endParaRPr lang="en-US" altLang="ko-KR" dirty="0"/>
          </a:p>
          <a:p>
            <a:pPr>
              <a:buNone/>
            </a:pPr>
            <a:r>
              <a:rPr lang="ko-KR" altLang="ko-KR" dirty="0"/>
              <a:t>같은 문서를 계속 참고하는 방식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ko-KR" dirty="0"/>
              <a:t>질문이 들어오면 관련 문서 5개를 검색하고, 그중 하나의 문서를 기준으로 전체 답변을 생성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ko-KR" dirty="0"/>
              <a:t>답변 전체가 하나의 문서에 기반한다고 가정하는 방식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5B25D-7844-66D3-BD65-A7DAEB82020F}"/>
              </a:ext>
            </a:extLst>
          </p:cNvPr>
          <p:cNvSpPr txBox="1"/>
          <p:nvPr/>
        </p:nvSpPr>
        <p:spPr>
          <a:xfrm>
            <a:off x="6546574" y="3229930"/>
            <a:ext cx="44262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답변의 각 단어마다 다른 </a:t>
            </a:r>
            <a:endParaRPr lang="en-US" altLang="ko-KR" dirty="0"/>
          </a:p>
          <a:p>
            <a:r>
              <a:rPr lang="ko-KR" altLang="ko-KR" dirty="0"/>
              <a:t>문서를 참고할 수 있는 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답변이 길다면, 앞부분은 문서 </a:t>
            </a:r>
            <a:r>
              <a:rPr lang="ko-KR" altLang="ko-KR" dirty="0" err="1"/>
              <a:t>A를</a:t>
            </a:r>
            <a:r>
              <a:rPr lang="ko-KR" altLang="ko-KR" dirty="0"/>
              <a:t> 참고하고, 중간은 문서 </a:t>
            </a:r>
            <a:r>
              <a:rPr lang="ko-KR" altLang="ko-KR" dirty="0" err="1"/>
              <a:t>B를</a:t>
            </a:r>
            <a:r>
              <a:rPr lang="ko-KR" altLang="ko-KR" dirty="0"/>
              <a:t> 참고하고, 뒷부분은 문서 </a:t>
            </a:r>
            <a:r>
              <a:rPr lang="ko-KR" altLang="ko-KR" dirty="0" err="1"/>
              <a:t>C를</a:t>
            </a:r>
            <a:r>
              <a:rPr lang="ko-KR" altLang="ko-KR" dirty="0"/>
              <a:t> 참고할 수 있다.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답변을 생성하는 과정에서 여러 문서의 정보를 섞어 쓸 수 있는 방식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650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8960D-40A3-27CE-364F-EA101DEE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62" y="316775"/>
            <a:ext cx="10515600" cy="1325563"/>
          </a:xfrm>
        </p:spPr>
        <p:txBody>
          <a:bodyPr/>
          <a:lstStyle/>
          <a:p>
            <a:r>
              <a:rPr lang="ko-KR" altLang="ko-KR" dirty="0" err="1"/>
              <a:t>Retriever</a:t>
            </a:r>
            <a:r>
              <a:rPr lang="en-US" altLang="ko-KR" dirty="0"/>
              <a:t>: </a:t>
            </a:r>
            <a:r>
              <a:rPr lang="ko-KR" altLang="ko-KR" dirty="0"/>
              <a:t>DPR(</a:t>
            </a:r>
            <a:r>
              <a:rPr lang="ko-KR" altLang="ko-KR" dirty="0" err="1"/>
              <a:t>Dense</a:t>
            </a:r>
            <a:r>
              <a:rPr lang="ko-KR" altLang="ko-KR" dirty="0"/>
              <a:t> </a:t>
            </a:r>
            <a:r>
              <a:rPr lang="ko-KR" altLang="ko-KR" dirty="0" err="1"/>
              <a:t>Passage</a:t>
            </a:r>
            <a:r>
              <a:rPr lang="ko-KR" altLang="ko-KR" dirty="0"/>
              <a:t> </a:t>
            </a:r>
            <a:r>
              <a:rPr lang="ko-KR" altLang="ko-KR" dirty="0" err="1"/>
              <a:t>Retriever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1741D3-D8BF-BB78-6432-B79C85F09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질문 → 질문 벡터 </a:t>
            </a:r>
            <a:endParaRPr lang="en-US" altLang="ko-KR" sz="2400" dirty="0"/>
          </a:p>
          <a:p>
            <a:r>
              <a:rPr lang="ko-KR" altLang="ko-KR" sz="2400" dirty="0"/>
              <a:t>문서 → 문서 벡터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ko-KR" sz="2400" dirty="0"/>
              <a:t>질문의 의미와 가장 가까운 문서를 검색하는 방식</a:t>
            </a:r>
          </a:p>
          <a:p>
            <a:r>
              <a:rPr lang="ko-KR" altLang="ko-KR" sz="2400" dirty="0"/>
              <a:t>이것이 키워드 검색과 다른 점이야.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DC7E6C-A8EA-F12B-F34B-A3A394AF7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87893"/>
              </p:ext>
            </p:extLst>
          </p:nvPr>
        </p:nvGraphicFramePr>
        <p:xfrm>
          <a:off x="838200" y="4233615"/>
          <a:ext cx="8683487" cy="1097280"/>
        </p:xfrm>
        <a:graphic>
          <a:graphicData uri="http://schemas.openxmlformats.org/drawingml/2006/table">
            <a:tbl>
              <a:tblPr/>
              <a:tblGrid>
                <a:gridCol w="1361662">
                  <a:extLst>
                    <a:ext uri="{9D8B030D-6E8A-4147-A177-3AD203B41FA5}">
                      <a16:colId xmlns:a16="http://schemas.microsoft.com/office/drawing/2014/main" val="3684490425"/>
                    </a:ext>
                  </a:extLst>
                </a:gridCol>
                <a:gridCol w="7321825">
                  <a:extLst>
                    <a:ext uri="{9D8B030D-6E8A-4147-A177-3AD203B41FA5}">
                      <a16:colId xmlns:a16="http://schemas.microsoft.com/office/drawing/2014/main" val="3344876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42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BM25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단어가 얼마나 겹치는지 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1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DPR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의미적으로 얼마나 </a:t>
                      </a:r>
                      <a:r>
                        <a:rPr lang="ko-KR" dirty="0" err="1"/>
                        <a:t>비슷한지</a:t>
                      </a:r>
                      <a:r>
                        <a:rPr lang="ko-KR" dirty="0"/>
                        <a:t> 중심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967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3564E9-69F0-E718-7C38-9CD88457470F}"/>
              </a:ext>
            </a:extLst>
          </p:cNvPr>
          <p:cNvSpPr txBox="1"/>
          <p:nvPr/>
        </p:nvSpPr>
        <p:spPr>
          <a:xfrm>
            <a:off x="1258956" y="5850235"/>
            <a:ext cx="88723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/>
              <a:t>예를 들어 사용자가 “컴퓨터공학과에서 배우는 </a:t>
            </a:r>
            <a:r>
              <a:rPr lang="ko-KR" altLang="ko-KR" dirty="0" err="1"/>
              <a:t>내용”이라고</a:t>
            </a:r>
            <a:r>
              <a:rPr lang="ko-KR" altLang="ko-KR" dirty="0"/>
              <a:t> 물었을 때, 문서에 정확히 같은 표현이 없어도 “프로그래밍, 알고리즘, 데이터베이스, 인공지능” 같은 내용이 있으면 관련 문서로 찾을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28064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E4B58-2AEF-51CB-1FAC-BA6BFCBF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Generator</a:t>
            </a:r>
            <a:r>
              <a:rPr lang="ko-KR" altLang="ko-KR" dirty="0"/>
              <a:t>: BART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8EB4A3-99B0-7476-C0F4-2278A677B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논문에서는 생성 모델로 </a:t>
            </a:r>
            <a:r>
              <a:rPr lang="ko-KR" altLang="ko-KR" b="1" dirty="0"/>
              <a:t>BART-</a:t>
            </a:r>
            <a:r>
              <a:rPr lang="ko-KR" altLang="ko-KR" b="1" dirty="0" err="1"/>
              <a:t>large</a:t>
            </a:r>
            <a:r>
              <a:rPr lang="ko-KR" altLang="ko-KR" dirty="0" err="1"/>
              <a:t>를</a:t>
            </a:r>
            <a:r>
              <a:rPr lang="ko-KR" altLang="ko-KR" dirty="0"/>
              <a:t> 사용했다.</a:t>
            </a:r>
          </a:p>
          <a:p>
            <a:r>
              <a:rPr lang="ko-KR" altLang="ko-KR" dirty="0" err="1"/>
              <a:t>BART는</a:t>
            </a:r>
            <a:r>
              <a:rPr lang="ko-KR" altLang="ko-KR" dirty="0"/>
              <a:t> 입력 문장과 검색된 문서를 함께 보고 답변을 만든다.</a:t>
            </a:r>
          </a:p>
          <a:p>
            <a:r>
              <a:rPr lang="ko-KR" altLang="ko-KR" dirty="0"/>
              <a:t>입력 형태는 단순하다.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질문 + 검색된 문서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11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6D688-5661-0DD6-DFD6-F1E9A7CD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31756D-E351-CCF5-6279-696352F0C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RAG는</a:t>
            </a:r>
            <a:r>
              <a:rPr lang="ko-KR" altLang="ko-KR" dirty="0"/>
              <a:t> </a:t>
            </a:r>
            <a:r>
              <a:rPr lang="ko-KR" altLang="ko-KR" dirty="0" err="1"/>
              <a:t>LLM의</a:t>
            </a:r>
            <a:r>
              <a:rPr lang="ko-KR" altLang="ko-KR" dirty="0"/>
              <a:t> 환각을 줄일 수 있다.</a:t>
            </a:r>
            <a:endParaRPr lang="en-US" altLang="ko-KR" dirty="0"/>
          </a:p>
          <a:p>
            <a:r>
              <a:rPr lang="ko-KR" altLang="ko-KR" dirty="0"/>
              <a:t>지식 업데이트가 쉽다.</a:t>
            </a:r>
            <a:endParaRPr lang="en-US" altLang="ko-KR" dirty="0"/>
          </a:p>
          <a:p>
            <a:r>
              <a:rPr lang="ko-KR" altLang="ko-KR" sz="1000" dirty="0"/>
              <a:t>기존 </a:t>
            </a:r>
            <a:r>
              <a:rPr lang="ko-KR" altLang="ko-KR" sz="1000" dirty="0" err="1"/>
              <a:t>LLM은</a:t>
            </a:r>
            <a:r>
              <a:rPr lang="ko-KR" altLang="ko-KR" sz="1000" dirty="0"/>
              <a:t> 새로운 지식을 반영하려면 재학습이 필요하다.</a:t>
            </a:r>
          </a:p>
          <a:p>
            <a:r>
              <a:rPr lang="ko-KR" altLang="ko-KR" sz="1000" dirty="0"/>
              <a:t>하지만 </a:t>
            </a:r>
            <a:r>
              <a:rPr lang="ko-KR" altLang="ko-KR" sz="1000" dirty="0" err="1"/>
              <a:t>RAG는</a:t>
            </a:r>
            <a:r>
              <a:rPr lang="ko-KR" altLang="ko-KR" sz="1000" dirty="0"/>
              <a:t> 외부 문서 인덱스만 바꾸면 된다.</a:t>
            </a:r>
            <a:endParaRPr lang="en-US" altLang="ko-KR" sz="1000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2CCDD0-54A0-694B-98E9-D2CD74660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97476"/>
              </p:ext>
            </p:extLst>
          </p:nvPr>
        </p:nvGraphicFramePr>
        <p:xfrm>
          <a:off x="785191" y="3603728"/>
          <a:ext cx="10515600" cy="2194560"/>
        </p:xfrm>
        <a:graphic>
          <a:graphicData uri="http://schemas.openxmlformats.org/drawingml/2006/table">
            <a:tbl>
              <a:tblPr/>
              <a:tblGrid>
                <a:gridCol w="758483">
                  <a:extLst>
                    <a:ext uri="{9D8B030D-6E8A-4147-A177-3AD203B41FA5}">
                      <a16:colId xmlns:a16="http://schemas.microsoft.com/office/drawing/2014/main" val="2637980782"/>
                    </a:ext>
                  </a:extLst>
                </a:gridCol>
                <a:gridCol w="2034413">
                  <a:extLst>
                    <a:ext uri="{9D8B030D-6E8A-4147-A177-3AD203B41FA5}">
                      <a16:colId xmlns:a16="http://schemas.microsoft.com/office/drawing/2014/main" val="670965724"/>
                    </a:ext>
                  </a:extLst>
                </a:gridCol>
                <a:gridCol w="7722704">
                  <a:extLst>
                    <a:ext uri="{9D8B030D-6E8A-4147-A177-3AD203B41FA5}">
                      <a16:colId xmlns:a16="http://schemas.microsoft.com/office/drawing/2014/main" val="382004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순서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개념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75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Chunking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문서를 작은 조각으로 나누는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18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Embedding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문장이나 문서를 벡터로 바꾸는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02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Vector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Search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질문과 비슷한 문서 조각을 찾는 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7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Retriever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관련 문서를 검색하는 부분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307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Generator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 문서를 보고 답변하는 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959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60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278F1-71FB-8A48-9C86-8F6ED1EE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Retrieval-Augmented</a:t>
            </a:r>
            <a:r>
              <a:rPr lang="ko-KR" altLang="ko-KR" dirty="0"/>
              <a:t> </a:t>
            </a:r>
            <a:r>
              <a:rPr lang="ko-KR" altLang="ko-KR" dirty="0" err="1"/>
              <a:t>Generation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Large</a:t>
            </a:r>
            <a:r>
              <a:rPr lang="ko-KR" altLang="ko-KR" dirty="0"/>
              <a:t> </a:t>
            </a:r>
            <a:r>
              <a:rPr lang="ko-KR" altLang="ko-KR" dirty="0" err="1"/>
              <a:t>Language</a:t>
            </a:r>
            <a:r>
              <a:rPr lang="ko-KR" altLang="ko-KR" dirty="0"/>
              <a:t> </a:t>
            </a:r>
            <a:r>
              <a:rPr lang="ko-KR" altLang="ko-KR" dirty="0" err="1"/>
              <a:t>Models</a:t>
            </a:r>
            <a:r>
              <a:rPr lang="ko-KR" altLang="ko-KR" dirty="0"/>
              <a:t>: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Survey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A5964-376B-32C6-FCD4-6E2CB58F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ko-KR" altLang="ko-KR" dirty="0"/>
              <a:t>현대 RAG 기술 지도를 정리한 </a:t>
            </a:r>
            <a:r>
              <a:rPr lang="ko-KR" altLang="ko-KR" dirty="0" err="1"/>
              <a:t>Survey</a:t>
            </a:r>
            <a:r>
              <a:rPr lang="ko-KR" altLang="ko-KR" dirty="0"/>
              <a:t> 논문 </a:t>
            </a:r>
            <a:endParaRPr lang="en-US" altLang="ko-KR" dirty="0"/>
          </a:p>
          <a:p>
            <a:pPr algn="ctr"/>
            <a:r>
              <a:rPr lang="ko-KR" altLang="ko-KR" dirty="0" err="1"/>
              <a:t>Gao</a:t>
            </a:r>
            <a:r>
              <a:rPr lang="ko-KR" altLang="ko-KR" dirty="0"/>
              <a:t> </a:t>
            </a:r>
            <a:r>
              <a:rPr lang="ko-KR" altLang="ko-KR" dirty="0" err="1"/>
              <a:t>et</a:t>
            </a:r>
            <a:r>
              <a:rPr lang="ko-KR" altLang="ko-KR" dirty="0"/>
              <a:t> </a:t>
            </a:r>
            <a:r>
              <a:rPr lang="ko-KR" altLang="ko-KR" dirty="0" err="1"/>
              <a:t>al</a:t>
            </a:r>
            <a:r>
              <a:rPr lang="ko-KR" altLang="ko-KR" dirty="0"/>
              <a:t>.,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165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32539-9BD9-997C-62C8-470B88AF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논문의 큰 구조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18E387-F05A-29F1-C651-0A6701D7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088168-06D7-16AE-F797-FD8F4D5B3613}"/>
              </a:ext>
            </a:extLst>
          </p:cNvPr>
          <p:cNvSpPr/>
          <p:nvPr/>
        </p:nvSpPr>
        <p:spPr>
          <a:xfrm>
            <a:off x="914399" y="2816087"/>
            <a:ext cx="2690192" cy="13255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Naive RAG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BA2B59-8FC0-AFF5-AC6C-7DD0D77184BA}"/>
              </a:ext>
            </a:extLst>
          </p:cNvPr>
          <p:cNvSpPr/>
          <p:nvPr/>
        </p:nvSpPr>
        <p:spPr>
          <a:xfrm>
            <a:off x="4658138" y="2816087"/>
            <a:ext cx="2690192" cy="13255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Advanced RAG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347243-F9FA-E53E-605E-EC4F96AC9CB8}"/>
              </a:ext>
            </a:extLst>
          </p:cNvPr>
          <p:cNvSpPr/>
          <p:nvPr/>
        </p:nvSpPr>
        <p:spPr>
          <a:xfrm>
            <a:off x="8401877" y="2816087"/>
            <a:ext cx="2690192" cy="13255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Modular</a:t>
            </a:r>
            <a:r>
              <a:rPr lang="ko-KR" altLang="ko-KR" dirty="0"/>
              <a:t> RAG</a:t>
            </a:r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59A11A7-E04A-8BEF-2B9A-1BDDCA689FC9}"/>
              </a:ext>
            </a:extLst>
          </p:cNvPr>
          <p:cNvSpPr/>
          <p:nvPr/>
        </p:nvSpPr>
        <p:spPr>
          <a:xfrm>
            <a:off x="3949148" y="3048000"/>
            <a:ext cx="530087" cy="101379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D389B66-525F-8975-AC3A-32911167CDA8}"/>
              </a:ext>
            </a:extLst>
          </p:cNvPr>
          <p:cNvSpPr/>
          <p:nvPr/>
        </p:nvSpPr>
        <p:spPr>
          <a:xfrm>
            <a:off x="7629939" y="2987503"/>
            <a:ext cx="530087" cy="101379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48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8E54A-4E71-917F-6A5C-E47DC35B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Naive</a:t>
            </a:r>
            <a:r>
              <a:rPr lang="ko-KR" altLang="ko-KR" dirty="0"/>
              <a:t> RAG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022C0C3-A5E0-572E-CE19-DBE05BA53140}"/>
              </a:ext>
            </a:extLst>
          </p:cNvPr>
          <p:cNvSpPr/>
          <p:nvPr/>
        </p:nvSpPr>
        <p:spPr>
          <a:xfrm>
            <a:off x="470452" y="1690688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 수집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2E6FD24-AA17-C9E1-6524-237CA1EC82CD}"/>
              </a:ext>
            </a:extLst>
          </p:cNvPr>
          <p:cNvSpPr/>
          <p:nvPr/>
        </p:nvSpPr>
        <p:spPr>
          <a:xfrm>
            <a:off x="470452" y="3020599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Chunking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D54A8C1-1932-9AA0-7322-B6324E8BD3D7}"/>
              </a:ext>
            </a:extLst>
          </p:cNvPr>
          <p:cNvSpPr/>
          <p:nvPr/>
        </p:nvSpPr>
        <p:spPr>
          <a:xfrm>
            <a:off x="6096000" y="1896274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 </a:t>
            </a:r>
            <a:endParaRPr lang="en-US" altLang="ko-KR" dirty="0"/>
          </a:p>
          <a:p>
            <a:pPr algn="ctr"/>
            <a:r>
              <a:rPr lang="ko-KR" altLang="en-US" dirty="0"/>
              <a:t>질문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82C56D9-5197-4BC6-3A48-830826F7BC76}"/>
              </a:ext>
            </a:extLst>
          </p:cNvPr>
          <p:cNvSpPr/>
          <p:nvPr/>
        </p:nvSpPr>
        <p:spPr>
          <a:xfrm>
            <a:off x="516835" y="5513801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Vector DB </a:t>
            </a:r>
            <a:r>
              <a:rPr lang="ko-KR" altLang="en-US" dirty="0"/>
              <a:t>저장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51BA636-7820-892F-6BBC-1137B8CE07B0}"/>
              </a:ext>
            </a:extLst>
          </p:cNvPr>
          <p:cNvSpPr/>
          <p:nvPr/>
        </p:nvSpPr>
        <p:spPr>
          <a:xfrm>
            <a:off x="470452" y="4267200"/>
            <a:ext cx="1948070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Embedding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7D88422-37E3-53D4-96D4-A9E9D0251068}"/>
              </a:ext>
            </a:extLst>
          </p:cNvPr>
          <p:cNvSpPr/>
          <p:nvPr/>
        </p:nvSpPr>
        <p:spPr>
          <a:xfrm>
            <a:off x="6096000" y="3041691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관련 문서  </a:t>
            </a:r>
            <a:endParaRPr lang="en-US" altLang="ko-KR" dirty="0"/>
          </a:p>
          <a:p>
            <a:pPr algn="ctr"/>
            <a:r>
              <a:rPr lang="ko-KR" altLang="en-US" dirty="0"/>
              <a:t>검색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51D1460-304A-9909-56D7-37FBBB52C0A4}"/>
              </a:ext>
            </a:extLst>
          </p:cNvPr>
          <p:cNvSpPr/>
          <p:nvPr/>
        </p:nvSpPr>
        <p:spPr>
          <a:xfrm>
            <a:off x="6096000" y="4361178"/>
            <a:ext cx="1855304" cy="828261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/>
              <a:t>LLM 답</a:t>
            </a:r>
            <a:r>
              <a:rPr lang="ko-KR" altLang="en-US" dirty="0"/>
              <a:t>변</a:t>
            </a:r>
            <a:endParaRPr lang="en-US" altLang="ko-KR" dirty="0"/>
          </a:p>
          <a:p>
            <a:pPr algn="ctr"/>
            <a:r>
              <a:rPr lang="ko-KR" altLang="ko-KR" dirty="0"/>
              <a:t>생성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017E7-6D93-1CDC-2C07-985A71B4D15A}"/>
              </a:ext>
            </a:extLst>
          </p:cNvPr>
          <p:cNvSpPr txBox="1"/>
          <p:nvPr/>
        </p:nvSpPr>
        <p:spPr>
          <a:xfrm>
            <a:off x="2524540" y="1896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학과 PDF 업로드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D39968-C7D6-5267-3391-D8AA9521FE54}"/>
              </a:ext>
            </a:extLst>
          </p:cNvPr>
          <p:cNvSpPr txBox="1"/>
          <p:nvPr/>
        </p:nvSpPr>
        <p:spPr>
          <a:xfrm>
            <a:off x="2524540" y="3244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문서를 조각으로 나눔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F47888-B462-3443-CB58-AAB8AD45224F}"/>
              </a:ext>
            </a:extLst>
          </p:cNvPr>
          <p:cNvSpPr txBox="1"/>
          <p:nvPr/>
        </p:nvSpPr>
        <p:spPr>
          <a:xfrm>
            <a:off x="2637182" y="44966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벡터DB에</a:t>
            </a:r>
            <a:r>
              <a:rPr lang="ko-KR" altLang="ko-KR" dirty="0"/>
              <a:t> 저장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41C50-6F3E-5989-C6E1-58E839767A68}"/>
              </a:ext>
            </a:extLst>
          </p:cNvPr>
          <p:cNvSpPr txBox="1"/>
          <p:nvPr/>
        </p:nvSpPr>
        <p:spPr>
          <a:xfrm>
            <a:off x="8560904" y="20993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학생이 질문 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0C9265-B012-CF17-BCAD-9F0C8A2DB5B8}"/>
              </a:ext>
            </a:extLst>
          </p:cNvPr>
          <p:cNvSpPr txBox="1"/>
          <p:nvPr/>
        </p:nvSpPr>
        <p:spPr>
          <a:xfrm>
            <a:off x="8527576" y="3298006"/>
            <a:ext cx="7328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관련 </a:t>
            </a:r>
            <a:r>
              <a:rPr lang="ko-KR" altLang="ko-KR" dirty="0" err="1"/>
              <a:t>chunk</a:t>
            </a:r>
            <a:r>
              <a:rPr lang="ko-KR" altLang="ko-KR" dirty="0"/>
              <a:t> 검색 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C16A81-D832-E87B-C8FC-A841304CEED9}"/>
              </a:ext>
            </a:extLst>
          </p:cNvPr>
          <p:cNvSpPr txBox="1"/>
          <p:nvPr/>
        </p:nvSpPr>
        <p:spPr>
          <a:xfrm>
            <a:off x="8393374" y="4681330"/>
            <a:ext cx="792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dirty="0" err="1">
                <a:latin typeface="Courier New" panose="02070309020205020404" pitchFamily="49" charset="0"/>
              </a:rPr>
              <a:t>LLM이</a:t>
            </a:r>
            <a:r>
              <a:rPr lang="ko-KR" altLang="ko-KR" dirty="0">
                <a:latin typeface="Courier New" panose="02070309020205020404" pitchFamily="49" charset="0"/>
              </a:rPr>
              <a:t> 답변 생성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341FE71-8669-F3DA-F1B1-2908A380BBF1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1398104" y="2518949"/>
            <a:ext cx="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65F463F-EF63-CCAC-4FDD-78F24BE5AA88}"/>
              </a:ext>
            </a:extLst>
          </p:cNvPr>
          <p:cNvCxnSpPr/>
          <p:nvPr/>
        </p:nvCxnSpPr>
        <p:spPr>
          <a:xfrm>
            <a:off x="1459618" y="3848860"/>
            <a:ext cx="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5506AB8-0D9E-8E26-B72C-D01B7F32BD2E}"/>
              </a:ext>
            </a:extLst>
          </p:cNvPr>
          <p:cNvCxnSpPr/>
          <p:nvPr/>
        </p:nvCxnSpPr>
        <p:spPr>
          <a:xfrm>
            <a:off x="1474749" y="5050662"/>
            <a:ext cx="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F179210-600E-D2D8-8233-91DF45C479AB}"/>
              </a:ext>
            </a:extLst>
          </p:cNvPr>
          <p:cNvCxnSpPr/>
          <p:nvPr/>
        </p:nvCxnSpPr>
        <p:spPr>
          <a:xfrm>
            <a:off x="7023652" y="2724535"/>
            <a:ext cx="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FB6F1A8-079F-6AC5-97C2-E9824A236502}"/>
              </a:ext>
            </a:extLst>
          </p:cNvPr>
          <p:cNvCxnSpPr/>
          <p:nvPr/>
        </p:nvCxnSpPr>
        <p:spPr>
          <a:xfrm>
            <a:off x="7023652" y="3848860"/>
            <a:ext cx="0" cy="50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E5A10CB-E915-B863-5725-73A63E19E928}"/>
              </a:ext>
            </a:extLst>
          </p:cNvPr>
          <p:cNvCxnSpPr>
            <a:cxnSpLocks/>
          </p:cNvCxnSpPr>
          <p:nvPr/>
        </p:nvCxnSpPr>
        <p:spPr>
          <a:xfrm flipV="1">
            <a:off x="2501398" y="2647666"/>
            <a:ext cx="3594602" cy="3192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7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25A277-1303-2799-F1B0-9CAC44E9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Naive RAG </a:t>
            </a:r>
            <a:r>
              <a:rPr lang="ko-KR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한계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B237676-76C3-829C-0D1D-291CA2AD7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373765"/>
              </p:ext>
            </p:extLst>
          </p:nvPr>
        </p:nvGraphicFramePr>
        <p:xfrm>
          <a:off x="320040" y="2805385"/>
          <a:ext cx="11548872" cy="3242532"/>
        </p:xfrm>
        <a:graphic>
          <a:graphicData uri="http://schemas.openxmlformats.org/drawingml/2006/table">
            <a:tbl>
              <a:tblPr/>
              <a:tblGrid>
                <a:gridCol w="3274255">
                  <a:extLst>
                    <a:ext uri="{9D8B030D-6E8A-4147-A177-3AD203B41FA5}">
                      <a16:colId xmlns:a16="http://schemas.microsoft.com/office/drawing/2014/main" val="1384356016"/>
                    </a:ext>
                  </a:extLst>
                </a:gridCol>
                <a:gridCol w="8274617">
                  <a:extLst>
                    <a:ext uri="{9D8B030D-6E8A-4147-A177-3AD203B41FA5}">
                      <a16:colId xmlns:a16="http://schemas.microsoft.com/office/drawing/2014/main" val="1523639975"/>
                    </a:ext>
                  </a:extLst>
                </a:gridCol>
              </a:tblGrid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문제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설명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731972"/>
                  </a:ext>
                </a:extLst>
              </a:tr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검색 품질 낮음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엉뚱한 문서를 가져올 수 있음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80626"/>
                  </a:ext>
                </a:extLst>
              </a:tr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 err="1"/>
                        <a:t>Chunk</a:t>
                      </a:r>
                      <a:r>
                        <a:rPr lang="ko-KR" sz="2400" dirty="0"/>
                        <a:t> 크기 문제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너무 작거나 크면 답변 품질 저하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595703"/>
                  </a:ext>
                </a:extLst>
              </a:tr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문맥 부족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필요한 정보가 여러 문서에 흩어져 있음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157962"/>
                  </a:ext>
                </a:extLst>
              </a:tr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중복 검색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비슷한 문서만 여러 개 가져옴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07092"/>
                  </a:ext>
                </a:extLst>
              </a:tr>
              <a:tr h="54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환각 가능성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2400" dirty="0"/>
                        <a:t>검색 결과가 부족하면 </a:t>
                      </a:r>
                      <a:r>
                        <a:rPr lang="ko-KR" sz="2400" dirty="0" err="1"/>
                        <a:t>LLM이</a:t>
                      </a:r>
                      <a:r>
                        <a:rPr lang="ko-KR" sz="2400" dirty="0"/>
                        <a:t> 지어낼 수 있음</a:t>
                      </a:r>
                    </a:p>
                  </a:txBody>
                  <a:tcPr marL="122823" marR="122823" marT="61411" marB="614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41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1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7FF9F-066D-E1AA-9DA4-080707D6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Advanced RAG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D811F-C992-6425-2408-07B70F54D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Naive</a:t>
            </a:r>
            <a:r>
              <a:rPr lang="ko-KR" altLang="ko-KR" dirty="0"/>
              <a:t> </a:t>
            </a:r>
            <a:r>
              <a:rPr lang="ko-KR" altLang="ko-KR" dirty="0" err="1"/>
              <a:t>RAG의</a:t>
            </a:r>
            <a:r>
              <a:rPr lang="ko-KR" altLang="ko-KR" dirty="0"/>
              <a:t> 약점을 보완한 구조야.</a:t>
            </a:r>
          </a:p>
          <a:p>
            <a:r>
              <a:rPr lang="ko-KR" altLang="ko-KR" dirty="0"/>
              <a:t>핵심은 단순히 검색하고 답하는 게 아니라,</a:t>
            </a:r>
            <a:br>
              <a:rPr lang="ko-KR" altLang="ko-KR" dirty="0"/>
            </a:br>
            <a:r>
              <a:rPr lang="ko-KR" altLang="ko-KR" b="1" dirty="0"/>
              <a:t>검색 </a:t>
            </a:r>
            <a:r>
              <a:rPr lang="ko-KR" altLang="ko-KR" b="1" dirty="0" err="1"/>
              <a:t>전·검색</a:t>
            </a:r>
            <a:r>
              <a:rPr lang="ko-KR" altLang="ko-KR" b="1" dirty="0"/>
              <a:t> </a:t>
            </a:r>
            <a:r>
              <a:rPr lang="ko-KR" altLang="ko-KR" b="1" dirty="0" err="1"/>
              <a:t>중·검색</a:t>
            </a:r>
            <a:r>
              <a:rPr lang="ko-KR" altLang="ko-KR" b="1" dirty="0"/>
              <a:t> 후를 개선</a:t>
            </a:r>
            <a:r>
              <a:rPr lang="ko-KR" altLang="ko-KR" dirty="0"/>
              <a:t>하는 거야.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34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A1F59-A90E-9DAE-9993-A2B26747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RAG</a:t>
            </a:r>
            <a:r>
              <a:rPr lang="ko-KR" altLang="en-US" dirty="0"/>
              <a:t>의 각 검색의 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E761F6-27B6-EDA3-A4E7-4AFCB1ED9E04}"/>
              </a:ext>
            </a:extLst>
          </p:cNvPr>
          <p:cNvSpPr/>
          <p:nvPr/>
        </p:nvSpPr>
        <p:spPr>
          <a:xfrm>
            <a:off x="95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Pre-Retrieval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51000-0041-A281-424C-62DA7F92F254}"/>
              </a:ext>
            </a:extLst>
          </p:cNvPr>
          <p:cNvSpPr txBox="1"/>
          <p:nvPr/>
        </p:nvSpPr>
        <p:spPr>
          <a:xfrm>
            <a:off x="382656" y="2600855"/>
            <a:ext cx="3279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검색하기 전에 문서와 질문을 더 잘 준비하는 단계야.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F6F66E8-7A07-87FF-CF02-AEF6B2A12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278894"/>
              </p:ext>
            </p:extLst>
          </p:nvPr>
        </p:nvGraphicFramePr>
        <p:xfrm>
          <a:off x="348343" y="3429000"/>
          <a:ext cx="6648805" cy="2468880"/>
        </p:xfrm>
        <a:graphic>
          <a:graphicData uri="http://schemas.openxmlformats.org/drawingml/2006/table">
            <a:tbl>
              <a:tblPr/>
              <a:tblGrid>
                <a:gridCol w="1772005">
                  <a:extLst>
                    <a:ext uri="{9D8B030D-6E8A-4147-A177-3AD203B41FA5}">
                      <a16:colId xmlns:a16="http://schemas.microsoft.com/office/drawing/2014/main" val="2885178138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655704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기술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60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좋은 </a:t>
                      </a:r>
                      <a:r>
                        <a:rPr lang="ko-KR" dirty="0" err="1"/>
                        <a:t>Chunking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문서를 의미 단위로 자르기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985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Metadata</a:t>
                      </a:r>
                      <a:r>
                        <a:rPr lang="ko-KR" dirty="0"/>
                        <a:t> 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학과명</a:t>
                      </a:r>
                      <a:r>
                        <a:rPr lang="ko-KR" dirty="0"/>
                        <a:t>, 학년, 과목명, 출처 등 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15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Query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Rewrite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사용자 질문을 검색하기 좋게 바꾸기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772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Query Expansion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질문을 여러 표현으로 확장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902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HyDE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가상의 답변 문서를 먼저 만들고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12059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01EA1-BCBB-067D-2A0B-B011194CD759}"/>
              </a:ext>
            </a:extLst>
          </p:cNvPr>
          <p:cNvSpPr/>
          <p:nvPr/>
        </p:nvSpPr>
        <p:spPr>
          <a:xfrm>
            <a:off x="4664766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Retrieval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78210C-C94E-4FAE-AF30-9B383E3436C8}"/>
              </a:ext>
            </a:extLst>
          </p:cNvPr>
          <p:cNvSpPr/>
          <p:nvPr/>
        </p:nvSpPr>
        <p:spPr>
          <a:xfrm>
            <a:off x="857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Post-Retrieval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31FA1-C5A7-A9D9-8E65-5C9153EC24DD}"/>
              </a:ext>
            </a:extLst>
          </p:cNvPr>
          <p:cNvSpPr txBox="1"/>
          <p:nvPr/>
        </p:nvSpPr>
        <p:spPr>
          <a:xfrm>
            <a:off x="543338" y="6123543"/>
            <a:ext cx="8673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Query</a:t>
            </a:r>
            <a:r>
              <a:rPr lang="ko-KR" altLang="ko-KR" dirty="0"/>
              <a:t> </a:t>
            </a:r>
            <a:r>
              <a:rPr lang="ko-KR" altLang="ko-KR" dirty="0" err="1"/>
              <a:t>Rewrite</a:t>
            </a:r>
            <a:r>
              <a:rPr lang="en-US" altLang="ko-KR" dirty="0"/>
              <a:t>: </a:t>
            </a:r>
            <a:r>
              <a:rPr lang="ko-KR" altLang="ko-KR" dirty="0" err="1"/>
              <a:t>컴공</a:t>
            </a:r>
            <a:r>
              <a:rPr lang="ko-KR" altLang="ko-KR" dirty="0"/>
              <a:t> 2학년 때 뭐 배워?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ko-KR" dirty="0"/>
              <a:t>컴퓨터공학과 2학년 교육과정 전공 과목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D272C1-1FAA-89F6-4C90-0DBDF3FC64FD}"/>
              </a:ext>
            </a:extLst>
          </p:cNvPr>
          <p:cNvSpPr txBox="1"/>
          <p:nvPr/>
        </p:nvSpPr>
        <p:spPr>
          <a:xfrm>
            <a:off x="4041913" y="27209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실제로 문서를 찾는 단계야.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91983-F07F-784E-A6E2-F0D39FFEA6DC}"/>
              </a:ext>
            </a:extLst>
          </p:cNvPr>
          <p:cNvSpPr txBox="1"/>
          <p:nvPr/>
        </p:nvSpPr>
        <p:spPr>
          <a:xfrm>
            <a:off x="7931426" y="2667519"/>
            <a:ext cx="3293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검색된 문서를 그대로 </a:t>
            </a:r>
            <a:r>
              <a:rPr lang="ko-KR" altLang="ko-KR" dirty="0" err="1"/>
              <a:t>LLM에</a:t>
            </a:r>
            <a:r>
              <a:rPr lang="ko-KR" altLang="ko-KR" dirty="0"/>
              <a:t> 넣지 않고 정리하는 단계야.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451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2DAB-EEB2-B674-FF85-ADC1AAE8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692B3-BC7B-2359-3FE6-4B86D686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RAG</a:t>
            </a:r>
            <a:r>
              <a:rPr lang="ko-KR" altLang="en-US" dirty="0"/>
              <a:t>의 각 검색의 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98A4F5-1945-A4FC-ACAD-0AF2B10BCA09}"/>
              </a:ext>
            </a:extLst>
          </p:cNvPr>
          <p:cNvSpPr/>
          <p:nvPr/>
        </p:nvSpPr>
        <p:spPr>
          <a:xfrm>
            <a:off x="95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Pre-Retrieval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35CDF-C776-8B14-2CC2-1B924D3A7960}"/>
              </a:ext>
            </a:extLst>
          </p:cNvPr>
          <p:cNvSpPr txBox="1"/>
          <p:nvPr/>
        </p:nvSpPr>
        <p:spPr>
          <a:xfrm>
            <a:off x="382656" y="2600855"/>
            <a:ext cx="3279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검색하기 전에 문서와 질문을 더 잘 준비하는 단계야.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A7F7C7-51E3-8FB8-4378-1DF280C9661A}"/>
              </a:ext>
            </a:extLst>
          </p:cNvPr>
          <p:cNvSpPr/>
          <p:nvPr/>
        </p:nvSpPr>
        <p:spPr>
          <a:xfrm>
            <a:off x="4664766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Retrieval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65C758-2B2B-0A8A-7157-E29FD51C261F}"/>
              </a:ext>
            </a:extLst>
          </p:cNvPr>
          <p:cNvSpPr/>
          <p:nvPr/>
        </p:nvSpPr>
        <p:spPr>
          <a:xfrm>
            <a:off x="857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Post-Retrieval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CAF29-98B8-4081-8180-88AF7C99EB5D}"/>
              </a:ext>
            </a:extLst>
          </p:cNvPr>
          <p:cNvSpPr txBox="1"/>
          <p:nvPr/>
        </p:nvSpPr>
        <p:spPr>
          <a:xfrm>
            <a:off x="4041913" y="27209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실제로 문서를 찾는 단계야.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A7766-6782-6E38-C227-CF3414BF8D14}"/>
              </a:ext>
            </a:extLst>
          </p:cNvPr>
          <p:cNvSpPr txBox="1"/>
          <p:nvPr/>
        </p:nvSpPr>
        <p:spPr>
          <a:xfrm>
            <a:off x="7931426" y="2667519"/>
            <a:ext cx="3293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검색된 문서를 그대로 </a:t>
            </a:r>
            <a:r>
              <a:rPr lang="ko-KR" altLang="ko-KR" dirty="0" err="1"/>
              <a:t>LLM에</a:t>
            </a:r>
            <a:r>
              <a:rPr lang="ko-KR" altLang="ko-KR" dirty="0"/>
              <a:t> 넣지 않고 정리하는 단계야.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029683F-B189-1FE1-973F-EC1AFCF41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31656"/>
              </p:ext>
            </p:extLst>
          </p:nvPr>
        </p:nvGraphicFramePr>
        <p:xfrm>
          <a:off x="3448594" y="3515946"/>
          <a:ext cx="7219406" cy="2468880"/>
        </p:xfrm>
        <a:graphic>
          <a:graphicData uri="http://schemas.openxmlformats.org/drawingml/2006/table">
            <a:tbl>
              <a:tblPr/>
              <a:tblGrid>
                <a:gridCol w="1832449">
                  <a:extLst>
                    <a:ext uri="{9D8B030D-6E8A-4147-A177-3AD203B41FA5}">
                      <a16:colId xmlns:a16="http://schemas.microsoft.com/office/drawing/2014/main" val="3978762488"/>
                    </a:ext>
                  </a:extLst>
                </a:gridCol>
                <a:gridCol w="5386957">
                  <a:extLst>
                    <a:ext uri="{9D8B030D-6E8A-4147-A177-3AD203B41FA5}">
                      <a16:colId xmlns:a16="http://schemas.microsoft.com/office/drawing/2014/main" val="309200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4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Dense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Retrieval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임베딩 기반 의미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01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Sparse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Retrieval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BM25 같은 키워드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87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Hybrid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Search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의미 검색 + 키워드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11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Multi-query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Retrieval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질문을 여러 개로 바꿔서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59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Reranking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검색 결과를 다시 정렬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445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5B0DA0-3E4A-B7E2-BF95-318140A270A0}"/>
              </a:ext>
            </a:extLst>
          </p:cNvPr>
          <p:cNvSpPr txBox="1"/>
          <p:nvPr/>
        </p:nvSpPr>
        <p:spPr>
          <a:xfrm>
            <a:off x="2484783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실무에서는 보통 </a:t>
            </a:r>
            <a:r>
              <a:rPr lang="ko-KR" altLang="ko-KR" b="1" dirty="0" err="1"/>
              <a:t>Hybrid</a:t>
            </a:r>
            <a:r>
              <a:rPr lang="ko-KR" altLang="ko-KR" b="1" dirty="0"/>
              <a:t> </a:t>
            </a:r>
            <a:r>
              <a:rPr lang="ko-KR" altLang="ko-KR" b="1" dirty="0" err="1"/>
              <a:t>Search</a:t>
            </a:r>
            <a:r>
              <a:rPr lang="ko-KR" altLang="ko-KR" b="1" dirty="0"/>
              <a:t> + </a:t>
            </a:r>
            <a:r>
              <a:rPr lang="ko-KR" altLang="ko-KR" b="1" dirty="0" err="1"/>
              <a:t>Reranker</a:t>
            </a:r>
            <a:r>
              <a:rPr lang="ko-KR" altLang="ko-KR" dirty="0" err="1"/>
              <a:t>가</a:t>
            </a:r>
            <a:r>
              <a:rPr lang="ko-KR" altLang="ko-KR" dirty="0"/>
              <a:t> 성능</a:t>
            </a:r>
            <a:r>
              <a:rPr lang="en-US" altLang="ko-KR" dirty="0"/>
              <a:t> </a:t>
            </a:r>
            <a:r>
              <a:rPr lang="ko-KR" altLang="en-US" dirty="0"/>
              <a:t>좋음</a:t>
            </a:r>
          </a:p>
        </p:txBody>
      </p:sp>
    </p:spTree>
    <p:extLst>
      <p:ext uri="{BB962C8B-B14F-4D97-AF65-F5344CB8AC3E}">
        <p14:creationId xmlns:p14="http://schemas.microsoft.com/office/powerpoint/2010/main" val="2470319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CB39-B4BE-21DE-DD07-F3F25E74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575FB-E611-EF8E-CA40-6C1A16B8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Advanced RAG</a:t>
            </a:r>
            <a:r>
              <a:rPr lang="ko-KR" altLang="en-US" dirty="0"/>
              <a:t>의 각 검색의 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3B06BC-1750-87F4-E34A-91CDA9060A82}"/>
              </a:ext>
            </a:extLst>
          </p:cNvPr>
          <p:cNvSpPr/>
          <p:nvPr/>
        </p:nvSpPr>
        <p:spPr>
          <a:xfrm>
            <a:off x="95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Pre-Retrieval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450B1-C5AF-8577-04C2-97291B3FEDAE}"/>
              </a:ext>
            </a:extLst>
          </p:cNvPr>
          <p:cNvSpPr txBox="1"/>
          <p:nvPr/>
        </p:nvSpPr>
        <p:spPr>
          <a:xfrm>
            <a:off x="382656" y="2600855"/>
            <a:ext cx="3279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검색하기 전에 문서와 질문을 더 잘 준비하는 단계야.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3C5675-D955-F91B-13BD-083DAF243523}"/>
              </a:ext>
            </a:extLst>
          </p:cNvPr>
          <p:cNvSpPr/>
          <p:nvPr/>
        </p:nvSpPr>
        <p:spPr>
          <a:xfrm>
            <a:off x="4664766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Retrieval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3B57B5-613E-2F2D-D08C-1DE49E07CCE3}"/>
              </a:ext>
            </a:extLst>
          </p:cNvPr>
          <p:cNvSpPr/>
          <p:nvPr/>
        </p:nvSpPr>
        <p:spPr>
          <a:xfrm>
            <a:off x="8574157" y="1909233"/>
            <a:ext cx="1736035" cy="6096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/>
              <a:t>Post-Retrieval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EF9CA-94C7-CB35-90E3-B26573F87D44}"/>
              </a:ext>
            </a:extLst>
          </p:cNvPr>
          <p:cNvSpPr txBox="1"/>
          <p:nvPr/>
        </p:nvSpPr>
        <p:spPr>
          <a:xfrm>
            <a:off x="4041913" y="27209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실제로 문서를 찾는 단계야.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F59EE-8500-DD16-7613-40DA39891682}"/>
              </a:ext>
            </a:extLst>
          </p:cNvPr>
          <p:cNvSpPr txBox="1"/>
          <p:nvPr/>
        </p:nvSpPr>
        <p:spPr>
          <a:xfrm>
            <a:off x="7931426" y="2667519"/>
            <a:ext cx="3293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검색된 문서를 그대로 </a:t>
            </a:r>
            <a:r>
              <a:rPr lang="ko-KR" altLang="ko-KR" dirty="0" err="1"/>
              <a:t>LLM에</a:t>
            </a:r>
            <a:r>
              <a:rPr lang="ko-KR" altLang="ko-KR" dirty="0"/>
              <a:t> 넣지 않고 정리하는 단계야.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DACFBA-6176-D8C9-FEE5-5F6372A72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707031"/>
              </p:ext>
            </p:extLst>
          </p:nvPr>
        </p:nvGraphicFramePr>
        <p:xfrm>
          <a:off x="7369174" y="3367260"/>
          <a:ext cx="4822826" cy="2468880"/>
        </p:xfrm>
        <a:graphic>
          <a:graphicData uri="http://schemas.openxmlformats.org/drawingml/2006/table">
            <a:tbl>
              <a:tblPr/>
              <a:tblGrid>
                <a:gridCol w="1648930">
                  <a:extLst>
                    <a:ext uri="{9D8B030D-6E8A-4147-A177-3AD203B41FA5}">
                      <a16:colId xmlns:a16="http://schemas.microsoft.com/office/drawing/2014/main" val="3675792392"/>
                    </a:ext>
                  </a:extLst>
                </a:gridCol>
                <a:gridCol w="3173896">
                  <a:extLst>
                    <a:ext uri="{9D8B030D-6E8A-4147-A177-3AD203B41FA5}">
                      <a16:colId xmlns:a16="http://schemas.microsoft.com/office/drawing/2014/main" val="850534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기술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59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Rerank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관련도 높은 순서로 재정렬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737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불필요한 문서 제거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490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Compression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긴 문서를 짧게 압축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72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Context</a:t>
                      </a:r>
                      <a:r>
                        <a:rPr lang="ko-KR" dirty="0"/>
                        <a:t> </a:t>
                      </a:r>
                      <a:r>
                        <a:rPr lang="ko-KR" dirty="0" err="1"/>
                        <a:t>Selection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답변에 필요한 </a:t>
                      </a:r>
                      <a:r>
                        <a:rPr lang="ko-KR" dirty="0" err="1"/>
                        <a:t>chunk만</a:t>
                      </a:r>
                      <a:r>
                        <a:rPr lang="ko-KR" dirty="0"/>
                        <a:t>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39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Deduplication</a:t>
                      </a:r>
                      <a:endParaRPr 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중복 문서 제거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2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50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ACFFC-6285-B9F7-43FA-9758D528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Modular</a:t>
            </a:r>
            <a:r>
              <a:rPr lang="ko-KR" altLang="ko-KR" dirty="0"/>
              <a:t> RAG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F9474-E6CE-D3A3-2DAB-28EFE3898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RAG를</a:t>
            </a:r>
            <a:r>
              <a:rPr lang="ko-KR" altLang="ko-KR" dirty="0"/>
              <a:t> 고정된 하나의 파이프라인으로 보지 않고,</a:t>
            </a:r>
            <a:br>
              <a:rPr lang="ko-KR" altLang="ko-KR" dirty="0"/>
            </a:br>
            <a:r>
              <a:rPr lang="ko-KR" altLang="ko-KR" dirty="0"/>
              <a:t>여러 모듈을 조합해서 상황에 맞게 쓰는 방식이야.</a:t>
            </a:r>
          </a:p>
          <a:p>
            <a:r>
              <a:rPr lang="ko-KR" altLang="ko-KR" dirty="0"/>
              <a:t>논문은 </a:t>
            </a:r>
            <a:r>
              <a:rPr lang="ko-KR" altLang="ko-KR" dirty="0" err="1"/>
              <a:t>RAG가</a:t>
            </a:r>
            <a:r>
              <a:rPr lang="ko-KR" altLang="ko-KR" dirty="0"/>
              <a:t> 단순한 “검색 후 </a:t>
            </a:r>
            <a:r>
              <a:rPr lang="ko-KR" altLang="ko-KR" dirty="0" err="1"/>
              <a:t>생성”에서</a:t>
            </a:r>
            <a:r>
              <a:rPr lang="ko-KR" altLang="ko-KR" dirty="0"/>
              <a:t> 더 유연한 모듈형 구조로 발전하고 있다고 설명해.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CC72C-B526-246F-02E8-035C25A933C4}"/>
              </a:ext>
            </a:extLst>
          </p:cNvPr>
          <p:cNvSpPr txBox="1"/>
          <p:nvPr/>
        </p:nvSpPr>
        <p:spPr>
          <a:xfrm>
            <a:off x="788504" y="411235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컴퓨터공학과랑</a:t>
            </a:r>
            <a:r>
              <a:rPr lang="ko-KR" altLang="ko-KR" dirty="0"/>
              <a:t> </a:t>
            </a:r>
            <a:r>
              <a:rPr lang="ko-KR" altLang="ko-KR" dirty="0" err="1"/>
              <a:t>AI학과</a:t>
            </a:r>
            <a:r>
              <a:rPr lang="ko-KR" altLang="ko-KR" dirty="0"/>
              <a:t> 차이가 </a:t>
            </a:r>
            <a:r>
              <a:rPr lang="ko-KR" altLang="ko-KR" dirty="0" err="1"/>
              <a:t>뭐야</a:t>
            </a:r>
            <a:r>
              <a:rPr lang="ko-KR" altLang="ko-KR" dirty="0"/>
              <a:t>?</a:t>
            </a:r>
            <a:r>
              <a:rPr lang="en-US" altLang="ko-KR" dirty="0"/>
              <a:t> -&gt; </a:t>
            </a:r>
            <a:r>
              <a:rPr lang="ko-KR" altLang="ko-KR" dirty="0" err="1"/>
              <a:t>Naive</a:t>
            </a:r>
            <a:r>
              <a:rPr lang="ko-KR" altLang="ko-KR" dirty="0"/>
              <a:t> </a:t>
            </a:r>
            <a:r>
              <a:rPr lang="ko-KR" altLang="ko-KR" dirty="0" err="1"/>
              <a:t>RAG는</a:t>
            </a:r>
            <a:r>
              <a:rPr lang="ko-KR" altLang="ko-KR" dirty="0"/>
              <a:t> 그냥 검색하고 답해.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0A8C0-306E-E5E1-9C2A-86D5E8F9DBA6}"/>
              </a:ext>
            </a:extLst>
          </p:cNvPr>
          <p:cNvSpPr txBox="1"/>
          <p:nvPr/>
        </p:nvSpPr>
        <p:spPr>
          <a:xfrm>
            <a:off x="5307496" y="467881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1. 질문이 비교형인지 판단</a:t>
            </a:r>
          </a:p>
          <a:p>
            <a:r>
              <a:rPr lang="ko-KR" altLang="en-US" dirty="0"/>
              <a:t>2. 컴퓨터공학과 자료 검색</a:t>
            </a:r>
          </a:p>
          <a:p>
            <a:r>
              <a:rPr lang="ko-KR" altLang="en-US" dirty="0"/>
              <a:t>3. </a:t>
            </a:r>
            <a:r>
              <a:rPr lang="ko-KR" altLang="en-US" dirty="0" err="1"/>
              <a:t>AI학과</a:t>
            </a:r>
            <a:r>
              <a:rPr lang="ko-KR" altLang="en-US" dirty="0"/>
              <a:t> 자료 검색</a:t>
            </a:r>
          </a:p>
          <a:p>
            <a:r>
              <a:rPr lang="ko-KR" altLang="en-US" dirty="0"/>
              <a:t>4. 두 결과를 비교</a:t>
            </a:r>
          </a:p>
          <a:p>
            <a:r>
              <a:rPr lang="ko-KR" altLang="en-US" dirty="0"/>
              <a:t>5. 표 형태로 답변</a:t>
            </a:r>
          </a:p>
          <a:p>
            <a:r>
              <a:rPr lang="ko-KR" altLang="en-US" dirty="0"/>
              <a:t>6. 출처 표시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44B67-169F-48DB-92C7-7A779BB1576B}"/>
              </a:ext>
            </a:extLst>
          </p:cNvPr>
          <p:cNvSpPr txBox="1"/>
          <p:nvPr/>
        </p:nvSpPr>
        <p:spPr>
          <a:xfrm>
            <a:off x="1146313" y="50858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Modular</a:t>
            </a:r>
            <a:r>
              <a:rPr lang="ko-KR" altLang="ko-KR" dirty="0"/>
              <a:t> </a:t>
            </a:r>
            <a:r>
              <a:rPr lang="ko-KR" altLang="ko-KR" dirty="0" err="1"/>
              <a:t>RAG는</a:t>
            </a:r>
            <a:r>
              <a:rPr lang="ko-KR" altLang="ko-KR" dirty="0"/>
              <a:t> 이렇게 할 수 있어</a:t>
            </a:r>
            <a:r>
              <a:rPr lang="en-US" altLang="ko-KR" dirty="0"/>
              <a:t> -&gt;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7411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54FEB-2528-C78E-11C2-4598B180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정리</a:t>
            </a:r>
          </a:p>
        </p:txBody>
      </p:sp>
      <p:graphicFrame>
        <p:nvGraphicFramePr>
          <p:cNvPr id="21" name="내용 개체 틀 20">
            <a:extLst>
              <a:ext uri="{FF2B5EF4-FFF2-40B4-BE49-F238E27FC236}">
                <a16:creationId xmlns:a16="http://schemas.microsoft.com/office/drawing/2014/main" id="{7BF843BC-A978-3656-2DE1-2ED3B3784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4948"/>
              </p:ext>
            </p:extLst>
          </p:nvPr>
        </p:nvGraphicFramePr>
        <p:xfrm>
          <a:off x="4106838" y="3431887"/>
          <a:ext cx="4300182" cy="1554480"/>
        </p:xfrm>
        <a:graphic>
          <a:graphicData uri="http://schemas.openxmlformats.org/drawingml/2006/table">
            <a:tbl>
              <a:tblPr/>
              <a:tblGrid>
                <a:gridCol w="1106607">
                  <a:extLst>
                    <a:ext uri="{9D8B030D-6E8A-4147-A177-3AD203B41FA5}">
                      <a16:colId xmlns:a16="http://schemas.microsoft.com/office/drawing/2014/main" val="3557518655"/>
                    </a:ext>
                  </a:extLst>
                </a:gridCol>
                <a:gridCol w="3193575">
                  <a:extLst>
                    <a:ext uri="{9D8B030D-6E8A-4147-A177-3AD203B41FA5}">
                      <a16:colId xmlns:a16="http://schemas.microsoft.com/office/drawing/2014/main" val="174655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1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한 번만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기본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22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반복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답변 중 부족하면 다시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60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재귀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상위 요약 → 하위 문서로 내려가며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68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적응형 검색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질문 난이도에 따라 검색 방식 변경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02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 err="1"/>
                        <a:t>Self</a:t>
                      </a:r>
                      <a:r>
                        <a:rPr lang="ko-KR" sz="1100" dirty="0"/>
                        <a:t>-RAG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모델이 스스로 검색 필요성과 답변 품질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45959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7413BA5-34CE-49EE-5297-BE00DBC64716}"/>
              </a:ext>
            </a:extLst>
          </p:cNvPr>
          <p:cNvSpPr/>
          <p:nvPr/>
        </p:nvSpPr>
        <p:spPr>
          <a:xfrm>
            <a:off x="443948" y="1825625"/>
            <a:ext cx="2272748" cy="95070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Retrieval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10D1824-D7C2-A099-BAEE-F630C90FFD25}"/>
              </a:ext>
            </a:extLst>
          </p:cNvPr>
          <p:cNvSpPr/>
          <p:nvPr/>
        </p:nvSpPr>
        <p:spPr>
          <a:xfrm>
            <a:off x="9081052" y="1872008"/>
            <a:ext cx="2272748" cy="95070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Generation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39AED6-87CC-3720-203F-28A2AF24E98B}"/>
              </a:ext>
            </a:extLst>
          </p:cNvPr>
          <p:cNvSpPr/>
          <p:nvPr/>
        </p:nvSpPr>
        <p:spPr>
          <a:xfrm>
            <a:off x="4686300" y="1872008"/>
            <a:ext cx="2272748" cy="95070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Augmentation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97E8A-C825-7A4F-FE01-7C809B81442E}"/>
              </a:ext>
            </a:extLst>
          </p:cNvPr>
          <p:cNvSpPr txBox="1"/>
          <p:nvPr/>
        </p:nvSpPr>
        <p:spPr>
          <a:xfrm>
            <a:off x="357809" y="28227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관련 정보를 찾는 단계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B6370-5F03-0A29-0A17-2DF5F923F007}"/>
              </a:ext>
            </a:extLst>
          </p:cNvPr>
          <p:cNvSpPr txBox="1"/>
          <p:nvPr/>
        </p:nvSpPr>
        <p:spPr>
          <a:xfrm>
            <a:off x="3988905" y="2888110"/>
            <a:ext cx="514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검색과 생성을 더 잘 연결</a:t>
            </a:r>
            <a:r>
              <a:rPr lang="en-US" altLang="ko-KR" dirty="0"/>
              <a:t> </a:t>
            </a:r>
            <a:r>
              <a:rPr lang="ko-KR" altLang="en-US" dirty="0"/>
              <a:t>기술</a:t>
            </a:r>
            <a:r>
              <a:rPr lang="ko-KR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8B867-B97D-FE1F-5594-B1829F05B36F}"/>
              </a:ext>
            </a:extLst>
          </p:cNvPr>
          <p:cNvSpPr txBox="1"/>
          <p:nvPr/>
        </p:nvSpPr>
        <p:spPr>
          <a:xfrm>
            <a:off x="178904" y="3665956"/>
            <a:ext cx="4242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무엇을 검색할 것인가?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어떻게 검색할 것인가?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검색 결과를 어떻게 고를 것인가?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F5CC9-C214-F337-F175-A3AD2B97EBEE}"/>
              </a:ext>
            </a:extLst>
          </p:cNvPr>
          <p:cNvSpPr txBox="1"/>
          <p:nvPr/>
        </p:nvSpPr>
        <p:spPr>
          <a:xfrm>
            <a:off x="8796133" y="2954228"/>
            <a:ext cx="4389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검색된 정보를 바탕으로 </a:t>
            </a:r>
            <a:endParaRPr lang="en-US" altLang="ko-KR" dirty="0"/>
          </a:p>
          <a:p>
            <a:r>
              <a:rPr lang="ko-KR" altLang="ko-KR" dirty="0"/>
              <a:t>답변을 생성하는 단계.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67EE51-8F12-D889-27E2-6FC7FB38D946}"/>
              </a:ext>
            </a:extLst>
          </p:cNvPr>
          <p:cNvSpPr txBox="1"/>
          <p:nvPr/>
        </p:nvSpPr>
        <p:spPr>
          <a:xfrm>
            <a:off x="8219724" y="3732074"/>
            <a:ext cx="4827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 dirty="0"/>
              <a:t>검색 문서를 어떻게 프롬프트에 넣을 것인가? 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 dirty="0"/>
              <a:t>출처를 어떻게 반영할 것인가? 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400" dirty="0"/>
              <a:t>검색 결과에 없는 내용은 </a:t>
            </a:r>
            <a:endParaRPr lang="en-US" altLang="ko-KR" sz="1400" dirty="0"/>
          </a:p>
          <a:p>
            <a:r>
              <a:rPr lang="en-US" altLang="ko-KR" sz="1400" dirty="0"/>
              <a:t>	</a:t>
            </a:r>
            <a:r>
              <a:rPr lang="ko-KR" altLang="ko-KR" sz="1400" dirty="0"/>
              <a:t>어떻게 제한할 것인가?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9772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CACC82-25F4-4434-8C6D-4363A154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이 논문에서 팀원이 꼭 이해해야 하는 개념</a:t>
            </a:r>
            <a:endParaRPr lang="en-US" altLang="ko-KR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0321255-0D20-FDC5-88E6-26B96A8AF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63"/>
              </p:ext>
            </p:extLst>
          </p:nvPr>
        </p:nvGraphicFramePr>
        <p:xfrm>
          <a:off x="4628277" y="961812"/>
          <a:ext cx="6008846" cy="493099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316248">
                  <a:extLst>
                    <a:ext uri="{9D8B030D-6E8A-4147-A177-3AD203B41FA5}">
                      <a16:colId xmlns:a16="http://schemas.microsoft.com/office/drawing/2014/main" val="828874638"/>
                    </a:ext>
                  </a:extLst>
                </a:gridCol>
                <a:gridCol w="3692598">
                  <a:extLst>
                    <a:ext uri="{9D8B030D-6E8A-4147-A177-3AD203B41FA5}">
                      <a16:colId xmlns:a16="http://schemas.microsoft.com/office/drawing/2014/main" val="965855623"/>
                    </a:ext>
                  </a:extLst>
                </a:gridCol>
              </a:tblGrid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개념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쉬운 설명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18897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Naive RAG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기본 RAG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48995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Advanced RAG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검색 품질을 개선한 RAG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064798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Modular RAG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여러 모듈을 조합하는 유연한 RAG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988970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Query Rewrite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질문을 검색하기 좋게 다시 쓰기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222221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Hybrid Search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벡터 검색 + 키워드 검색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27125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Reranker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검색 결과를 다시 정렬하는 모델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781448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Context Compression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긴 검색 결과를 압축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26529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Adaptive Retrieval</a:t>
                      </a: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>
                          <a:solidFill>
                            <a:schemeClr val="tx1"/>
                          </a:solidFill>
                        </a:rPr>
                        <a:t>필요할 때만 검색하거나 추가 검색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33613"/>
                  </a:ext>
                </a:extLst>
              </a:tr>
              <a:tr h="493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 dirty="0">
                          <a:solidFill>
                            <a:schemeClr val="tx1"/>
                          </a:solidFill>
                        </a:rPr>
                        <a:t>RAG </a:t>
                      </a:r>
                      <a:r>
                        <a:rPr lang="ko-KR" sz="1600" cap="none" spc="0" dirty="0" err="1">
                          <a:solidFill>
                            <a:schemeClr val="tx1"/>
                          </a:solidFill>
                        </a:rPr>
                        <a:t>Evaluation</a:t>
                      </a:r>
                      <a:endParaRPr lang="ko-KR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5429" marR="104176" marT="104176" marB="10417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cap="none" spc="0" dirty="0">
                          <a:solidFill>
                            <a:schemeClr val="tx1"/>
                          </a:solidFill>
                        </a:rPr>
                        <a:t>검색 품질과 답변 품질을 평가하는 것</a:t>
                      </a:r>
                    </a:p>
                  </a:txBody>
                  <a:tcPr marL="135429" marR="104176" marT="104176" marB="104176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80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08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8268C-B54F-160F-9A0C-84E47BF7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44C8A-1CC0-A9AE-19D2-FB8E93EA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99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1043</Words>
  <Application>Microsoft Office PowerPoint</Application>
  <PresentationFormat>와이드스크린</PresentationFormat>
  <Paragraphs>244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Courier New</vt:lpstr>
      <vt:lpstr>Wingdings</vt:lpstr>
      <vt:lpstr>Office 테마</vt:lpstr>
      <vt:lpstr>Retrieval-Augmented Generation for Knowledge-Intensive NLP Tasks</vt:lpstr>
      <vt:lpstr>RAG 기술의 배경</vt:lpstr>
      <vt:lpstr>기존 LLM의 문제</vt:lpstr>
      <vt:lpstr>RAG 구성</vt:lpstr>
      <vt:lpstr>RAG 모델의 두 가지 방식</vt:lpstr>
      <vt:lpstr>Retriever: DPR(Dense Passage Retriever)</vt:lpstr>
      <vt:lpstr>Generator: BART</vt:lpstr>
      <vt:lpstr>핵심 결론</vt:lpstr>
      <vt:lpstr>Retrieval-Augmented Generation for Large Language Models: A Survey</vt:lpstr>
      <vt:lpstr>논문의 큰 구조</vt:lpstr>
      <vt:lpstr>Naive RAG</vt:lpstr>
      <vt:lpstr>Naive RAG 한계</vt:lpstr>
      <vt:lpstr>Advanced RAG</vt:lpstr>
      <vt:lpstr>Advanced RAG의 각 검색의 단계</vt:lpstr>
      <vt:lpstr>Advanced RAG의 각 검색의 단계</vt:lpstr>
      <vt:lpstr>Advanced RAG의 각 검색의 단계</vt:lpstr>
      <vt:lpstr>Modular RAG</vt:lpstr>
      <vt:lpstr>RAG 정리</vt:lpstr>
      <vt:lpstr>이 논문에서 팀원이 꼭 이해해야 하는 개념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Eom TaeWon</dc:creator>
  <cp:lastModifiedBy>Eom TaeWon</cp:lastModifiedBy>
  <cp:revision>1</cp:revision>
  <dcterms:created xsi:type="dcterms:W3CDTF">2026-07-11T01:47:40Z</dcterms:created>
  <dcterms:modified xsi:type="dcterms:W3CDTF">2026-07-15T05:44:43Z</dcterms:modified>
</cp:coreProperties>
</file>