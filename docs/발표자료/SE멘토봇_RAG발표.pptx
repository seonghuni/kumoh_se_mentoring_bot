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시작 전 인사) 안녕하세요, RAG 기술의 원리와 한계 개선 연구를 발표할 SE 멘토봇 팀입니다. 저희는 프로젝트를 무작정 구현부터 시작하지 않고, RAG라는 기술이 정확히 무엇이고 어떤 한계가 있는지 제대로 이해하는 게 먼저라고 판단했습니다. 그래서 본격적인 개발에 들어가기에 앞서, RAG의 기본 개념부터 최신 개선 기법까지 핵심 논문 6편을 먼저 찾아 읽고 스터디했습니다. 오늘은 그 결과를 원리와 수식, 실험 결과까지 깊이 있게 공유드리고, 후반부에는 이 내용을 저희 SE 멘토봇 프로젝트에 어떻게 적용할지 구체적으로 말씀드리겠습니다. (예상 소요: 35초)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대규모 사전학습 언어모델은 방대한 사실 지식을 모델 파라미터 안에 저장합니다. 하지만 이런 모델은 그 지식을 정확히 접근하거나 조작하는 능력에 한계가 있습니다. 네 가지로 정리할 수 있습니다. 첫째, 지식 업데이트가 어렵습니다. 둘째, 출처 확인이 어렵습니다. 셋째, 환각 가능성입니다. 넷째, 최신 정보 반영이 어렵습니다. 그래서 나온 발상이, 모델이 모든 지식을 외우게 하지 말고 필요할 때 외부 문서를 검색해서 참고하게 하자는 것 — 이게 RAG의 출발점입니다. (예상 소요: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RAG를 이해하는 가장 쉬운 방법은 두 가지 기억을 구분하는 것입니다. 파라미터 메모리는 GPT나 Claude, BART 같은 LLM 자체이고, 논파라미터 메모리는 PDF나 웹페이지 원본이 Chroma, FAISS 같은 벡터DB에 저장된 것입니다. RAG 원조 논문은 BART를 파라메트릭 메모리로, 위키피디아의 밀집 벡터 인덱스를 외부 비파라메트릭 메모리로 사용해서 이 둘을 결합했습니다. (예상 소요: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논문은 2020년 Lewis 등이 NeurIPS에 발표한 RAG 원조 논문입니다. 먼저 검색기 역할을 하는 DPR, Dense Passage Retriever부터 보겠습니다. 기존 BM25는 단어가 얼마나 겹치는지를 중심으로 보는 키워드 검색입니다. 반면 DPR은 의미적으로 얼마나 비슷한지를 보는 의미 검색입니다. 실제로는 질문과 문서를 각각 BERT 인코더로 벡터화하고, 내적 유사도가 높은 문서를 검색합니다. 위키피디아 전체를 100단어 단위로 쪼갠 2,100만 개 문서를 FAISS 기반 인덱스로 구축했습니다.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논문에서는 생성 모델로 BART-large를 사용했습니다. 검색된 top-k개 문서 중 어떤 문서를 신뢰할지를 어느 단위에서 결정하느냐에 따라 두 방식으로 나뉩니다. RAG-Sequence는 하나의 문서를 기준으로 답변 전체를 생성합니다. RAG-Token은 답변의 각 단어마다 다른 문서를 참고할 수 있습니다. 논문은 실험적으로 RAG-Sequence가 해석 가능성 면에서, RAG-Token이 일부 태스크에서 근소한 성능 우위를 보인다고 보고합니다. (예상 소요: 65초)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결과를 보면, RAG는 세 가지 오픈도메인 QA 태스크에서 당시 최고 성능을 달성했습니다. Natural Questions에서는 Exact Match 44.5점을 기록했습니다. 핵심 결론은 환각 감소와 쉬운 지식 업데이트 두 가지입니다. 그리고 Chunking, Embedding, Vector Search, Retriever, Generator라는 다섯 용어가 오늘 발표 내내 반복해서 나올 핵심 용어입니다. (예상 소요: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논문은 2024년 Gao 등이 발표한 Survey입니다. RAG의 발전을 Naive, Advanced, Modular 세 단계로 정리합니다. 그리고 RAG를 검색기, 생성기, 증강기법 세 요소로 나눠서 봅니다.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Naive RAG의 흐름을 실제 예시로 보면, 학과 PDF를 업로드하면 Chunking, Embedding, Vector DB 저장을 거치고, 학생이 질문하면 관련 chunk를 검색해서 LLM이 답변을 생성합니다. 하지만 다섯 가지 한계가 있습니다.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Naive RAG의 약점을 보완한 게 Advanced RAG입니다. Pre-Retrieval, Retrieval, Post-Retrieval 세 단계 각각에 최적화 기법을 추가합니다. 실무에서는 보통 Hybrid Search와 Reranker 조합이 좋습니다.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 RAG는 여러 모듈을 조합해서 상황에 맞게 쓰는 방식입니다. '컴퓨터공학과랑 AI학과 차이가 뭐야?'라는 질문을 보면, Naive RAG는 그냥 검색하고 답해서 두 학과 정보가 섞일 수 있습니다. Modular RAG는 Comparison Module을 활용해 질문을 분석하고, 각 학과 자료를 따로 검색하고, 비교해서 답변합니다. 실제 모듈 종류로는 Query Analyzer, Query Rewrite, Web Search, Summarizer, Citation Module 등이 있습니다. (예상 소요: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논문은 HyDE, Hypothetical Document Embeddings입니다. 밀집 검색기는 보통 질의-정답 문서 쌍으로 이루어진 관련성 레이블로 학습됩니다. 새로운 도메인에 적용하려면 그 도메인에 맞는 레이블 데이터가 필요한데, 이게 전혀 없는 제로샷 상황에서 검색 성능을 내는 건 어려운 문제였습니다. HyDE의 핵심 아이디어는, LLM에게 가상의 답변 문서를 먼저 작성하게 하고, 그 가상 문서로 검색하는 것입니다.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HyDE의 2단계 프로세스를 보겠습니다. 1단계는 가상 문서 생성, 2단계는 인코딩과 검색입니다. 핵심 통찰은 인코더의 밀집 병목이 가상 문서의 환각을 자연스럽게 걸러낸다는 점입니다. 실험 결과 비지도 검색기 Contriever를 유의미하게 능가했고, 관련성 레이블 없이 제로샷 문제를 실질적으로 해결했습니다. (예상 소요: 70초)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논문은 Self-RAG입니다. 기존 RAG는 질문이 들어오면 무조건 검색합니다. 그런데 개인 경험 글쓰기 같은 질문에도 검색이 꼭 필요할까요? Self-RAG는 Retrieve, ISREL, ISSUP, ISUSE 네 가지 반성 토큰으로 이 문제를 해결합니다. (예상 소요: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예시로 보겠습니다. 문서 3개가 검색되고 각각 관련성이 평가됩니다. 전체 작동 순서는 8단계입니다. 학습은 Critic Model과 Generator Model 두 모델로 이루어집니다. (예상 소요: 75초)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논문은 CRAG입니다. CRAG는 T5-large 기반 경량 평가기로 각 문서에 점수를 매기고 세 구간으로 분류합니다. 이 경량 평가기가 훨씬 큰 ChatGPT 기반 평가보다도 더 우수했습니다. (예상 소요: 65초)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Incorrect, Ambiguous 세 구간으로 분류하고, Correct 판정 문서라도 Decompose-then-Recompose 알고리즘으로 한 번 더 정제합니다. 참고로 이 논문은 OpenReview 기록상 ICLR 2025에 제출됐다가 철회되어 arXiv 프리프린트로만 존재합니다. (예상 소요: 70초)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결과는 4개 데이터셋에서 유의미한 향상을 보였습니다. 다만 웹 검색 보강은 저희 프로젝트의 출처 신뢰성 원칙과 상충해서, 검색 품질 평가까지만 단순화해서 적용할 계획입니다. (예상 소요: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논문은 RAPTOR입니다. 기존 RAG는 짧은 청크로 쪼개 검색해서 총체적 이해가 필요한 질문에 취약합니다. RAPTOR는 재귀적 클러스터링·요약으로 계층적 트리를 만듭니다.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트리를 만드는 과정은 4단계입니다. 청킹·임베딩, UMAP 차원 축소, GMM 소프트 클러스터링, 요약과 재귀입니다. (예상 소요: 75초)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시 트리 순회와 붕괴 트리 두 전략이 있는데, 논문은 붕괴 트리가 더 효과적이라고 보고합니다. QuALITY 벤치마크에서 20퍼센트포인트 향상됐습니다. 저희 프로젝트는 개념만 부분 차용할 계획입니다. (예상 소요: 75초)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 프로젝트 시작 전에 미리 스터디한 여섯 편의 논문을 원리와 수식, 실험 결과까지 살펴봤습니다. 이렇게 기초를 먼저 다진 이유는, 원리를 모른 채 코드만 따라 치면 나중에 문제가 생겼을 때 원인을 못 찾기 때문입니다. 지금부터는 이렇게 다진 기초를 바탕으로, 저희 SE 멘토봇 프로젝트에 실제로 어떻게 적용할지 말씀드리겠습니다. 먼저 여섯 편을 한눈에 정리하고, 저희 프로젝트가 무엇인지 다시 소개한 다음, 시스템 아키텍처와 데이터 준비 계획, 실제 적용 시나리오와 8주 로드맵 순서로 진행하겠습니다. (예상 소요: 35초)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편의 논문을 정리하면 이렇습니다. RAG 원조 논문과 Survey는 전체 개념과 지도를 제공하고, HyDE는 검색 전 질문 표현을 개선하고, Self-RAG는 검색이 필요한지 스스로 판단하며, CRAG는 검색 이후 결과 품질을 검증하고, RAPTOR는 인덱스 구조 자체를 계층화합니다. 경쟁 관계가 아니라, RAG 파이프라인의 서로 다른 지점을 개선하는 보완 관계라는 게 핵심입니다. (예상 소요: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만들 SE 멘토봇을 다시 소개하겠습니다. 학과 공식 자료를 근거로, 출처를 밝히며 답하는 진로·학사 상담 챗봇입니다. 주요 사용자는 전공 선택을 고민하는 1학년, 바뀐 교육과정을 다시 파악해야 하는 복학생, 낯선 이수 체계를 이해해야 하는 편입생입니다. 핵심 원칙은 세 가지입니다. 학과 공식 문서를 근거로만 답하고, 근거가 없으면 확인된 자료가 없다고 답합니다. 모든 답변에 출처를 표시합니다. 개인정보 관련 요청은 다루지 않습니다. (예상 소요: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시스템 아키텍처에서 여섯 편의 논문이 각각 어디에 배치되는지 보여드리겠습니다. 질문이 들어오면 HyDE로 질의를 개선하고, Self-RAG의 아이디어로 검색이 필요한지 판단하고, 벡터 검색을 거쳐, CRAG의 아이디어로 결과를 검증한 뒤, 답변을 생성합니다. RAPTOR는 특정 단계가 아니라 인덱스 구조 전체를 계층화하는 방식이라 별도 표시하지 않았습니다. 8주 프로젝트에서는 기본 파이프라인과 HyDE는 직접 구현하고, Self-RAG와 CRAG는 프롬프트 레벨로 단순화하고, RAPTOR는 수동 요약본으로 개념만 부분 차용합니다. (예상 소요: 65초)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준비 계획입니다. 문서 유형별로 청킹 단위를 다르게 가져갑니다. 메타데이터는 학과명, 연도, 학년, 자료 종류, 출처, 갱신일까지 담습니다. 저희가 특히 조심하려는 실제 문제 상황이 있습니다. 2024년 교육과정 PDF를 삭제해도 벡터DB에는 예전 chunk가 남아있어서, 챗봇이 계속 옛날 기준으로 답할 수 있습니다. 이걸 막기 위해 문서 버전 필드를 메타데이터에 필수로 넣고, 학기가 바뀌면 문서를 바로 삭제하는 대신 상태를 active에서 archived로 전환해서 추적 가능하게 관리할 계획입니다. (예상 소요: 65초)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시나리오로 종합해보겠습니다. '편입생도 전공필수 과목을 전부 들어야 하나요?'라는 질문이 들어오면, 먼저 HyDE로 질문을 구체적인 표현으로 바꿔 검색합니다. Self-RAG의 아이디어로 검색이 필요한 질문이라고 판단합니다. CRAG의 아이디어로 검색된 문서가 편입생에게 실제로 적용되는지 검증하고 오래된 문서는 걸러냅니다. 마지막으로 검증된 문서를 근거로 답변하고 출처를 표시합니다.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편을 종합해서 8주 프로젝트 일정을 정리했습니다. 1에서 2주차는 문서 품질과 Chunking, Metadata 설계입니다. 3에서 4주차는 기본 파이프라인 구축입니다. 5주차는 Hybrid Search와 HyDE 비교 실험으로, 정확도와 응답속도를 함께 측정합니다. 6주차는 근거 없으면 답변 거절하는 프롬프트 설계입니다. 7에서 8주차는 웹 서비스 통합과 평가, 발표 준비입니다. 반성 토큰 학습이나 재귀적 클러스터링 같은 전체 구현은 발표에서 향후 과제로 명확히 언급할 계획입니다. (예상 소요: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 효과는 세 측면으로 나눠 볼 수 있습니다. 학생은 출처가 명확한 답변으로 신뢰할 수 있는 정보를 즉시 얻고, 학과는 산발적인 문의 부담을 줄이며, 멘토는 반복 업무를 챗봇에 맡기고 깊이 있는 상담에 집중할 수 있습니다. 저희 프로젝트의 차별화 포인트는, 단순히 논문을 가져다 쓴 게 아니라 학사 문서 특성에 맞춰 직접 튜닝했다는 점입니다. 청킹 전략을 직접 설계하고, HyDE를 직접 구현해서 정확도와 속도 트레이드오프까지 정직하게 보고하고, Self-RAG와 CRAG의 철학을 현실적으로 단순화해서 적용했습니다. 최종 산출물은 학과 공식 자료 기반 출처 검증형 RAG 챗봇이고, 웹 서비스로 배포할 계획입니다. (예상 소요: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RAG는 LLM이 학습한 내부 지식에만 의존하지 않고, 외부 문서를 검색해서 답변의 정확성과 최신성을 높이는 기술입니다. HyDE는 검색 전 질문을, CRAG는 검색 후 결과를, Self-RAG는 검색 여부 자체를 개선합니다. 저희는 이 여섯 가지 관점을 바탕으로, 정확한 근거를 갖춘 학과 소개 멘토링 챗봇을 8주간 만들어가겠습니다. 감사합니다. (예상 소요: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 대비용 슬라이드입니다. 1번: 여섯 편 전부 구현하는가 — 논문마다 구현 정도를 다르게 가져갑니다. 2번: 일반 ChatGPT와 뭐가 다른가 — 내부 정보 학습 여부와 출처 표시 여부가 핵심 차이입니다. 3번: 검색 문서가 틀렸을 때 — CRAG 아이디어로 관련성을 평가해서 낮으면 답변을 보류합니다.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8.png"/><Relationship Id="rId10" Type="http://schemas.openxmlformats.org/officeDocument/2006/relationships/image" Target="../media/image-8-8.png"/><Relationship Id="rId11" Type="http://schemas.openxmlformats.org/officeDocument/2006/relationships/image" Target="../media/image-8-8.png"/><Relationship Id="rId12" Type="http://schemas.openxmlformats.org/officeDocument/2006/relationships/image" Target="../media/image-8-8.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065A82"/>
          </a:solidFill>
          <a:ln/>
        </p:spPr>
      </p:sp>
      <p:sp>
        <p:nvSpPr>
          <p:cNvPr id="3" name="Shape 1"/>
          <p:cNvSpPr/>
          <p:nvPr/>
        </p:nvSpPr>
        <p:spPr>
          <a:xfrm>
            <a:off x="10332720" y="4572000"/>
            <a:ext cx="3108960" cy="3108960"/>
          </a:xfrm>
          <a:prstGeom prst="ellipse">
            <a:avLst/>
          </a:prstGeom>
          <a:solidFill>
            <a:srgbClr val="1C7293"/>
          </a:solidFill>
          <a:ln/>
        </p:spPr>
      </p:sp>
      <p:sp>
        <p:nvSpPr>
          <p:cNvPr id="4" name="Text 2"/>
          <p:cNvSpPr/>
          <p:nvPr/>
        </p:nvSpPr>
        <p:spPr>
          <a:xfrm>
            <a:off x="822960" y="1691640"/>
            <a:ext cx="7315200" cy="365760"/>
          </a:xfrm>
          <a:prstGeom prst="rect">
            <a:avLst/>
          </a:prstGeom>
          <a:noFill/>
          <a:ln/>
        </p:spPr>
        <p:txBody>
          <a:bodyPr wrap="square" lIns="0" tIns="0" rIns="0" bIns="0" rtlCol="0" anchor="ctr"/>
          <a:lstStyle/>
          <a:p>
            <a:pPr indent="0" marL="0">
              <a:buNone/>
            </a:pPr>
            <a:r>
              <a:rPr lang="en-US" sz="1400" b="1" spc="300" kern="0" dirty="0">
                <a:solidFill>
                  <a:srgbClr val="C98A2C"/>
                </a:solidFill>
                <a:latin typeface="Calibri" pitchFamily="34" charset="0"/>
                <a:ea typeface="Calibri" pitchFamily="34" charset="-122"/>
                <a:cs typeface="Calibri" pitchFamily="34" charset="-120"/>
              </a:rPr>
              <a:t>RAG 심화 학습 발표</a:t>
            </a:r>
            <a:endParaRPr lang="en-US" sz="1400" dirty="0"/>
          </a:p>
        </p:txBody>
      </p:sp>
      <p:sp>
        <p:nvSpPr>
          <p:cNvPr id="5" name="Text 3"/>
          <p:cNvSpPr/>
          <p:nvPr/>
        </p:nvSpPr>
        <p:spPr>
          <a:xfrm>
            <a:off x="777240" y="2103120"/>
            <a:ext cx="914400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RAG 기술의 원리와</a:t>
            </a:r>
            <a:endParaRPr lang="en-US" sz="4400" dirty="0"/>
          </a:p>
        </p:txBody>
      </p:sp>
      <p:sp>
        <p:nvSpPr>
          <p:cNvPr id="6" name="Text 4"/>
          <p:cNvSpPr/>
          <p:nvPr/>
        </p:nvSpPr>
        <p:spPr>
          <a:xfrm>
            <a:off x="777240" y="2798064"/>
            <a:ext cx="914400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한계 개선 연구</a:t>
            </a:r>
            <a:endParaRPr lang="en-US" sz="4400" dirty="0"/>
          </a:p>
        </p:txBody>
      </p:sp>
      <p:sp>
        <p:nvSpPr>
          <p:cNvPr id="7" name="Text 5"/>
          <p:cNvSpPr/>
          <p:nvPr/>
        </p:nvSpPr>
        <p:spPr>
          <a:xfrm>
            <a:off x="822960" y="3749040"/>
            <a:ext cx="9601200" cy="457200"/>
          </a:xfrm>
          <a:prstGeom prst="rect">
            <a:avLst/>
          </a:prstGeom>
          <a:noFill/>
          <a:ln/>
        </p:spPr>
        <p:txBody>
          <a:bodyPr wrap="square" lIns="0" tIns="0" rIns="0" bIns="0" rtlCol="0" anchor="ctr"/>
          <a:lstStyle/>
          <a:p>
            <a:pPr indent="0" marL="0">
              <a:buNone/>
            </a:pPr>
            <a:r>
              <a:rPr lang="en-US" sz="1550" dirty="0">
                <a:solidFill>
                  <a:srgbClr val="CFE3ED"/>
                </a:solidFill>
                <a:latin typeface="Calibri" pitchFamily="34" charset="0"/>
                <a:ea typeface="Calibri" pitchFamily="34" charset="-122"/>
                <a:cs typeface="Calibri" pitchFamily="34" charset="-120"/>
              </a:rPr>
              <a:t>6편의 RAG 논문 발표 — 그리고 우리 프로젝트 적용 방향</a:t>
            </a:r>
            <a:endParaRPr lang="en-US" sz="1550" dirty="0"/>
          </a:p>
        </p:txBody>
      </p:sp>
      <p:sp>
        <p:nvSpPr>
          <p:cNvPr id="8" name="Shape 6"/>
          <p:cNvSpPr/>
          <p:nvPr/>
        </p:nvSpPr>
        <p:spPr>
          <a:xfrm>
            <a:off x="822960" y="4480560"/>
            <a:ext cx="745236" cy="365760"/>
          </a:xfrm>
          <a:prstGeom prst="roundRect">
            <a:avLst>
              <a:gd name="adj" fmla="val 50000"/>
            </a:avLst>
          </a:prstGeom>
          <a:solidFill>
            <a:srgbClr val="065A82"/>
          </a:solidFill>
          <a:ln/>
        </p:spPr>
      </p:sp>
      <p:sp>
        <p:nvSpPr>
          <p:cNvPr id="9" name="Text 7"/>
          <p:cNvSpPr/>
          <p:nvPr/>
        </p:nvSpPr>
        <p:spPr>
          <a:xfrm>
            <a:off x="822960" y="4480560"/>
            <a:ext cx="745236"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RAG</a:t>
            </a:r>
            <a:endParaRPr lang="en-US" sz="1250" dirty="0"/>
          </a:p>
        </p:txBody>
      </p:sp>
      <p:sp>
        <p:nvSpPr>
          <p:cNvPr id="10" name="Shape 8"/>
          <p:cNvSpPr/>
          <p:nvPr/>
        </p:nvSpPr>
        <p:spPr>
          <a:xfrm>
            <a:off x="1696212" y="4480560"/>
            <a:ext cx="1033272" cy="365760"/>
          </a:xfrm>
          <a:prstGeom prst="roundRect">
            <a:avLst>
              <a:gd name="adj" fmla="val 50000"/>
            </a:avLst>
          </a:prstGeom>
          <a:solidFill>
            <a:srgbClr val="065A82"/>
          </a:solidFill>
          <a:ln/>
        </p:spPr>
      </p:sp>
      <p:sp>
        <p:nvSpPr>
          <p:cNvPr id="11" name="Text 9"/>
          <p:cNvSpPr/>
          <p:nvPr/>
        </p:nvSpPr>
        <p:spPr>
          <a:xfrm>
            <a:off x="1696212" y="4480560"/>
            <a:ext cx="1033272"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Survey</a:t>
            </a:r>
            <a:endParaRPr lang="en-US" sz="1250" dirty="0"/>
          </a:p>
        </p:txBody>
      </p:sp>
      <p:sp>
        <p:nvSpPr>
          <p:cNvPr id="12" name="Shape 10"/>
          <p:cNvSpPr/>
          <p:nvPr/>
        </p:nvSpPr>
        <p:spPr>
          <a:xfrm>
            <a:off x="2857500" y="4480560"/>
            <a:ext cx="841248" cy="365760"/>
          </a:xfrm>
          <a:prstGeom prst="roundRect">
            <a:avLst>
              <a:gd name="adj" fmla="val 50000"/>
            </a:avLst>
          </a:prstGeom>
          <a:solidFill>
            <a:srgbClr val="065A82"/>
          </a:solidFill>
          <a:ln/>
        </p:spPr>
      </p:sp>
      <p:sp>
        <p:nvSpPr>
          <p:cNvPr id="13" name="Text 11"/>
          <p:cNvSpPr/>
          <p:nvPr/>
        </p:nvSpPr>
        <p:spPr>
          <a:xfrm>
            <a:off x="2857500" y="4480560"/>
            <a:ext cx="841248"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HyDE</a:t>
            </a:r>
            <a:endParaRPr lang="en-US" sz="1250" dirty="0"/>
          </a:p>
        </p:txBody>
      </p:sp>
      <p:sp>
        <p:nvSpPr>
          <p:cNvPr id="14" name="Shape 12"/>
          <p:cNvSpPr/>
          <p:nvPr/>
        </p:nvSpPr>
        <p:spPr>
          <a:xfrm>
            <a:off x="3826764" y="4480560"/>
            <a:ext cx="1225296" cy="365760"/>
          </a:xfrm>
          <a:prstGeom prst="roundRect">
            <a:avLst>
              <a:gd name="adj" fmla="val 50000"/>
            </a:avLst>
          </a:prstGeom>
          <a:solidFill>
            <a:srgbClr val="065A82"/>
          </a:solidFill>
          <a:ln/>
        </p:spPr>
      </p:sp>
      <p:sp>
        <p:nvSpPr>
          <p:cNvPr id="15" name="Text 13"/>
          <p:cNvSpPr/>
          <p:nvPr/>
        </p:nvSpPr>
        <p:spPr>
          <a:xfrm>
            <a:off x="3826764" y="4480560"/>
            <a:ext cx="1225296"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Self-RAG</a:t>
            </a:r>
            <a:endParaRPr lang="en-US" sz="1250" dirty="0"/>
          </a:p>
        </p:txBody>
      </p:sp>
      <p:sp>
        <p:nvSpPr>
          <p:cNvPr id="16" name="Shape 14"/>
          <p:cNvSpPr/>
          <p:nvPr/>
        </p:nvSpPr>
        <p:spPr>
          <a:xfrm>
            <a:off x="5180076" y="4480560"/>
            <a:ext cx="841248" cy="365760"/>
          </a:xfrm>
          <a:prstGeom prst="roundRect">
            <a:avLst>
              <a:gd name="adj" fmla="val 50000"/>
            </a:avLst>
          </a:prstGeom>
          <a:solidFill>
            <a:srgbClr val="065A82"/>
          </a:solidFill>
          <a:ln/>
        </p:spPr>
      </p:sp>
      <p:sp>
        <p:nvSpPr>
          <p:cNvPr id="17" name="Text 15"/>
          <p:cNvSpPr/>
          <p:nvPr/>
        </p:nvSpPr>
        <p:spPr>
          <a:xfrm>
            <a:off x="5180076" y="4480560"/>
            <a:ext cx="841248"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CRAG</a:t>
            </a:r>
            <a:endParaRPr lang="en-US" sz="1250" dirty="0"/>
          </a:p>
        </p:txBody>
      </p:sp>
      <p:sp>
        <p:nvSpPr>
          <p:cNvPr id="18" name="Shape 16"/>
          <p:cNvSpPr/>
          <p:nvPr/>
        </p:nvSpPr>
        <p:spPr>
          <a:xfrm>
            <a:off x="6149340" y="4480560"/>
            <a:ext cx="1033272" cy="365760"/>
          </a:xfrm>
          <a:prstGeom prst="roundRect">
            <a:avLst>
              <a:gd name="adj" fmla="val 50000"/>
            </a:avLst>
          </a:prstGeom>
          <a:solidFill>
            <a:srgbClr val="065A82"/>
          </a:solidFill>
          <a:ln/>
        </p:spPr>
      </p:sp>
      <p:sp>
        <p:nvSpPr>
          <p:cNvPr id="19" name="Text 17"/>
          <p:cNvSpPr/>
          <p:nvPr/>
        </p:nvSpPr>
        <p:spPr>
          <a:xfrm>
            <a:off x="6149340" y="4480560"/>
            <a:ext cx="1033272"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RAPTOR</a:t>
            </a:r>
            <a:endParaRPr lang="en-US" sz="1250" dirty="0"/>
          </a:p>
        </p:txBody>
      </p:sp>
      <p:sp>
        <p:nvSpPr>
          <p:cNvPr id="20" name="Text 18"/>
          <p:cNvSpPr/>
          <p:nvPr/>
        </p:nvSpPr>
        <p:spPr>
          <a:xfrm>
            <a:off x="822960" y="6035040"/>
            <a:ext cx="7315200" cy="365760"/>
          </a:xfrm>
          <a:prstGeom prst="rect">
            <a:avLst/>
          </a:prstGeom>
          <a:noFill/>
          <a:ln/>
        </p:spPr>
        <p:txBody>
          <a:bodyPr wrap="square" lIns="0" tIns="0" rIns="0" bIns="0" rtlCol="0" anchor="ctr"/>
          <a:lstStyle/>
          <a:p>
            <a:pPr indent="0" marL="0">
              <a:buNone/>
            </a:pPr>
            <a:r>
              <a:rPr lang="en-US" sz="1350" dirty="0">
                <a:solidFill>
                  <a:srgbClr val="CFE3ED"/>
                </a:solidFill>
                <a:latin typeface="Calibri" pitchFamily="34" charset="0"/>
                <a:ea typeface="Calibri" pitchFamily="34" charset="-122"/>
                <a:cs typeface="Calibri" pitchFamily="34" charset="-120"/>
              </a:rPr>
              <a:t>SE 멘토봇 팀</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C98A2C"/>
                </a:solidFill>
                <a:latin typeface="Calibri" pitchFamily="34" charset="0"/>
                <a:ea typeface="Calibri" pitchFamily="34" charset="-122"/>
                <a:cs typeface="Calibri" pitchFamily="34" charset="-120"/>
              </a:rPr>
              <a:t>WHY RAG</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기존 LLM은 왜 부족할까</a:t>
            </a:r>
            <a:endParaRPr lang="en-US" sz="2700" dirty="0"/>
          </a:p>
        </p:txBody>
      </p:sp>
      <p:sp>
        <p:nvSpPr>
          <p:cNvPr id="4" name="Text 2"/>
          <p:cNvSpPr/>
          <p:nvPr/>
        </p:nvSpPr>
        <p:spPr>
          <a:xfrm>
            <a:off x="640080" y="1298448"/>
            <a:ext cx="9144000" cy="365760"/>
          </a:xfrm>
          <a:prstGeom prst="rect">
            <a:avLst/>
          </a:prstGeom>
          <a:noFill/>
          <a:ln/>
        </p:spPr>
        <p:txBody>
          <a:bodyPr wrap="square" lIns="0" tIns="0" rIns="0" bIns="0" rtlCol="0" anchor="ctr"/>
          <a:lstStyle/>
          <a:p>
            <a:pPr indent="0" marL="0">
              <a:buNone/>
            </a:pPr>
            <a:r>
              <a:rPr lang="en-US" sz="1450" dirty="0">
                <a:solidFill>
                  <a:srgbClr val="CFE3ED"/>
                </a:solidFill>
                <a:latin typeface="Calibri" pitchFamily="34" charset="0"/>
                <a:ea typeface="Calibri" pitchFamily="34" charset="-122"/>
                <a:cs typeface="Calibri" pitchFamily="34" charset="-120"/>
              </a:rPr>
              <a:t>사실 지식이 모델 파라미터 안에 갇혀 있기 때문이다</a:t>
            </a:r>
            <a:endParaRPr lang="en-US" sz="1450" dirty="0"/>
          </a:p>
        </p:txBody>
      </p:sp>
      <p:sp>
        <p:nvSpPr>
          <p:cNvPr id="5" name="Shape 3"/>
          <p:cNvSpPr/>
          <p:nvPr/>
        </p:nvSpPr>
        <p:spPr>
          <a:xfrm>
            <a:off x="640080" y="1874520"/>
            <a:ext cx="2542032" cy="3246120"/>
          </a:xfrm>
          <a:prstGeom prst="roundRect">
            <a:avLst>
              <a:gd name="adj" fmla="val 3597"/>
            </a:avLst>
          </a:prstGeom>
          <a:solidFill>
            <a:srgbClr val="065A82"/>
          </a:solidFill>
          <a:ln/>
        </p:spPr>
      </p:sp>
      <p:sp>
        <p:nvSpPr>
          <p:cNvPr id="6" name="Shape 4"/>
          <p:cNvSpPr/>
          <p:nvPr/>
        </p:nvSpPr>
        <p:spPr>
          <a:xfrm>
            <a:off x="1591056" y="2167128"/>
            <a:ext cx="640080" cy="640080"/>
          </a:xfrm>
          <a:prstGeom prst="ellipse">
            <a:avLst/>
          </a:prstGeom>
          <a:solidFill>
            <a:srgbClr val="1C7293"/>
          </a:solidFill>
          <a:ln/>
        </p:spPr>
      </p:sp>
      <p:pic>
        <p:nvPicPr>
          <p:cNvPr id="7" name="Image 0" descr="/home/claude/rag_deck/icon_history_white.png">    </p:cNvPr>
          <p:cNvPicPr>
            <a:picLocks noChangeAspect="1"/>
          </p:cNvPicPr>
          <p:nvPr/>
        </p:nvPicPr>
        <p:blipFill>
          <a:blip r:embed="rId1"/>
          <a:stretch>
            <a:fillRect/>
          </a:stretch>
        </p:blipFill>
        <p:spPr>
          <a:xfrm>
            <a:off x="1746504" y="2322576"/>
            <a:ext cx="329184" cy="329184"/>
          </a:xfrm>
          <a:prstGeom prst="rect">
            <a:avLst/>
          </a:prstGeom>
        </p:spPr>
      </p:pic>
      <p:sp>
        <p:nvSpPr>
          <p:cNvPr id="8" name="Text 5"/>
          <p:cNvSpPr/>
          <p:nvPr/>
        </p:nvSpPr>
        <p:spPr>
          <a:xfrm>
            <a:off x="804672" y="3063240"/>
            <a:ext cx="2212848" cy="685800"/>
          </a:xfrm>
          <a:prstGeom prst="rect">
            <a:avLst/>
          </a:prstGeom>
          <a:noFill/>
          <a:ln/>
        </p:spPr>
        <p:txBody>
          <a:bodyPr wrap="square" lIns="0" tIns="0" rIns="0" bIns="0" rtlCol="0" anchor="ctr"/>
          <a:lstStyle/>
          <a:p>
            <a:pPr algn="ctr" indent="0" marL="0">
              <a:lnSpc>
                <a:spcPct val="115000"/>
              </a:lnSpc>
              <a:buNone/>
            </a:pPr>
            <a:r>
              <a:rPr lang="en-US" sz="1450" b="1" dirty="0">
                <a:solidFill>
                  <a:srgbClr val="FFFFFF"/>
                </a:solidFill>
                <a:latin typeface="Cambria" pitchFamily="34" charset="0"/>
                <a:ea typeface="Cambria" pitchFamily="34" charset="-122"/>
                <a:cs typeface="Cambria" pitchFamily="34" charset="-120"/>
              </a:rPr>
              <a:t>지식 업데이트 어려움</a:t>
            </a:r>
            <a:endParaRPr lang="en-US" sz="1450" dirty="0"/>
          </a:p>
        </p:txBody>
      </p:sp>
      <p:sp>
        <p:nvSpPr>
          <p:cNvPr id="9" name="Text 6"/>
          <p:cNvSpPr/>
          <p:nvPr/>
        </p:nvSpPr>
        <p:spPr>
          <a:xfrm>
            <a:off x="841248" y="3840480"/>
            <a:ext cx="2139696" cy="1097280"/>
          </a:xfrm>
          <a:prstGeom prst="rect">
            <a:avLst/>
          </a:prstGeom>
          <a:noFill/>
          <a:ln/>
        </p:spPr>
        <p:txBody>
          <a:bodyPr wrap="square" lIns="0" tIns="0" rIns="0" bIns="0" rtlCol="0" anchor="ctr"/>
          <a:lstStyle/>
          <a:p>
            <a:pPr algn="ctr" indent="0" marL="0">
              <a:lnSpc>
                <a:spcPct val="130000"/>
              </a:lnSpc>
              <a:buNone/>
            </a:pPr>
            <a:r>
              <a:rPr lang="en-US" sz="1300" dirty="0">
                <a:solidFill>
                  <a:srgbClr val="CFE3ED"/>
                </a:solidFill>
                <a:latin typeface="Calibri" pitchFamily="34" charset="0"/>
                <a:ea typeface="Calibri" pitchFamily="34" charset="-122"/>
                <a:cs typeface="Calibri" pitchFamily="34" charset="-120"/>
              </a:rPr>
              <a:t>모델을 다시 학습해야 반영된다</a:t>
            </a:r>
            <a:endParaRPr lang="en-US" sz="1300" dirty="0"/>
          </a:p>
        </p:txBody>
      </p:sp>
      <p:sp>
        <p:nvSpPr>
          <p:cNvPr id="10" name="Shape 7"/>
          <p:cNvSpPr/>
          <p:nvPr/>
        </p:nvSpPr>
        <p:spPr>
          <a:xfrm>
            <a:off x="3383280" y="1874520"/>
            <a:ext cx="2542032" cy="3246120"/>
          </a:xfrm>
          <a:prstGeom prst="roundRect">
            <a:avLst>
              <a:gd name="adj" fmla="val 3597"/>
            </a:avLst>
          </a:prstGeom>
          <a:solidFill>
            <a:srgbClr val="065A82"/>
          </a:solidFill>
          <a:ln/>
        </p:spPr>
      </p:sp>
      <p:sp>
        <p:nvSpPr>
          <p:cNvPr id="11" name="Shape 8"/>
          <p:cNvSpPr/>
          <p:nvPr/>
        </p:nvSpPr>
        <p:spPr>
          <a:xfrm>
            <a:off x="4334256" y="2167128"/>
            <a:ext cx="640080" cy="640080"/>
          </a:xfrm>
          <a:prstGeom prst="ellipse">
            <a:avLst/>
          </a:prstGeom>
          <a:solidFill>
            <a:srgbClr val="1C7293"/>
          </a:solidFill>
          <a:ln/>
        </p:spPr>
      </p:sp>
      <p:pic>
        <p:nvPicPr>
          <p:cNvPr id="12" name="Image 1" descr="/home/claude/rag_deck/icon_question_white.png">    </p:cNvPr>
          <p:cNvPicPr>
            <a:picLocks noChangeAspect="1"/>
          </p:cNvPicPr>
          <p:nvPr/>
        </p:nvPicPr>
        <p:blipFill>
          <a:blip r:embed="rId2"/>
          <a:stretch>
            <a:fillRect/>
          </a:stretch>
        </p:blipFill>
        <p:spPr>
          <a:xfrm>
            <a:off x="4489704" y="2322576"/>
            <a:ext cx="329184" cy="329184"/>
          </a:xfrm>
          <a:prstGeom prst="rect">
            <a:avLst/>
          </a:prstGeom>
        </p:spPr>
      </p:pic>
      <p:sp>
        <p:nvSpPr>
          <p:cNvPr id="13" name="Text 9"/>
          <p:cNvSpPr/>
          <p:nvPr/>
        </p:nvSpPr>
        <p:spPr>
          <a:xfrm>
            <a:off x="3547872" y="3063240"/>
            <a:ext cx="2212848" cy="685800"/>
          </a:xfrm>
          <a:prstGeom prst="rect">
            <a:avLst/>
          </a:prstGeom>
          <a:noFill/>
          <a:ln/>
        </p:spPr>
        <p:txBody>
          <a:bodyPr wrap="square" lIns="0" tIns="0" rIns="0" bIns="0" rtlCol="0" anchor="ctr"/>
          <a:lstStyle/>
          <a:p>
            <a:pPr algn="ctr" indent="0" marL="0">
              <a:lnSpc>
                <a:spcPct val="115000"/>
              </a:lnSpc>
              <a:buNone/>
            </a:pPr>
            <a:r>
              <a:rPr lang="en-US" sz="1450" b="1" dirty="0">
                <a:solidFill>
                  <a:srgbClr val="FFFFFF"/>
                </a:solidFill>
                <a:latin typeface="Cambria" pitchFamily="34" charset="0"/>
                <a:ea typeface="Cambria" pitchFamily="34" charset="-122"/>
                <a:cs typeface="Cambria" pitchFamily="34" charset="-120"/>
              </a:rPr>
              <a:t>출처 확인 어려움</a:t>
            </a:r>
            <a:endParaRPr lang="en-US" sz="1450" dirty="0"/>
          </a:p>
        </p:txBody>
      </p:sp>
      <p:sp>
        <p:nvSpPr>
          <p:cNvPr id="14" name="Text 10"/>
          <p:cNvSpPr/>
          <p:nvPr/>
        </p:nvSpPr>
        <p:spPr>
          <a:xfrm>
            <a:off x="3584448" y="3840480"/>
            <a:ext cx="2139696" cy="1097280"/>
          </a:xfrm>
          <a:prstGeom prst="rect">
            <a:avLst/>
          </a:prstGeom>
          <a:noFill/>
          <a:ln/>
        </p:spPr>
        <p:txBody>
          <a:bodyPr wrap="square" lIns="0" tIns="0" rIns="0" bIns="0" rtlCol="0" anchor="ctr"/>
          <a:lstStyle/>
          <a:p>
            <a:pPr algn="ctr" indent="0" marL="0">
              <a:lnSpc>
                <a:spcPct val="130000"/>
              </a:lnSpc>
              <a:buNone/>
            </a:pPr>
            <a:r>
              <a:rPr lang="en-US" sz="1300" dirty="0">
                <a:solidFill>
                  <a:srgbClr val="CFE3ED"/>
                </a:solidFill>
                <a:latin typeface="Calibri" pitchFamily="34" charset="0"/>
                <a:ea typeface="Calibri" pitchFamily="34" charset="-122"/>
                <a:cs typeface="Calibri" pitchFamily="34" charset="-120"/>
              </a:rPr>
              <a:t>왜 그런 답을 했는지 근거가 부족하다</a:t>
            </a:r>
            <a:endParaRPr lang="en-US" sz="1300" dirty="0"/>
          </a:p>
        </p:txBody>
      </p:sp>
      <p:sp>
        <p:nvSpPr>
          <p:cNvPr id="15" name="Shape 11"/>
          <p:cNvSpPr/>
          <p:nvPr/>
        </p:nvSpPr>
        <p:spPr>
          <a:xfrm>
            <a:off x="6126480" y="1874520"/>
            <a:ext cx="2542032" cy="3246120"/>
          </a:xfrm>
          <a:prstGeom prst="roundRect">
            <a:avLst>
              <a:gd name="adj" fmla="val 3597"/>
            </a:avLst>
          </a:prstGeom>
          <a:solidFill>
            <a:srgbClr val="065A82"/>
          </a:solidFill>
          <a:ln/>
        </p:spPr>
      </p:sp>
      <p:sp>
        <p:nvSpPr>
          <p:cNvPr id="16" name="Shape 12"/>
          <p:cNvSpPr/>
          <p:nvPr/>
        </p:nvSpPr>
        <p:spPr>
          <a:xfrm>
            <a:off x="7077456" y="2167128"/>
            <a:ext cx="640080" cy="640080"/>
          </a:xfrm>
          <a:prstGeom prst="ellipse">
            <a:avLst/>
          </a:prstGeom>
          <a:solidFill>
            <a:srgbClr val="1C7293"/>
          </a:solidFill>
          <a:ln/>
        </p:spPr>
      </p:sp>
      <p:pic>
        <p:nvPicPr>
          <p:cNvPr id="17" name="Image 2" descr="/home/claude/rag_deck/icon_warn_white.png">    </p:cNvPr>
          <p:cNvPicPr>
            <a:picLocks noChangeAspect="1"/>
          </p:cNvPicPr>
          <p:nvPr/>
        </p:nvPicPr>
        <p:blipFill>
          <a:blip r:embed="rId3"/>
          <a:stretch>
            <a:fillRect/>
          </a:stretch>
        </p:blipFill>
        <p:spPr>
          <a:xfrm>
            <a:off x="7232904" y="2322576"/>
            <a:ext cx="329184" cy="329184"/>
          </a:xfrm>
          <a:prstGeom prst="rect">
            <a:avLst/>
          </a:prstGeom>
        </p:spPr>
      </p:pic>
      <p:sp>
        <p:nvSpPr>
          <p:cNvPr id="18" name="Text 13"/>
          <p:cNvSpPr/>
          <p:nvPr/>
        </p:nvSpPr>
        <p:spPr>
          <a:xfrm>
            <a:off x="6291072" y="3063240"/>
            <a:ext cx="2212848" cy="685800"/>
          </a:xfrm>
          <a:prstGeom prst="rect">
            <a:avLst/>
          </a:prstGeom>
          <a:noFill/>
          <a:ln/>
        </p:spPr>
        <p:txBody>
          <a:bodyPr wrap="square" lIns="0" tIns="0" rIns="0" bIns="0" rtlCol="0" anchor="ctr"/>
          <a:lstStyle/>
          <a:p>
            <a:pPr algn="ctr" indent="0" marL="0">
              <a:lnSpc>
                <a:spcPct val="115000"/>
              </a:lnSpc>
              <a:buNone/>
            </a:pPr>
            <a:r>
              <a:rPr lang="en-US" sz="1450" b="1" dirty="0">
                <a:solidFill>
                  <a:srgbClr val="FFFFFF"/>
                </a:solidFill>
                <a:latin typeface="Cambria" pitchFamily="34" charset="0"/>
                <a:ea typeface="Cambria" pitchFamily="34" charset="-122"/>
                <a:cs typeface="Cambria" pitchFamily="34" charset="-120"/>
              </a:rPr>
              <a:t>환각 가능성</a:t>
            </a:r>
            <a:endParaRPr lang="en-US" sz="1450" dirty="0"/>
          </a:p>
        </p:txBody>
      </p:sp>
      <p:sp>
        <p:nvSpPr>
          <p:cNvPr id="19" name="Text 14"/>
          <p:cNvSpPr/>
          <p:nvPr/>
        </p:nvSpPr>
        <p:spPr>
          <a:xfrm>
            <a:off x="6327648" y="3840480"/>
            <a:ext cx="2139696" cy="1097280"/>
          </a:xfrm>
          <a:prstGeom prst="rect">
            <a:avLst/>
          </a:prstGeom>
          <a:noFill/>
          <a:ln/>
        </p:spPr>
        <p:txBody>
          <a:bodyPr wrap="square" lIns="0" tIns="0" rIns="0" bIns="0" rtlCol="0" anchor="ctr"/>
          <a:lstStyle/>
          <a:p>
            <a:pPr algn="ctr" indent="0" marL="0">
              <a:lnSpc>
                <a:spcPct val="130000"/>
              </a:lnSpc>
              <a:buNone/>
            </a:pPr>
            <a:r>
              <a:rPr lang="en-US" sz="1300" dirty="0">
                <a:solidFill>
                  <a:srgbClr val="CFE3ED"/>
                </a:solidFill>
                <a:latin typeface="Calibri" pitchFamily="34" charset="0"/>
                <a:ea typeface="Calibri" pitchFamily="34" charset="-122"/>
                <a:cs typeface="Calibri" pitchFamily="34" charset="-120"/>
              </a:rPr>
              <a:t>모르는 것도 아는 것처럼 생성할 수 있다</a:t>
            </a:r>
            <a:endParaRPr lang="en-US" sz="1300" dirty="0"/>
          </a:p>
        </p:txBody>
      </p:sp>
      <p:sp>
        <p:nvSpPr>
          <p:cNvPr id="20" name="Shape 15"/>
          <p:cNvSpPr/>
          <p:nvPr/>
        </p:nvSpPr>
        <p:spPr>
          <a:xfrm>
            <a:off x="8869680" y="1874520"/>
            <a:ext cx="2542032" cy="3246120"/>
          </a:xfrm>
          <a:prstGeom prst="roundRect">
            <a:avLst>
              <a:gd name="adj" fmla="val 3597"/>
            </a:avLst>
          </a:prstGeom>
          <a:solidFill>
            <a:srgbClr val="065A82"/>
          </a:solidFill>
          <a:ln/>
        </p:spPr>
      </p:sp>
      <p:sp>
        <p:nvSpPr>
          <p:cNvPr id="21" name="Shape 16"/>
          <p:cNvSpPr/>
          <p:nvPr/>
        </p:nvSpPr>
        <p:spPr>
          <a:xfrm>
            <a:off x="9820656" y="2167128"/>
            <a:ext cx="640080" cy="640080"/>
          </a:xfrm>
          <a:prstGeom prst="ellipse">
            <a:avLst/>
          </a:prstGeom>
          <a:solidFill>
            <a:srgbClr val="1C7293"/>
          </a:solidFill>
          <a:ln/>
        </p:spPr>
      </p:sp>
      <p:pic>
        <p:nvPicPr>
          <p:cNvPr id="22" name="Image 3" descr="/home/claude/rag_deck/icon_clock_white.png">    </p:cNvPr>
          <p:cNvPicPr>
            <a:picLocks noChangeAspect="1"/>
          </p:cNvPicPr>
          <p:nvPr/>
        </p:nvPicPr>
        <p:blipFill>
          <a:blip r:embed="rId4"/>
          <a:stretch>
            <a:fillRect/>
          </a:stretch>
        </p:blipFill>
        <p:spPr>
          <a:xfrm>
            <a:off x="9976104" y="2322576"/>
            <a:ext cx="329184" cy="329184"/>
          </a:xfrm>
          <a:prstGeom prst="rect">
            <a:avLst/>
          </a:prstGeom>
        </p:spPr>
      </p:pic>
      <p:sp>
        <p:nvSpPr>
          <p:cNvPr id="23" name="Text 17"/>
          <p:cNvSpPr/>
          <p:nvPr/>
        </p:nvSpPr>
        <p:spPr>
          <a:xfrm>
            <a:off x="9034272" y="3063240"/>
            <a:ext cx="2212848" cy="685800"/>
          </a:xfrm>
          <a:prstGeom prst="rect">
            <a:avLst/>
          </a:prstGeom>
          <a:noFill/>
          <a:ln/>
        </p:spPr>
        <p:txBody>
          <a:bodyPr wrap="square" lIns="0" tIns="0" rIns="0" bIns="0" rtlCol="0" anchor="ctr"/>
          <a:lstStyle/>
          <a:p>
            <a:pPr algn="ctr" indent="0" marL="0">
              <a:lnSpc>
                <a:spcPct val="115000"/>
              </a:lnSpc>
              <a:buNone/>
            </a:pPr>
            <a:r>
              <a:rPr lang="en-US" sz="1450" b="1" dirty="0">
                <a:solidFill>
                  <a:srgbClr val="FFFFFF"/>
                </a:solidFill>
                <a:latin typeface="Cambria" pitchFamily="34" charset="0"/>
                <a:ea typeface="Cambria" pitchFamily="34" charset="-122"/>
                <a:cs typeface="Cambria" pitchFamily="34" charset="-120"/>
              </a:rPr>
              <a:t>최신 정보 반영 어려움</a:t>
            </a:r>
            <a:endParaRPr lang="en-US" sz="1450" dirty="0"/>
          </a:p>
        </p:txBody>
      </p:sp>
      <p:sp>
        <p:nvSpPr>
          <p:cNvPr id="24" name="Text 18"/>
          <p:cNvSpPr/>
          <p:nvPr/>
        </p:nvSpPr>
        <p:spPr>
          <a:xfrm>
            <a:off x="9070848" y="3840480"/>
            <a:ext cx="2139696" cy="1097280"/>
          </a:xfrm>
          <a:prstGeom prst="rect">
            <a:avLst/>
          </a:prstGeom>
          <a:noFill/>
          <a:ln/>
        </p:spPr>
        <p:txBody>
          <a:bodyPr wrap="square" lIns="0" tIns="0" rIns="0" bIns="0" rtlCol="0" anchor="ctr"/>
          <a:lstStyle/>
          <a:p>
            <a:pPr algn="ctr" indent="0" marL="0">
              <a:lnSpc>
                <a:spcPct val="130000"/>
              </a:lnSpc>
              <a:buNone/>
            </a:pPr>
            <a:r>
              <a:rPr lang="en-US" sz="1300" dirty="0">
                <a:solidFill>
                  <a:srgbClr val="CFE3ED"/>
                </a:solidFill>
                <a:latin typeface="Calibri" pitchFamily="34" charset="0"/>
                <a:ea typeface="Calibri" pitchFamily="34" charset="-122"/>
                <a:cs typeface="Calibri" pitchFamily="34" charset="-120"/>
              </a:rPr>
              <a:t>학습 이후 바뀐 정보에 취약하다</a:t>
            </a:r>
            <a:endParaRPr lang="en-US" sz="1300" dirty="0"/>
          </a:p>
        </p:txBody>
      </p:sp>
      <p:sp>
        <p:nvSpPr>
          <p:cNvPr id="25" name="Shape 19"/>
          <p:cNvSpPr/>
          <p:nvPr/>
        </p:nvSpPr>
        <p:spPr>
          <a:xfrm>
            <a:off x="640080" y="5349240"/>
            <a:ext cx="10881360" cy="1005840"/>
          </a:xfrm>
          <a:prstGeom prst="roundRect">
            <a:avLst>
              <a:gd name="adj" fmla="val 9091"/>
            </a:avLst>
          </a:prstGeom>
          <a:solidFill>
            <a:srgbClr val="FFFFFF">
              <a:alpha val="8000"/>
            </a:srgbClr>
          </a:solidFill>
          <a:ln w="12700">
            <a:solidFill>
              <a:srgbClr val="3D5A80"/>
            </a:solidFill>
            <a:prstDash val="solid"/>
          </a:ln>
        </p:spPr>
      </p:sp>
      <p:sp>
        <p:nvSpPr>
          <p:cNvPr id="26" name="Text 20"/>
          <p:cNvSpPr/>
          <p:nvPr/>
        </p:nvSpPr>
        <p:spPr>
          <a:xfrm>
            <a:off x="868680" y="5349240"/>
            <a:ext cx="10424160" cy="100584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mbria" pitchFamily="34" charset="0"/>
                <a:ea typeface="Cambria" pitchFamily="34" charset="-122"/>
                <a:cs typeface="Cambria" pitchFamily="34" charset="-120"/>
              </a:rPr>
              <a:t>모델이 모든 지식을 외우게 하지 말고, 필요할 때 외부 문서를 검색해서 참고하게 하자 — 이것이 RAG의 출발점이다.</a:t>
            </a:r>
            <a:endParaRPr lang="en-US" sz="1450" dirty="0"/>
          </a:p>
        </p:txBody>
      </p:sp>
      <p:sp>
        <p:nvSpPr>
          <p:cNvPr id="27" name="Text 21"/>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TWO MEMORIES</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RAG는 두 가지 기억을 합친다</a:t>
            </a:r>
            <a:endParaRPr lang="en-US" sz="2700" dirty="0"/>
          </a:p>
        </p:txBody>
      </p:sp>
      <p:sp>
        <p:nvSpPr>
          <p:cNvPr id="4" name="Shape 2"/>
          <p:cNvSpPr/>
          <p:nvPr/>
        </p:nvSpPr>
        <p:spPr>
          <a:xfrm>
            <a:off x="640080" y="1508760"/>
            <a:ext cx="5257800" cy="3063240"/>
          </a:xfrm>
          <a:prstGeom prst="roundRect">
            <a:avLst>
              <a:gd name="adj" fmla="val 2985"/>
            </a:avLst>
          </a:prstGeom>
          <a:solidFill>
            <a:srgbClr val="21295C"/>
          </a:solidFill>
          <a:ln/>
        </p:spPr>
      </p:sp>
      <p:sp>
        <p:nvSpPr>
          <p:cNvPr id="5" name="Shape 3"/>
          <p:cNvSpPr/>
          <p:nvPr/>
        </p:nvSpPr>
        <p:spPr>
          <a:xfrm>
            <a:off x="960120" y="1828800"/>
            <a:ext cx="685800" cy="685800"/>
          </a:xfrm>
          <a:prstGeom prst="ellipse">
            <a:avLst/>
          </a:prstGeom>
          <a:solidFill>
            <a:srgbClr val="FFFFFF">
              <a:alpha val="15000"/>
            </a:srgbClr>
          </a:solidFill>
          <a:ln/>
        </p:spPr>
      </p:sp>
      <p:pic>
        <p:nvPicPr>
          <p:cNvPr id="6" name="Image 0" descr="/home/claude/rag_deck/icon_brain2_white.png">    </p:cNvPr>
          <p:cNvPicPr>
            <a:picLocks noChangeAspect="1"/>
          </p:cNvPicPr>
          <p:nvPr/>
        </p:nvPicPr>
        <p:blipFill>
          <a:blip r:embed="rId1"/>
          <a:stretch>
            <a:fillRect/>
          </a:stretch>
        </p:blipFill>
        <p:spPr>
          <a:xfrm>
            <a:off x="1124712" y="1993392"/>
            <a:ext cx="356616" cy="356616"/>
          </a:xfrm>
          <a:prstGeom prst="rect">
            <a:avLst/>
          </a:prstGeom>
        </p:spPr>
      </p:pic>
      <p:sp>
        <p:nvSpPr>
          <p:cNvPr id="7" name="Text 4"/>
          <p:cNvSpPr/>
          <p:nvPr/>
        </p:nvSpPr>
        <p:spPr>
          <a:xfrm>
            <a:off x="1828800" y="1856232"/>
            <a:ext cx="3886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파라미터 메모리</a:t>
            </a:r>
            <a:endParaRPr lang="en-US" sz="1800" dirty="0"/>
          </a:p>
        </p:txBody>
      </p:sp>
      <p:sp>
        <p:nvSpPr>
          <p:cNvPr id="8" name="Text 5"/>
          <p:cNvSpPr/>
          <p:nvPr/>
        </p:nvSpPr>
        <p:spPr>
          <a:xfrm>
            <a:off x="1828800" y="2203704"/>
            <a:ext cx="3886200" cy="274320"/>
          </a:xfrm>
          <a:prstGeom prst="rect">
            <a:avLst/>
          </a:prstGeom>
          <a:noFill/>
          <a:ln/>
        </p:spPr>
        <p:txBody>
          <a:bodyPr wrap="square" lIns="0" tIns="0" rIns="0" bIns="0" rtlCol="0" anchor="ctr"/>
          <a:lstStyle/>
          <a:p>
            <a:pPr indent="0" marL="0">
              <a:buNone/>
            </a:pPr>
            <a:r>
              <a:rPr lang="en-US" sz="1300" dirty="0">
                <a:solidFill>
                  <a:srgbClr val="CFE3ED"/>
                </a:solidFill>
                <a:latin typeface="Calibri" pitchFamily="34" charset="0"/>
                <a:ea typeface="Calibri" pitchFamily="34" charset="-122"/>
                <a:cs typeface="Calibri" pitchFamily="34" charset="-120"/>
              </a:rPr>
              <a:t>Parametric</a:t>
            </a:r>
            <a:endParaRPr lang="en-US" sz="1300" dirty="0"/>
          </a:p>
        </p:txBody>
      </p:sp>
      <p:sp>
        <p:nvSpPr>
          <p:cNvPr id="9" name="Text 6"/>
          <p:cNvSpPr/>
          <p:nvPr/>
        </p:nvSpPr>
        <p:spPr>
          <a:xfrm>
            <a:off x="960120" y="2743200"/>
            <a:ext cx="4617720" cy="548640"/>
          </a:xfrm>
          <a:prstGeom prst="rect">
            <a:avLst/>
          </a:prstGeom>
          <a:noFill/>
          <a:ln/>
        </p:spPr>
        <p:txBody>
          <a:bodyPr wrap="square" lIns="0" tIns="0" rIns="0" bIns="0" rtlCol="0" anchor="ctr"/>
          <a:lstStyle/>
          <a:p>
            <a:pPr indent="0" marL="0">
              <a:buNone/>
            </a:pPr>
            <a:r>
              <a:rPr lang="en-US" sz="1400" dirty="0">
                <a:solidFill>
                  <a:srgbClr val="FFFFFF"/>
                </a:solidFill>
                <a:latin typeface="Cambria" pitchFamily="34" charset="0"/>
                <a:ea typeface="Cambria" pitchFamily="34" charset="-122"/>
                <a:cs typeface="Cambria" pitchFamily="34" charset="-120"/>
              </a:rPr>
              <a:t>모델 내부 파라미터에 저장된 지식</a:t>
            </a:r>
            <a:endParaRPr lang="en-US" sz="1400" dirty="0"/>
          </a:p>
        </p:txBody>
      </p:sp>
      <p:sp>
        <p:nvSpPr>
          <p:cNvPr id="10" name="Shape 7"/>
          <p:cNvSpPr/>
          <p:nvPr/>
        </p:nvSpPr>
        <p:spPr>
          <a:xfrm>
            <a:off x="960120" y="3383280"/>
            <a:ext cx="4617720" cy="0"/>
          </a:xfrm>
          <a:prstGeom prst="line">
            <a:avLst/>
          </a:prstGeom>
          <a:noFill/>
          <a:ln w="9525">
            <a:solidFill>
              <a:srgbClr val="FFFFFF">
                <a:alpha val="40000"/>
              </a:srgbClr>
            </a:solidFill>
            <a:prstDash val="solid"/>
          </a:ln>
        </p:spPr>
      </p:sp>
      <p:sp>
        <p:nvSpPr>
          <p:cNvPr id="11" name="Text 8"/>
          <p:cNvSpPr/>
          <p:nvPr/>
        </p:nvSpPr>
        <p:spPr>
          <a:xfrm>
            <a:off x="960120" y="3520440"/>
            <a:ext cx="4617720" cy="868680"/>
          </a:xfrm>
          <a:prstGeom prst="rect">
            <a:avLst/>
          </a:prstGeom>
          <a:noFill/>
          <a:ln/>
        </p:spPr>
        <p:txBody>
          <a:bodyPr wrap="square" lIns="0" tIns="0" rIns="0" bIns="0" rtlCol="0" anchor="ctr"/>
          <a:lstStyle/>
          <a:p>
            <a:pPr indent="0" marL="0">
              <a:lnSpc>
                <a:spcPct val="130000"/>
              </a:lnSpc>
              <a:buNone/>
            </a:pPr>
            <a:r>
              <a:rPr lang="en-US" sz="1350" dirty="0">
                <a:solidFill>
                  <a:srgbClr val="CFE3ED"/>
                </a:solidFill>
                <a:latin typeface="Calibri" pitchFamily="34" charset="0"/>
                <a:ea typeface="Calibri" pitchFamily="34" charset="-122"/>
                <a:cs typeface="Calibri" pitchFamily="34" charset="-120"/>
              </a:rPr>
              <a:t>GPT · Claude · Gemini · Llama · BART</a:t>
            </a:r>
            <a:endParaRPr lang="en-US" sz="1350" dirty="0"/>
          </a:p>
        </p:txBody>
      </p:sp>
      <p:sp>
        <p:nvSpPr>
          <p:cNvPr id="12" name="Shape 9"/>
          <p:cNvSpPr/>
          <p:nvPr/>
        </p:nvSpPr>
        <p:spPr>
          <a:xfrm>
            <a:off x="6263640" y="1508760"/>
            <a:ext cx="5257800" cy="3063240"/>
          </a:xfrm>
          <a:prstGeom prst="roundRect">
            <a:avLst>
              <a:gd name="adj" fmla="val 2985"/>
            </a:avLst>
          </a:prstGeom>
          <a:solidFill>
            <a:srgbClr val="065A82"/>
          </a:solidFill>
          <a:ln/>
        </p:spPr>
      </p:sp>
      <p:sp>
        <p:nvSpPr>
          <p:cNvPr id="13" name="Shape 10"/>
          <p:cNvSpPr/>
          <p:nvPr/>
        </p:nvSpPr>
        <p:spPr>
          <a:xfrm>
            <a:off x="6583680" y="1828800"/>
            <a:ext cx="685800" cy="685800"/>
          </a:xfrm>
          <a:prstGeom prst="ellipse">
            <a:avLst/>
          </a:prstGeom>
          <a:solidFill>
            <a:srgbClr val="FFFFFF">
              <a:alpha val="15000"/>
            </a:srgbClr>
          </a:solidFill>
          <a:ln/>
        </p:spPr>
      </p:sp>
      <p:pic>
        <p:nvPicPr>
          <p:cNvPr id="14" name="Image 1" descr="/home/claude/rag_deck/icon_db_white.png">    </p:cNvPr>
          <p:cNvPicPr>
            <a:picLocks noChangeAspect="1"/>
          </p:cNvPicPr>
          <p:nvPr/>
        </p:nvPicPr>
        <p:blipFill>
          <a:blip r:embed="rId2"/>
          <a:stretch>
            <a:fillRect/>
          </a:stretch>
        </p:blipFill>
        <p:spPr>
          <a:xfrm>
            <a:off x="6748272" y="1993392"/>
            <a:ext cx="356616" cy="356616"/>
          </a:xfrm>
          <a:prstGeom prst="rect">
            <a:avLst/>
          </a:prstGeom>
        </p:spPr>
      </p:pic>
      <p:sp>
        <p:nvSpPr>
          <p:cNvPr id="15" name="Text 11"/>
          <p:cNvSpPr/>
          <p:nvPr/>
        </p:nvSpPr>
        <p:spPr>
          <a:xfrm>
            <a:off x="7452360" y="1856232"/>
            <a:ext cx="3886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논파라미터 메모리</a:t>
            </a:r>
            <a:endParaRPr lang="en-US" sz="1800" dirty="0"/>
          </a:p>
        </p:txBody>
      </p:sp>
      <p:sp>
        <p:nvSpPr>
          <p:cNvPr id="16" name="Text 12"/>
          <p:cNvSpPr/>
          <p:nvPr/>
        </p:nvSpPr>
        <p:spPr>
          <a:xfrm>
            <a:off x="7452360" y="2203704"/>
            <a:ext cx="3886200" cy="274320"/>
          </a:xfrm>
          <a:prstGeom prst="rect">
            <a:avLst/>
          </a:prstGeom>
          <a:noFill/>
          <a:ln/>
        </p:spPr>
        <p:txBody>
          <a:bodyPr wrap="square" lIns="0" tIns="0" rIns="0" bIns="0" rtlCol="0" anchor="ctr"/>
          <a:lstStyle/>
          <a:p>
            <a:pPr indent="0" marL="0">
              <a:buNone/>
            </a:pPr>
            <a:r>
              <a:rPr lang="en-US" sz="1300" dirty="0">
                <a:solidFill>
                  <a:srgbClr val="CFE3ED"/>
                </a:solidFill>
                <a:latin typeface="Calibri" pitchFamily="34" charset="0"/>
                <a:ea typeface="Calibri" pitchFamily="34" charset="-122"/>
                <a:cs typeface="Calibri" pitchFamily="34" charset="-120"/>
              </a:rPr>
              <a:t>Non-Parametric</a:t>
            </a:r>
            <a:endParaRPr lang="en-US" sz="1300" dirty="0"/>
          </a:p>
        </p:txBody>
      </p:sp>
      <p:sp>
        <p:nvSpPr>
          <p:cNvPr id="17" name="Text 13"/>
          <p:cNvSpPr/>
          <p:nvPr/>
        </p:nvSpPr>
        <p:spPr>
          <a:xfrm>
            <a:off x="6583680" y="2743200"/>
            <a:ext cx="4617720" cy="548640"/>
          </a:xfrm>
          <a:prstGeom prst="rect">
            <a:avLst/>
          </a:prstGeom>
          <a:noFill/>
          <a:ln/>
        </p:spPr>
        <p:txBody>
          <a:bodyPr wrap="square" lIns="0" tIns="0" rIns="0" bIns="0" rtlCol="0" anchor="ctr"/>
          <a:lstStyle/>
          <a:p>
            <a:pPr indent="0" marL="0">
              <a:buNone/>
            </a:pPr>
            <a:r>
              <a:rPr lang="en-US" sz="1400" dirty="0">
                <a:solidFill>
                  <a:srgbClr val="FFFFFF"/>
                </a:solidFill>
                <a:latin typeface="Cambria" pitchFamily="34" charset="0"/>
                <a:ea typeface="Cambria" pitchFamily="34" charset="-122"/>
                <a:cs typeface="Cambria" pitchFamily="34" charset="-120"/>
              </a:rPr>
              <a:t>외부 문서 검색 인덱스에 저장된 지식</a:t>
            </a:r>
            <a:endParaRPr lang="en-US" sz="1400" dirty="0"/>
          </a:p>
        </p:txBody>
      </p:sp>
      <p:sp>
        <p:nvSpPr>
          <p:cNvPr id="18" name="Shape 14"/>
          <p:cNvSpPr/>
          <p:nvPr/>
        </p:nvSpPr>
        <p:spPr>
          <a:xfrm>
            <a:off x="6583680" y="3383280"/>
            <a:ext cx="4617720" cy="0"/>
          </a:xfrm>
          <a:prstGeom prst="line">
            <a:avLst/>
          </a:prstGeom>
          <a:noFill/>
          <a:ln w="9525">
            <a:solidFill>
              <a:srgbClr val="FFFFFF">
                <a:alpha val="40000"/>
              </a:srgbClr>
            </a:solidFill>
            <a:prstDash val="solid"/>
          </a:ln>
        </p:spPr>
      </p:sp>
      <p:sp>
        <p:nvSpPr>
          <p:cNvPr id="19" name="Text 15"/>
          <p:cNvSpPr/>
          <p:nvPr/>
        </p:nvSpPr>
        <p:spPr>
          <a:xfrm>
            <a:off x="6583680" y="3520440"/>
            <a:ext cx="4617720" cy="868680"/>
          </a:xfrm>
          <a:prstGeom prst="rect">
            <a:avLst/>
          </a:prstGeom>
          <a:noFill/>
          <a:ln/>
        </p:spPr>
        <p:txBody>
          <a:bodyPr wrap="square" lIns="0" tIns="0" rIns="0" bIns="0" rtlCol="0" anchor="ctr"/>
          <a:lstStyle/>
          <a:p>
            <a:pPr indent="0" marL="0">
              <a:lnSpc>
                <a:spcPct val="130000"/>
              </a:lnSpc>
              <a:buNone/>
            </a:pPr>
            <a:r>
              <a:rPr lang="en-US" sz="1350" dirty="0">
                <a:solidFill>
                  <a:srgbClr val="CFE3ED"/>
                </a:solidFill>
                <a:latin typeface="Calibri" pitchFamily="34" charset="0"/>
                <a:ea typeface="Calibri" pitchFamily="34" charset="-122"/>
                <a:cs typeface="Calibri" pitchFamily="34" charset="-120"/>
              </a:rPr>
              <a:t>PDF · 문서 · DB · 웹페이지 · Chroma · FAISS · Pinecone · Weaviate</a:t>
            </a:r>
            <a:endParaRPr lang="en-US" sz="1350" dirty="0"/>
          </a:p>
        </p:txBody>
      </p:sp>
      <p:sp>
        <p:nvSpPr>
          <p:cNvPr id="20" name="Shape 16"/>
          <p:cNvSpPr/>
          <p:nvPr/>
        </p:nvSpPr>
        <p:spPr>
          <a:xfrm>
            <a:off x="5806440" y="2720340"/>
            <a:ext cx="640080" cy="640080"/>
          </a:xfrm>
          <a:prstGeom prst="ellipse">
            <a:avLst/>
          </a:prstGeom>
          <a:solidFill>
            <a:srgbClr val="C98A2C"/>
          </a:solidFill>
          <a:ln w="38100">
            <a:solidFill>
              <a:srgbClr val="FFFFFF"/>
            </a:solidFill>
            <a:prstDash val="solid"/>
          </a:ln>
        </p:spPr>
      </p:sp>
      <p:sp>
        <p:nvSpPr>
          <p:cNvPr id="21" name="Text 17"/>
          <p:cNvSpPr/>
          <p:nvPr/>
        </p:nvSpPr>
        <p:spPr>
          <a:xfrm>
            <a:off x="5806440" y="272034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2" name="Shape 18"/>
          <p:cNvSpPr/>
          <p:nvPr/>
        </p:nvSpPr>
        <p:spPr>
          <a:xfrm>
            <a:off x="640080" y="4800600"/>
            <a:ext cx="10881360" cy="1554480"/>
          </a:xfrm>
          <a:prstGeom prst="roundRect">
            <a:avLst>
              <a:gd name="adj" fmla="val 5882"/>
            </a:avLst>
          </a:prstGeom>
          <a:solidFill>
            <a:srgbClr val="F4F7FA"/>
          </a:solidFill>
          <a:ln/>
        </p:spPr>
      </p:sp>
      <p:sp>
        <p:nvSpPr>
          <p:cNvPr id="23" name="Text 19"/>
          <p:cNvSpPr/>
          <p:nvPr/>
        </p:nvSpPr>
        <p:spPr>
          <a:xfrm>
            <a:off x="868680" y="4956048"/>
            <a:ext cx="2743200" cy="3200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핵심 문장</a:t>
            </a:r>
            <a:endParaRPr lang="en-US" sz="1350" dirty="0"/>
          </a:p>
        </p:txBody>
      </p:sp>
      <p:sp>
        <p:nvSpPr>
          <p:cNvPr id="24" name="Text 20"/>
          <p:cNvSpPr/>
          <p:nvPr/>
        </p:nvSpPr>
        <p:spPr>
          <a:xfrm>
            <a:off x="868680" y="5276088"/>
            <a:ext cx="10424160" cy="914400"/>
          </a:xfrm>
          <a:prstGeom prst="rect">
            <a:avLst/>
          </a:prstGeom>
          <a:noFill/>
          <a:ln/>
        </p:spPr>
        <p:txBody>
          <a:bodyPr wrap="square" lIns="0" tIns="0" rIns="0" bIns="0" rtlCol="0" anchor="ctr"/>
          <a:lstStyle/>
          <a:p>
            <a:pPr indent="0" marL="0">
              <a:lnSpc>
                <a:spcPct val="130000"/>
              </a:lnSpc>
              <a:buNone/>
            </a:pPr>
            <a:r>
              <a:rPr lang="en-US" sz="1400" dirty="0">
                <a:solidFill>
                  <a:srgbClr val="18213D"/>
                </a:solidFill>
                <a:latin typeface="Cambria" pitchFamily="34" charset="0"/>
                <a:ea typeface="Cambria" pitchFamily="34" charset="-122"/>
                <a:cs typeface="Cambria" pitchFamily="34" charset="-120"/>
              </a:rPr>
              <a:t>RAG 원조 논문은 사전학습된 생성 모델(BART)을 파라메트릭 메모리로, 위키피디아의 밀집 벡터 인덱스를 외부 비파라메트릭 메모리로 사용했다. 이 두 기억을 결합한 것이 RAG의 핵심 발상이다.</a:t>
            </a:r>
            <a:endParaRPr lang="en-US" sz="1400" dirty="0"/>
          </a:p>
        </p:txBody>
      </p:sp>
      <p:sp>
        <p:nvSpPr>
          <p:cNvPr id="25" name="Text 21"/>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01 · FOUNDATION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RAG의 시작점 — 검색기는 어떻게 찾는가</a:t>
            </a:r>
            <a:endParaRPr lang="en-US" sz="2400" dirty="0"/>
          </a:p>
        </p:txBody>
      </p:sp>
      <p:sp>
        <p:nvSpPr>
          <p:cNvPr id="6" name="Shape 4"/>
          <p:cNvSpPr/>
          <p:nvPr/>
        </p:nvSpPr>
        <p:spPr>
          <a:xfrm>
            <a:off x="640080" y="1298448"/>
            <a:ext cx="10881360" cy="713232"/>
          </a:xfrm>
          <a:prstGeom prst="roundRect">
            <a:avLst>
              <a:gd name="adj" fmla="val 7692"/>
            </a:avLst>
          </a:prstGeom>
          <a:solidFill>
            <a:srgbClr val="F4F7FA"/>
          </a:solidFill>
          <a:ln/>
        </p:spPr>
      </p:sp>
      <p:sp>
        <p:nvSpPr>
          <p:cNvPr id="7" name="Text 5"/>
          <p:cNvSpPr/>
          <p:nvPr/>
        </p:nvSpPr>
        <p:spPr>
          <a:xfrm>
            <a:off x="868680" y="1353312"/>
            <a:ext cx="10424160" cy="384048"/>
          </a:xfrm>
          <a:prstGeom prst="rect">
            <a:avLst/>
          </a:prstGeom>
          <a:noFill/>
          <a:ln/>
        </p:spPr>
        <p:txBody>
          <a:bodyPr wrap="square" lIns="0" tIns="0" rIns="0" bIns="0" rtlCol="0" anchor="ctr"/>
          <a:lstStyle/>
          <a:p>
            <a:pPr indent="0" marL="0">
              <a:lnSpc>
                <a:spcPct val="102000"/>
              </a:lnSpc>
              <a:buNone/>
            </a:pPr>
            <a:r>
              <a:rPr lang="en-US" sz="1250" b="1" dirty="0">
                <a:solidFill>
                  <a:srgbClr val="21295C"/>
                </a:solidFill>
                <a:latin typeface="Cambria" pitchFamily="34" charset="0"/>
                <a:ea typeface="Cambria" pitchFamily="34" charset="-122"/>
                <a:cs typeface="Cambria" pitchFamily="34" charset="-120"/>
              </a:rPr>
              <a:t>Retrieval-Augmented Generation for Knowledge-Intensive NLP Tasks</a:t>
            </a:r>
            <a:endParaRPr lang="en-US" sz="1250" dirty="0"/>
          </a:p>
        </p:txBody>
      </p:sp>
      <p:sp>
        <p:nvSpPr>
          <p:cNvPr id="8" name="Text 6"/>
          <p:cNvSpPr/>
          <p:nvPr/>
        </p:nvSpPr>
        <p:spPr>
          <a:xfrm>
            <a:off x="868680" y="1737360"/>
            <a:ext cx="10424160" cy="228600"/>
          </a:xfrm>
          <a:prstGeom prst="rect">
            <a:avLst/>
          </a:prstGeom>
          <a:noFill/>
          <a:ln/>
        </p:spPr>
        <p:txBody>
          <a:bodyPr wrap="square" lIns="0" tIns="0" rIns="0" bIns="0" rtlCol="0" anchor="ctr"/>
          <a:lstStyle/>
          <a:p>
            <a:pPr indent="0" marL="0">
              <a:buNone/>
            </a:pPr>
            <a:r>
              <a:rPr lang="en-US" sz="1100" dirty="0">
                <a:solidFill>
                  <a:srgbClr val="45506B"/>
                </a:solidFill>
                <a:latin typeface="Calibri" pitchFamily="34" charset="0"/>
                <a:ea typeface="Calibri" pitchFamily="34" charset="-122"/>
                <a:cs typeface="Calibri" pitchFamily="34" charset="-120"/>
              </a:rPr>
              <a:t>Lewis, P. et al.  ·  NeurIPS 2020  ·  arXiv:2005.11401</a:t>
            </a:r>
            <a:endParaRPr lang="en-US" sz="1100" dirty="0"/>
          </a:p>
        </p:txBody>
      </p:sp>
      <p:sp>
        <p:nvSpPr>
          <p:cNvPr id="9" name="Text 7"/>
          <p:cNvSpPr/>
          <p:nvPr/>
        </p:nvSpPr>
        <p:spPr>
          <a:xfrm>
            <a:off x="640080" y="2084832"/>
            <a:ext cx="1005840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Retriever: DPR (Dense Passage Retriever)</a:t>
            </a:r>
            <a:endParaRPr lang="en-US" sz="1550" dirty="0"/>
          </a:p>
        </p:txBody>
      </p:sp>
      <p:sp>
        <p:nvSpPr>
          <p:cNvPr id="10" name="Text 8"/>
          <p:cNvSpPr/>
          <p:nvPr/>
        </p:nvSpPr>
        <p:spPr>
          <a:xfrm>
            <a:off x="640080" y="2450592"/>
            <a:ext cx="10058400" cy="32004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질문의 의미와 가장 가까운 문서를 찾는다 — 키워드가 아니라 뜻으로 검색</a:t>
            </a:r>
            <a:endParaRPr lang="en-US" sz="1400" dirty="0"/>
          </a:p>
        </p:txBody>
      </p:sp>
      <p:sp>
        <p:nvSpPr>
          <p:cNvPr id="11" name="Shape 9"/>
          <p:cNvSpPr/>
          <p:nvPr/>
        </p:nvSpPr>
        <p:spPr>
          <a:xfrm>
            <a:off x="640080" y="2926080"/>
            <a:ext cx="5257800" cy="1417320"/>
          </a:xfrm>
          <a:prstGeom prst="roundRect">
            <a:avLst>
              <a:gd name="adj" fmla="val 5806"/>
            </a:avLst>
          </a:prstGeom>
          <a:solidFill>
            <a:srgbClr val="FBEFE0"/>
          </a:solidFill>
          <a:ln/>
        </p:spPr>
      </p:sp>
      <p:sp>
        <p:nvSpPr>
          <p:cNvPr id="12" name="Text 10"/>
          <p:cNvSpPr/>
          <p:nvPr/>
        </p:nvSpPr>
        <p:spPr>
          <a:xfrm>
            <a:off x="868680" y="3090672"/>
            <a:ext cx="4800600" cy="320040"/>
          </a:xfrm>
          <a:prstGeom prst="rect">
            <a:avLst/>
          </a:prstGeom>
          <a:noFill/>
          <a:ln/>
        </p:spPr>
        <p:txBody>
          <a:bodyPr wrap="square" lIns="0" tIns="0" rIns="0" bIns="0" rtlCol="0" anchor="ctr"/>
          <a:lstStyle/>
          <a:p>
            <a:pPr indent="0" marL="0">
              <a:buNone/>
            </a:pPr>
            <a:r>
              <a:rPr lang="en-US" sz="1450" b="1" dirty="0">
                <a:solidFill>
                  <a:srgbClr val="9C6B00"/>
                </a:solidFill>
                <a:latin typeface="Cambria" pitchFamily="34" charset="0"/>
                <a:ea typeface="Cambria" pitchFamily="34" charset="-122"/>
                <a:cs typeface="Cambria" pitchFamily="34" charset="-120"/>
              </a:rPr>
              <a:t>BM25 (키워드 검색)</a:t>
            </a:r>
            <a:endParaRPr lang="en-US" sz="1450" dirty="0"/>
          </a:p>
        </p:txBody>
      </p:sp>
      <p:sp>
        <p:nvSpPr>
          <p:cNvPr id="13" name="Text 11"/>
          <p:cNvSpPr/>
          <p:nvPr/>
        </p:nvSpPr>
        <p:spPr>
          <a:xfrm>
            <a:off x="868680" y="3456432"/>
            <a:ext cx="4800600" cy="777240"/>
          </a:xfrm>
          <a:prstGeom prst="rect">
            <a:avLst/>
          </a:prstGeom>
          <a:noFill/>
          <a:ln/>
        </p:spPr>
        <p:txBody>
          <a:bodyPr wrap="square" lIns="0" tIns="0" rIns="0" bIns="0" rtlCol="0" anchor="ctr"/>
          <a:lstStyle/>
          <a:p>
            <a:pPr indent="0" marL="0">
              <a:lnSpc>
                <a:spcPct val="130000"/>
              </a:lnSpc>
              <a:buNone/>
            </a:pPr>
            <a:r>
              <a:rPr lang="en-US" sz="1350" dirty="0">
                <a:solidFill>
                  <a:srgbClr val="6B4A1A"/>
                </a:solidFill>
                <a:latin typeface="Calibri" pitchFamily="34" charset="0"/>
                <a:ea typeface="Calibri" pitchFamily="34" charset="-122"/>
                <a:cs typeface="Calibri" pitchFamily="34" charset="-120"/>
              </a:rPr>
              <a:t>단어가 얼마나 겹치는지 중심 — 정확히 같은 표현이 없으면 못 찾는다</a:t>
            </a:r>
            <a:endParaRPr lang="en-US" sz="1350" dirty="0"/>
          </a:p>
        </p:txBody>
      </p:sp>
      <p:sp>
        <p:nvSpPr>
          <p:cNvPr id="14" name="Shape 12"/>
          <p:cNvSpPr/>
          <p:nvPr/>
        </p:nvSpPr>
        <p:spPr>
          <a:xfrm>
            <a:off x="6263640" y="2926080"/>
            <a:ext cx="5257800" cy="1417320"/>
          </a:xfrm>
          <a:prstGeom prst="roundRect">
            <a:avLst>
              <a:gd name="adj" fmla="val 5806"/>
            </a:avLst>
          </a:prstGeom>
          <a:solidFill>
            <a:srgbClr val="E6F0F5"/>
          </a:solidFill>
          <a:ln/>
        </p:spPr>
      </p:sp>
      <p:sp>
        <p:nvSpPr>
          <p:cNvPr id="15" name="Text 13"/>
          <p:cNvSpPr/>
          <p:nvPr/>
        </p:nvSpPr>
        <p:spPr>
          <a:xfrm>
            <a:off x="6492240" y="3090672"/>
            <a:ext cx="4800600" cy="320040"/>
          </a:xfrm>
          <a:prstGeom prst="rect">
            <a:avLst/>
          </a:prstGeom>
          <a:noFill/>
          <a:ln/>
        </p:spPr>
        <p:txBody>
          <a:bodyPr wrap="square" lIns="0" tIns="0" rIns="0" bIns="0" rtlCol="0" anchor="ctr"/>
          <a:lstStyle/>
          <a:p>
            <a:pPr indent="0" marL="0">
              <a:buNone/>
            </a:pPr>
            <a:r>
              <a:rPr lang="en-US" sz="1450" b="1" dirty="0">
                <a:solidFill>
                  <a:srgbClr val="065A82"/>
                </a:solidFill>
                <a:latin typeface="Cambria" pitchFamily="34" charset="0"/>
                <a:ea typeface="Cambria" pitchFamily="34" charset="-122"/>
                <a:cs typeface="Cambria" pitchFamily="34" charset="-120"/>
              </a:rPr>
              <a:t>DPR (의미 검색)</a:t>
            </a:r>
            <a:endParaRPr lang="en-US" sz="1450" dirty="0"/>
          </a:p>
        </p:txBody>
      </p:sp>
      <p:sp>
        <p:nvSpPr>
          <p:cNvPr id="16" name="Text 14"/>
          <p:cNvSpPr/>
          <p:nvPr/>
        </p:nvSpPr>
        <p:spPr>
          <a:xfrm>
            <a:off x="6492240" y="3456432"/>
            <a:ext cx="4800600" cy="777240"/>
          </a:xfrm>
          <a:prstGeom prst="rect">
            <a:avLst/>
          </a:prstGeom>
          <a:noFill/>
          <a:ln/>
        </p:spPr>
        <p:txBody>
          <a:bodyPr wrap="square" lIns="0" tIns="0" rIns="0" bIns="0" rtlCol="0" anchor="ctr"/>
          <a:lstStyle/>
          <a:p>
            <a:pPr indent="0" marL="0">
              <a:lnSpc>
                <a:spcPct val="130000"/>
              </a:lnSpc>
              <a:buNone/>
            </a:pPr>
            <a:r>
              <a:rPr lang="en-US" sz="1350" dirty="0">
                <a:solidFill>
                  <a:srgbClr val="18213D"/>
                </a:solidFill>
                <a:latin typeface="Calibri" pitchFamily="34" charset="0"/>
                <a:ea typeface="Calibri" pitchFamily="34" charset="-122"/>
                <a:cs typeface="Calibri" pitchFamily="34" charset="-120"/>
              </a:rPr>
              <a:t>의미적으로 얼마나 비슷한지 중심 — 표현이 달라도 뜻이 통하면 찾는다</a:t>
            </a:r>
            <a:endParaRPr lang="en-US" sz="1350" dirty="0"/>
          </a:p>
        </p:txBody>
      </p:sp>
      <p:sp>
        <p:nvSpPr>
          <p:cNvPr id="17" name="Shape 15"/>
          <p:cNvSpPr/>
          <p:nvPr/>
        </p:nvSpPr>
        <p:spPr>
          <a:xfrm>
            <a:off x="640080" y="4572000"/>
            <a:ext cx="10881360" cy="1417320"/>
          </a:xfrm>
          <a:prstGeom prst="roundRect">
            <a:avLst>
              <a:gd name="adj" fmla="val 6452"/>
            </a:avLst>
          </a:prstGeom>
          <a:solidFill>
            <a:srgbClr val="F4F7FA"/>
          </a:solidFill>
          <a:ln/>
        </p:spPr>
      </p:sp>
      <p:sp>
        <p:nvSpPr>
          <p:cNvPr id="18" name="Text 16"/>
          <p:cNvSpPr/>
          <p:nvPr/>
        </p:nvSpPr>
        <p:spPr>
          <a:xfrm>
            <a:off x="868680" y="4709160"/>
            <a:ext cx="3657600" cy="27432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학과 챗봇 예시</a:t>
            </a:r>
            <a:endParaRPr lang="en-US" sz="1350" dirty="0"/>
          </a:p>
        </p:txBody>
      </p:sp>
      <p:sp>
        <p:nvSpPr>
          <p:cNvPr id="19" name="Text 17"/>
          <p:cNvSpPr/>
          <p:nvPr/>
        </p:nvSpPr>
        <p:spPr>
          <a:xfrm>
            <a:off x="868680" y="5010912"/>
            <a:ext cx="10424160" cy="868680"/>
          </a:xfrm>
          <a:prstGeom prst="rect">
            <a:avLst/>
          </a:prstGeom>
          <a:noFill/>
          <a:ln/>
        </p:spPr>
        <p:txBody>
          <a:bodyPr wrap="square" lIns="0" tIns="0" rIns="0" bIns="0" rtlCol="0" anchor="ctr"/>
          <a:lstStyle/>
          <a:p>
            <a:pPr indent="0" marL="0">
              <a:lnSpc>
                <a:spcPct val="130000"/>
              </a:lnSpc>
              <a:buNone/>
            </a:pPr>
            <a:r>
              <a:rPr lang="en-US" sz="1350" dirty="0">
                <a:solidFill>
                  <a:srgbClr val="18213D"/>
                </a:solidFill>
                <a:latin typeface="Cambria" pitchFamily="34" charset="0"/>
                <a:ea typeface="Cambria" pitchFamily="34" charset="-122"/>
                <a:cs typeface="Cambria" pitchFamily="34" charset="-120"/>
              </a:rPr>
              <a:t>사용자가 “컴퓨터공학과에서 배우는 내용”이라고 물었을 때, 문서에 정확히 같은 표현이 없어도 “프로그래밍, 알고리즘, 데이터베이스, 인공지능” 같은 내용이 있으면 DPR은 관련 문서로 찾아낸다.</a:t>
            </a:r>
            <a:endParaRPr lang="en-US" sz="1350" dirty="0"/>
          </a:p>
        </p:txBody>
      </p:sp>
      <p:sp>
        <p:nvSpPr>
          <p:cNvPr id="20" name="Text 18"/>
          <p:cNvSpPr/>
          <p:nvPr/>
        </p:nvSpPr>
        <p:spPr>
          <a:xfrm>
            <a:off x="640080" y="6080760"/>
            <a:ext cx="10881360" cy="548640"/>
          </a:xfrm>
          <a:prstGeom prst="rect">
            <a:avLst/>
          </a:prstGeom>
          <a:noFill/>
          <a:ln/>
        </p:spPr>
        <p:txBody>
          <a:bodyPr wrap="square" lIns="0" tIns="0" rIns="0" bIns="0" rtlCol="0" anchor="ctr"/>
          <a:lstStyle/>
          <a:p>
            <a:pPr indent="0" marL="0">
              <a:lnSpc>
                <a:spcPct val="125000"/>
              </a:lnSpc>
              <a:buNone/>
            </a:pPr>
            <a:r>
              <a:rPr lang="en-US" sz="1250" dirty="0">
                <a:solidFill>
                  <a:srgbClr val="45506B"/>
                </a:solidFill>
                <a:latin typeface="Calibri" pitchFamily="34" charset="0"/>
                <a:ea typeface="Calibri" pitchFamily="34" charset="-122"/>
                <a:cs typeface="Calibri" pitchFamily="34" charset="-120"/>
              </a:rPr>
              <a:t>실제로는 질문과 문서를 각각 BERT 인코더로 벡터화하고, 내적(inner product) 유사도가 높은 문서를 검색한다. 위키피디아 전체를 100단어 단위로 쪼갠 2,100만 개 문서를 FAISS 기반 인덱스로 구축했다.</a:t>
            </a:r>
            <a:endParaRPr lang="en-US" sz="1250" dirty="0"/>
          </a:p>
        </p:txBody>
      </p:sp>
      <p:sp>
        <p:nvSpPr>
          <p:cNvPr id="21" name="Text 19"/>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01 · FOUNDATION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생성기는 검색 문서를 어떻게 쓰는가</a:t>
            </a:r>
            <a:endParaRPr lang="en-US" sz="2400" dirty="0"/>
          </a:p>
        </p:txBody>
      </p:sp>
      <p:sp>
        <p:nvSpPr>
          <p:cNvPr id="6" name="Text 4"/>
          <p:cNvSpPr/>
          <p:nvPr/>
        </p:nvSpPr>
        <p:spPr>
          <a:xfrm>
            <a:off x="640080" y="1298448"/>
            <a:ext cx="10058400" cy="36576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Generator: BART-large — 질문과 검색 문서를 함께 보고 답을 만든다</a:t>
            </a:r>
            <a:endParaRPr lang="en-US" sz="1400" dirty="0"/>
          </a:p>
        </p:txBody>
      </p:sp>
      <p:sp>
        <p:nvSpPr>
          <p:cNvPr id="7" name="Shape 5"/>
          <p:cNvSpPr/>
          <p:nvPr/>
        </p:nvSpPr>
        <p:spPr>
          <a:xfrm>
            <a:off x="640080" y="1828800"/>
            <a:ext cx="5257800" cy="2286000"/>
          </a:xfrm>
          <a:prstGeom prst="roundRect">
            <a:avLst>
              <a:gd name="adj" fmla="val 4000"/>
            </a:avLst>
          </a:prstGeom>
          <a:solidFill>
            <a:srgbClr val="21295C"/>
          </a:solidFill>
          <a:ln/>
        </p:spPr>
      </p:sp>
      <p:sp>
        <p:nvSpPr>
          <p:cNvPr id="8" name="Text 6"/>
          <p:cNvSpPr/>
          <p:nvPr/>
        </p:nvSpPr>
        <p:spPr>
          <a:xfrm>
            <a:off x="914400" y="2011680"/>
            <a:ext cx="47091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① RAG-Sequence</a:t>
            </a:r>
            <a:endParaRPr lang="en-US" sz="1600" dirty="0"/>
          </a:p>
        </p:txBody>
      </p:sp>
      <p:sp>
        <p:nvSpPr>
          <p:cNvPr id="9" name="Text 7"/>
          <p:cNvSpPr/>
          <p:nvPr/>
        </p:nvSpPr>
        <p:spPr>
          <a:xfrm>
            <a:off x="914400" y="2404872"/>
            <a:ext cx="4709160" cy="457200"/>
          </a:xfrm>
          <a:prstGeom prst="rect">
            <a:avLst/>
          </a:prstGeom>
          <a:noFill/>
          <a:ln/>
        </p:spPr>
        <p:txBody>
          <a:bodyPr wrap="square" lIns="0" tIns="0" rIns="0" bIns="0" rtlCol="0" anchor="ctr"/>
          <a:lstStyle/>
          <a:p>
            <a:pPr indent="0" marL="0">
              <a:buNone/>
            </a:pPr>
            <a:r>
              <a:rPr lang="en-US" sz="1350" dirty="0">
                <a:solidFill>
                  <a:srgbClr val="CFE3ED"/>
                </a:solidFill>
                <a:latin typeface="Calibri" pitchFamily="34" charset="0"/>
                <a:ea typeface="Calibri" pitchFamily="34" charset="-122"/>
                <a:cs typeface="Calibri" pitchFamily="34" charset="-120"/>
              </a:rPr>
              <a:t>하나의 문서를 끝까지 근거로 삼아 전체 답변을 생성</a:t>
            </a:r>
            <a:endParaRPr lang="en-US" sz="1350" dirty="0"/>
          </a:p>
        </p:txBody>
      </p:sp>
      <p:sp>
        <p:nvSpPr>
          <p:cNvPr id="10" name="Text 8"/>
          <p:cNvSpPr/>
          <p:nvPr/>
        </p:nvSpPr>
        <p:spPr>
          <a:xfrm>
            <a:off x="914400" y="2880360"/>
            <a:ext cx="4709160" cy="1097280"/>
          </a:xfrm>
          <a:prstGeom prst="rect">
            <a:avLst/>
          </a:prstGeom>
          <a:noFill/>
          <a:ln/>
        </p:spPr>
        <p:txBody>
          <a:bodyPr wrap="square" lIns="0" tIns="0" rIns="0" bIns="0" rtlCol="0" anchor="ctr"/>
          <a:lstStyle/>
          <a:p>
            <a:pPr indent="0" marL="0">
              <a:lnSpc>
                <a:spcPct val="130000"/>
              </a:lnSpc>
              <a:buNone/>
            </a:pPr>
            <a:r>
              <a:rPr lang="en-US" sz="1350" dirty="0">
                <a:solidFill>
                  <a:srgbClr val="CFE3ED"/>
                </a:solidFill>
                <a:latin typeface="Calibri" pitchFamily="34" charset="0"/>
                <a:ea typeface="Calibri" pitchFamily="34" charset="-122"/>
                <a:cs typeface="Calibri" pitchFamily="34" charset="-120"/>
              </a:rPr>
              <a:t>질문이 들어오면 관련 문서 5개를 검색하고, 그중 하나의 문서를 기준으로 답변 전체를 생성한다.</a:t>
            </a:r>
            <a:endParaRPr lang="en-US" sz="1350" dirty="0"/>
          </a:p>
        </p:txBody>
      </p:sp>
      <p:sp>
        <p:nvSpPr>
          <p:cNvPr id="11" name="Shape 9"/>
          <p:cNvSpPr/>
          <p:nvPr/>
        </p:nvSpPr>
        <p:spPr>
          <a:xfrm>
            <a:off x="6263640" y="1828800"/>
            <a:ext cx="5257800" cy="2286000"/>
          </a:xfrm>
          <a:prstGeom prst="roundRect">
            <a:avLst>
              <a:gd name="adj" fmla="val 4000"/>
            </a:avLst>
          </a:prstGeom>
          <a:solidFill>
            <a:srgbClr val="065A82"/>
          </a:solidFill>
          <a:ln/>
        </p:spPr>
      </p:sp>
      <p:sp>
        <p:nvSpPr>
          <p:cNvPr id="12" name="Text 10"/>
          <p:cNvSpPr/>
          <p:nvPr/>
        </p:nvSpPr>
        <p:spPr>
          <a:xfrm>
            <a:off x="6537960" y="2011680"/>
            <a:ext cx="47091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② RAG-Token</a:t>
            </a:r>
            <a:endParaRPr lang="en-US" sz="1600" dirty="0"/>
          </a:p>
        </p:txBody>
      </p:sp>
      <p:sp>
        <p:nvSpPr>
          <p:cNvPr id="13" name="Text 11"/>
          <p:cNvSpPr/>
          <p:nvPr/>
        </p:nvSpPr>
        <p:spPr>
          <a:xfrm>
            <a:off x="6537960" y="2404872"/>
            <a:ext cx="4709160" cy="457200"/>
          </a:xfrm>
          <a:prstGeom prst="rect">
            <a:avLst/>
          </a:prstGeom>
          <a:noFill/>
          <a:ln/>
        </p:spPr>
        <p:txBody>
          <a:bodyPr wrap="square" lIns="0" tIns="0" rIns="0" bIns="0" rtlCol="0" anchor="ctr"/>
          <a:lstStyle/>
          <a:p>
            <a:pPr indent="0" marL="0">
              <a:buNone/>
            </a:pPr>
            <a:r>
              <a:rPr lang="en-US" sz="1350" dirty="0">
                <a:solidFill>
                  <a:srgbClr val="CFE3ED"/>
                </a:solidFill>
                <a:latin typeface="Calibri" pitchFamily="34" charset="0"/>
                <a:ea typeface="Calibri" pitchFamily="34" charset="-122"/>
                <a:cs typeface="Calibri" pitchFamily="34" charset="-120"/>
              </a:rPr>
              <a:t>답변의 각 단어마다 다른 문서를 참고할 수 있음</a:t>
            </a:r>
            <a:endParaRPr lang="en-US" sz="1350" dirty="0"/>
          </a:p>
        </p:txBody>
      </p:sp>
      <p:sp>
        <p:nvSpPr>
          <p:cNvPr id="14" name="Text 12"/>
          <p:cNvSpPr/>
          <p:nvPr/>
        </p:nvSpPr>
        <p:spPr>
          <a:xfrm>
            <a:off x="6537960" y="2880360"/>
            <a:ext cx="4709160" cy="1097280"/>
          </a:xfrm>
          <a:prstGeom prst="rect">
            <a:avLst/>
          </a:prstGeom>
          <a:noFill/>
          <a:ln/>
        </p:spPr>
        <p:txBody>
          <a:bodyPr wrap="square" lIns="0" tIns="0" rIns="0" bIns="0" rtlCol="0" anchor="ctr"/>
          <a:lstStyle/>
          <a:p>
            <a:pPr indent="0" marL="0">
              <a:lnSpc>
                <a:spcPct val="130000"/>
              </a:lnSpc>
              <a:buNone/>
            </a:pPr>
            <a:r>
              <a:rPr lang="en-US" sz="1350" dirty="0">
                <a:solidFill>
                  <a:srgbClr val="CFE3ED"/>
                </a:solidFill>
                <a:latin typeface="Calibri" pitchFamily="34" charset="0"/>
                <a:ea typeface="Calibri" pitchFamily="34" charset="-122"/>
                <a:cs typeface="Calibri" pitchFamily="34" charset="-120"/>
              </a:rPr>
              <a:t>답변이 길다면 앞부분은 문서 A, 중간은 문서 B, 뒷부분은 문서 C를 참고할 수 있다.</a:t>
            </a:r>
            <a:endParaRPr lang="en-US" sz="1350" dirty="0"/>
          </a:p>
        </p:txBody>
      </p:sp>
      <p:sp>
        <p:nvSpPr>
          <p:cNvPr id="15" name="Shape 13"/>
          <p:cNvSpPr/>
          <p:nvPr/>
        </p:nvSpPr>
        <p:spPr>
          <a:xfrm>
            <a:off x="640080" y="4343400"/>
            <a:ext cx="10881360" cy="1051560"/>
          </a:xfrm>
          <a:prstGeom prst="roundRect">
            <a:avLst>
              <a:gd name="adj" fmla="val 6957"/>
            </a:avLst>
          </a:prstGeom>
          <a:solidFill>
            <a:srgbClr val="2B2B3A"/>
          </a:solidFill>
          <a:ln/>
        </p:spPr>
      </p:sp>
      <p:sp>
        <p:nvSpPr>
          <p:cNvPr id="16" name="Text 14"/>
          <p:cNvSpPr/>
          <p:nvPr/>
        </p:nvSpPr>
        <p:spPr>
          <a:xfrm>
            <a:off x="868680" y="4416552"/>
            <a:ext cx="10424160" cy="411480"/>
          </a:xfrm>
          <a:prstGeom prst="rect">
            <a:avLst/>
          </a:prstGeom>
          <a:noFill/>
          <a:ln/>
        </p:spPr>
        <p:txBody>
          <a:bodyPr wrap="square" lIns="0" tIns="0" rIns="0" bIns="0" rtlCol="0" anchor="ctr"/>
          <a:lstStyle/>
          <a:p>
            <a:pPr indent="0" marL="0">
              <a:buNone/>
            </a:pPr>
            <a:r>
              <a:rPr lang="en-US" sz="1400" dirty="0">
                <a:solidFill>
                  <a:srgbClr val="E8E8F0"/>
                </a:solidFill>
                <a:latin typeface="Consolas" pitchFamily="34" charset="0"/>
                <a:ea typeface="Consolas" pitchFamily="34" charset="-122"/>
                <a:cs typeface="Consolas" pitchFamily="34" charset="-120"/>
              </a:rPr>
              <a:t>Sequence:  p(y|x) ≈ Σz∈top-k pη(z|x) · Πi pθ(yi|x,z,y1:i-1)</a:t>
            </a:r>
            <a:endParaRPr lang="en-US" sz="1400" dirty="0"/>
          </a:p>
        </p:txBody>
      </p:sp>
      <p:sp>
        <p:nvSpPr>
          <p:cNvPr id="17" name="Text 15"/>
          <p:cNvSpPr/>
          <p:nvPr/>
        </p:nvSpPr>
        <p:spPr>
          <a:xfrm>
            <a:off x="868680" y="4828032"/>
            <a:ext cx="10424160" cy="411480"/>
          </a:xfrm>
          <a:prstGeom prst="rect">
            <a:avLst/>
          </a:prstGeom>
          <a:noFill/>
          <a:ln/>
        </p:spPr>
        <p:txBody>
          <a:bodyPr wrap="square" lIns="0" tIns="0" rIns="0" bIns="0" rtlCol="0" anchor="ctr"/>
          <a:lstStyle/>
          <a:p>
            <a:pPr indent="0" marL="0">
              <a:buNone/>
            </a:pPr>
            <a:r>
              <a:rPr lang="en-US" sz="1400" dirty="0">
                <a:solidFill>
                  <a:srgbClr val="E8E8F0"/>
                </a:solidFill>
                <a:latin typeface="Consolas" pitchFamily="34" charset="0"/>
                <a:ea typeface="Consolas" pitchFamily="34" charset="-122"/>
                <a:cs typeface="Consolas" pitchFamily="34" charset="-120"/>
              </a:rPr>
              <a:t>Token:      p(y|x) ≈ Πi [ Σz∈top-k pη(z|x) · pθ(yi|x,z,y1:i-1) ]</a:t>
            </a:r>
            <a:endParaRPr lang="en-US" sz="1400" dirty="0"/>
          </a:p>
        </p:txBody>
      </p:sp>
      <p:sp>
        <p:nvSpPr>
          <p:cNvPr id="18" name="Shape 16"/>
          <p:cNvSpPr/>
          <p:nvPr/>
        </p:nvSpPr>
        <p:spPr>
          <a:xfrm>
            <a:off x="640080" y="5577840"/>
            <a:ext cx="10881360" cy="868680"/>
          </a:xfrm>
          <a:prstGeom prst="roundRect">
            <a:avLst>
              <a:gd name="adj" fmla="val 8421"/>
            </a:avLst>
          </a:prstGeom>
          <a:solidFill>
            <a:srgbClr val="F4F7FA"/>
          </a:solidFill>
          <a:ln/>
        </p:spPr>
      </p:sp>
      <p:sp>
        <p:nvSpPr>
          <p:cNvPr id="19" name="Text 17"/>
          <p:cNvSpPr/>
          <p:nvPr/>
        </p:nvSpPr>
        <p:spPr>
          <a:xfrm>
            <a:off x="868680" y="5577840"/>
            <a:ext cx="10424160" cy="868680"/>
          </a:xfrm>
          <a:prstGeom prst="rect">
            <a:avLst/>
          </a:prstGeom>
          <a:noFill/>
          <a:ln/>
        </p:spPr>
        <p:txBody>
          <a:bodyPr wrap="square" lIns="0" tIns="0" rIns="0" bIns="0" rtlCol="0" anchor="ctr"/>
          <a:lstStyle/>
          <a:p>
            <a:pPr indent="0" marL="0">
              <a:lnSpc>
                <a:spcPct val="125000"/>
              </a:lnSpc>
              <a:buNone/>
            </a:pPr>
            <a:r>
              <a:rPr lang="en-US" sz="1350" dirty="0">
                <a:solidFill>
                  <a:srgbClr val="18213D"/>
                </a:solidFill>
                <a:latin typeface="Calibri" pitchFamily="34" charset="0"/>
                <a:ea typeface="Calibri" pitchFamily="34" charset="-122"/>
                <a:cs typeface="Calibri" pitchFamily="34" charset="-120"/>
              </a:rPr>
              <a:t>두 수식의 차이는 마진화(marginalize)를 문서 단위로 하느냐(Sequence), 토큰 단위로 하느냐(Token)에 있다. 실험적으로 Sequence는 해석 가능성, Token은 일부 태스크에서 근소한 성능 우위를 보인다.</a:t>
            </a:r>
            <a:endParaRPr lang="en-US" sz="1350" dirty="0"/>
          </a:p>
        </p:txBody>
      </p:sp>
      <p:sp>
        <p:nvSpPr>
          <p:cNvPr id="20" name="Text 18"/>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01 · FOUNDATION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실험 결과와 핵심 결론</a:t>
            </a:r>
            <a:endParaRPr lang="en-US" sz="2400" dirty="0"/>
          </a:p>
        </p:txBody>
      </p:sp>
      <p:sp>
        <p:nvSpPr>
          <p:cNvPr id="6" name="Shape 4"/>
          <p:cNvSpPr/>
          <p:nvPr/>
        </p:nvSpPr>
        <p:spPr>
          <a:xfrm>
            <a:off x="640080" y="1417320"/>
            <a:ext cx="3429000" cy="1371600"/>
          </a:xfrm>
          <a:prstGeom prst="roundRect">
            <a:avLst>
              <a:gd name="adj" fmla="val 6667"/>
            </a:avLst>
          </a:prstGeom>
          <a:solidFill>
            <a:srgbClr val="21295C"/>
          </a:solidFill>
          <a:ln/>
        </p:spPr>
      </p:sp>
      <p:sp>
        <p:nvSpPr>
          <p:cNvPr id="7" name="Text 5"/>
          <p:cNvSpPr/>
          <p:nvPr/>
        </p:nvSpPr>
        <p:spPr>
          <a:xfrm>
            <a:off x="640080" y="1554480"/>
            <a:ext cx="3429000" cy="640080"/>
          </a:xfrm>
          <a:prstGeom prst="rect">
            <a:avLst/>
          </a:prstGeom>
          <a:noFill/>
          <a:ln/>
        </p:spPr>
        <p:txBody>
          <a:bodyPr wrap="square" lIns="0" tIns="0" rIns="0" bIns="0" rtlCol="0" anchor="ctr"/>
          <a:lstStyle/>
          <a:p>
            <a:pPr algn="ctr" indent="0" marL="0">
              <a:buNone/>
            </a:pPr>
            <a:r>
              <a:rPr lang="en-US" sz="3200" b="1" dirty="0">
                <a:solidFill>
                  <a:srgbClr val="C98A2C"/>
                </a:solidFill>
                <a:latin typeface="Cambria" pitchFamily="34" charset="0"/>
                <a:ea typeface="Cambria" pitchFamily="34" charset="-122"/>
                <a:cs typeface="Cambria" pitchFamily="34" charset="-120"/>
              </a:rPr>
              <a:t>44.5</a:t>
            </a:r>
            <a:endParaRPr lang="en-US" sz="3200" dirty="0"/>
          </a:p>
        </p:txBody>
      </p:sp>
      <p:sp>
        <p:nvSpPr>
          <p:cNvPr id="8" name="Text 6"/>
          <p:cNvSpPr/>
          <p:nvPr/>
        </p:nvSpPr>
        <p:spPr>
          <a:xfrm>
            <a:off x="822960" y="2240280"/>
            <a:ext cx="3063240" cy="457200"/>
          </a:xfrm>
          <a:prstGeom prst="rect">
            <a:avLst/>
          </a:prstGeom>
          <a:noFill/>
          <a:ln/>
        </p:spPr>
        <p:txBody>
          <a:bodyPr wrap="square" lIns="0" tIns="0" rIns="0" bIns="0" rtlCol="0" anchor="ctr"/>
          <a:lstStyle/>
          <a:p>
            <a:pPr algn="ctr" indent="0" marL="0">
              <a:lnSpc>
                <a:spcPct val="120000"/>
              </a:lnSpc>
              <a:buNone/>
            </a:pPr>
            <a:r>
              <a:rPr lang="en-US" sz="1250" dirty="0">
                <a:solidFill>
                  <a:srgbClr val="CFE3ED"/>
                </a:solidFill>
                <a:latin typeface="Calibri" pitchFamily="34" charset="0"/>
                <a:ea typeface="Calibri" pitchFamily="34" charset="-122"/>
                <a:cs typeface="Calibri" pitchFamily="34" charset="-120"/>
              </a:rPr>
              <a:t>Natural Questions</a:t>
            </a:r>
            <a:endParaRPr lang="en-US" sz="1250" dirty="0"/>
          </a:p>
          <a:p>
            <a:pPr algn="ctr" indent="0" marL="0">
              <a:lnSpc>
                <a:spcPct val="120000"/>
              </a:lnSpc>
              <a:buNone/>
            </a:pPr>
            <a:r>
              <a:rPr lang="en-US" sz="1250" dirty="0">
                <a:solidFill>
                  <a:srgbClr val="CFE3ED"/>
                </a:solidFill>
                <a:latin typeface="Calibri" pitchFamily="34" charset="0"/>
                <a:ea typeface="Calibri" pitchFamily="34" charset="-122"/>
                <a:cs typeface="Calibri" pitchFamily="34" charset="-120"/>
              </a:rPr>
              <a:t>Exact Match</a:t>
            </a:r>
            <a:endParaRPr lang="en-US" sz="1250" dirty="0"/>
          </a:p>
        </p:txBody>
      </p:sp>
      <p:sp>
        <p:nvSpPr>
          <p:cNvPr id="9" name="Shape 7"/>
          <p:cNvSpPr/>
          <p:nvPr/>
        </p:nvSpPr>
        <p:spPr>
          <a:xfrm>
            <a:off x="4343400" y="1417320"/>
            <a:ext cx="3429000" cy="1371600"/>
          </a:xfrm>
          <a:prstGeom prst="roundRect">
            <a:avLst>
              <a:gd name="adj" fmla="val 6667"/>
            </a:avLst>
          </a:prstGeom>
          <a:solidFill>
            <a:srgbClr val="21295C"/>
          </a:solidFill>
          <a:ln/>
        </p:spPr>
      </p:sp>
      <p:sp>
        <p:nvSpPr>
          <p:cNvPr id="10" name="Text 8"/>
          <p:cNvSpPr/>
          <p:nvPr/>
        </p:nvSpPr>
        <p:spPr>
          <a:xfrm>
            <a:off x="4343400" y="1554480"/>
            <a:ext cx="3429000" cy="640080"/>
          </a:xfrm>
          <a:prstGeom prst="rect">
            <a:avLst/>
          </a:prstGeom>
          <a:noFill/>
          <a:ln/>
        </p:spPr>
        <p:txBody>
          <a:bodyPr wrap="square" lIns="0" tIns="0" rIns="0" bIns="0" rtlCol="0" anchor="ctr"/>
          <a:lstStyle/>
          <a:p>
            <a:pPr algn="ctr" indent="0" marL="0">
              <a:buNone/>
            </a:pPr>
            <a:r>
              <a:rPr lang="en-US" sz="3200" b="1" dirty="0">
                <a:solidFill>
                  <a:srgbClr val="C98A2C"/>
                </a:solidFill>
                <a:latin typeface="Cambria" pitchFamily="34" charset="0"/>
                <a:ea typeface="Cambria" pitchFamily="34" charset="-122"/>
                <a:cs typeface="Cambria" pitchFamily="34" charset="-120"/>
              </a:rPr>
              <a:t>k=10</a:t>
            </a:r>
            <a:endParaRPr lang="en-US" sz="3200" dirty="0"/>
          </a:p>
        </p:txBody>
      </p:sp>
      <p:sp>
        <p:nvSpPr>
          <p:cNvPr id="11" name="Text 9"/>
          <p:cNvSpPr/>
          <p:nvPr/>
        </p:nvSpPr>
        <p:spPr>
          <a:xfrm>
            <a:off x="4526280" y="2240280"/>
            <a:ext cx="3063240" cy="457200"/>
          </a:xfrm>
          <a:prstGeom prst="rect">
            <a:avLst/>
          </a:prstGeom>
          <a:noFill/>
          <a:ln/>
        </p:spPr>
        <p:txBody>
          <a:bodyPr wrap="square" lIns="0" tIns="0" rIns="0" bIns="0" rtlCol="0" anchor="ctr"/>
          <a:lstStyle/>
          <a:p>
            <a:pPr algn="ctr" indent="0" marL="0">
              <a:lnSpc>
                <a:spcPct val="120000"/>
              </a:lnSpc>
              <a:buNone/>
            </a:pPr>
            <a:r>
              <a:rPr lang="en-US" sz="1250" dirty="0">
                <a:solidFill>
                  <a:srgbClr val="CFE3ED"/>
                </a:solidFill>
                <a:latin typeface="Calibri" pitchFamily="34" charset="0"/>
                <a:ea typeface="Calibri" pitchFamily="34" charset="-122"/>
                <a:cs typeface="Calibri" pitchFamily="34" charset="-120"/>
              </a:rPr>
              <a:t>성능이 정점을 찍는</a:t>
            </a:r>
            <a:endParaRPr lang="en-US" sz="1250" dirty="0"/>
          </a:p>
          <a:p>
            <a:pPr algn="ctr" indent="0" marL="0">
              <a:lnSpc>
                <a:spcPct val="120000"/>
              </a:lnSpc>
              <a:buNone/>
            </a:pPr>
            <a:r>
              <a:rPr lang="en-US" sz="1250" dirty="0">
                <a:solidFill>
                  <a:srgbClr val="CFE3ED"/>
                </a:solidFill>
                <a:latin typeface="Calibri" pitchFamily="34" charset="0"/>
                <a:ea typeface="Calibri" pitchFamily="34" charset="-122"/>
                <a:cs typeface="Calibri" pitchFamily="34" charset="-120"/>
              </a:rPr>
              <a:t>검색 문서 개수</a:t>
            </a:r>
            <a:endParaRPr lang="en-US" sz="1250" dirty="0"/>
          </a:p>
        </p:txBody>
      </p:sp>
      <p:sp>
        <p:nvSpPr>
          <p:cNvPr id="12" name="Shape 10"/>
          <p:cNvSpPr/>
          <p:nvPr/>
        </p:nvSpPr>
        <p:spPr>
          <a:xfrm>
            <a:off x="8046720" y="1417320"/>
            <a:ext cx="3429000" cy="1371600"/>
          </a:xfrm>
          <a:prstGeom prst="roundRect">
            <a:avLst>
              <a:gd name="adj" fmla="val 6667"/>
            </a:avLst>
          </a:prstGeom>
          <a:solidFill>
            <a:srgbClr val="21295C"/>
          </a:solidFill>
          <a:ln/>
        </p:spPr>
      </p:sp>
      <p:sp>
        <p:nvSpPr>
          <p:cNvPr id="13" name="Text 11"/>
          <p:cNvSpPr/>
          <p:nvPr/>
        </p:nvSpPr>
        <p:spPr>
          <a:xfrm>
            <a:off x="8046720" y="1554480"/>
            <a:ext cx="3429000" cy="640080"/>
          </a:xfrm>
          <a:prstGeom prst="rect">
            <a:avLst/>
          </a:prstGeom>
          <a:noFill/>
          <a:ln/>
        </p:spPr>
        <p:txBody>
          <a:bodyPr wrap="square" lIns="0" tIns="0" rIns="0" bIns="0" rtlCol="0" anchor="ctr"/>
          <a:lstStyle/>
          <a:p>
            <a:pPr algn="ctr" indent="0" marL="0">
              <a:buNone/>
            </a:pPr>
            <a:r>
              <a:rPr lang="en-US" sz="3200" b="1" dirty="0">
                <a:solidFill>
                  <a:srgbClr val="C98A2C"/>
                </a:solidFill>
                <a:latin typeface="Cambria" pitchFamily="34" charset="0"/>
                <a:ea typeface="Cambria" pitchFamily="34" charset="-122"/>
                <a:cs typeface="Cambria" pitchFamily="34" charset="-120"/>
              </a:rPr>
              <a:t>21M</a:t>
            </a:r>
            <a:endParaRPr lang="en-US" sz="3200" dirty="0"/>
          </a:p>
        </p:txBody>
      </p:sp>
      <p:sp>
        <p:nvSpPr>
          <p:cNvPr id="14" name="Text 12"/>
          <p:cNvSpPr/>
          <p:nvPr/>
        </p:nvSpPr>
        <p:spPr>
          <a:xfrm>
            <a:off x="8229600" y="2240280"/>
            <a:ext cx="3063240" cy="457200"/>
          </a:xfrm>
          <a:prstGeom prst="rect">
            <a:avLst/>
          </a:prstGeom>
          <a:noFill/>
          <a:ln/>
        </p:spPr>
        <p:txBody>
          <a:bodyPr wrap="square" lIns="0" tIns="0" rIns="0" bIns="0" rtlCol="0" anchor="ctr"/>
          <a:lstStyle/>
          <a:p>
            <a:pPr algn="ctr" indent="0" marL="0">
              <a:lnSpc>
                <a:spcPct val="120000"/>
              </a:lnSpc>
              <a:buNone/>
            </a:pPr>
            <a:r>
              <a:rPr lang="en-US" sz="1250" dirty="0">
                <a:solidFill>
                  <a:srgbClr val="CFE3ED"/>
                </a:solidFill>
                <a:latin typeface="Calibri" pitchFamily="34" charset="0"/>
                <a:ea typeface="Calibri" pitchFamily="34" charset="-122"/>
                <a:cs typeface="Calibri" pitchFamily="34" charset="-120"/>
              </a:rPr>
              <a:t>위키피디아</a:t>
            </a:r>
            <a:endParaRPr lang="en-US" sz="1250" dirty="0"/>
          </a:p>
          <a:p>
            <a:pPr algn="ctr" indent="0" marL="0">
              <a:lnSpc>
                <a:spcPct val="120000"/>
              </a:lnSpc>
              <a:buNone/>
            </a:pPr>
            <a:r>
              <a:rPr lang="en-US" sz="1250" dirty="0">
                <a:solidFill>
                  <a:srgbClr val="CFE3ED"/>
                </a:solidFill>
                <a:latin typeface="Calibri" pitchFamily="34" charset="0"/>
                <a:ea typeface="Calibri" pitchFamily="34" charset="-122"/>
                <a:cs typeface="Calibri" pitchFamily="34" charset="-120"/>
              </a:rPr>
              <a:t>인덱싱 문서 수</a:t>
            </a:r>
            <a:endParaRPr lang="en-US" sz="1250" dirty="0"/>
          </a:p>
        </p:txBody>
      </p:sp>
      <p:sp>
        <p:nvSpPr>
          <p:cNvPr id="15" name="Text 13"/>
          <p:cNvSpPr/>
          <p:nvPr/>
        </p:nvSpPr>
        <p:spPr>
          <a:xfrm>
            <a:off x="640080" y="2971800"/>
            <a:ext cx="10881360" cy="502920"/>
          </a:xfrm>
          <a:prstGeom prst="rect">
            <a:avLst/>
          </a:prstGeom>
          <a:noFill/>
          <a:ln/>
        </p:spPr>
        <p:txBody>
          <a:bodyPr wrap="square" lIns="0" tIns="0" rIns="0" bIns="0" rtlCol="0" anchor="ctr"/>
          <a:lstStyle/>
          <a:p>
            <a:pPr indent="0" marL="0">
              <a:lnSpc>
                <a:spcPct val="125000"/>
              </a:lnSpc>
              <a:buNone/>
            </a:pPr>
            <a:r>
              <a:rPr lang="en-US" sz="1400" dirty="0">
                <a:solidFill>
                  <a:srgbClr val="18213D"/>
                </a:solidFill>
                <a:latin typeface="Cambria" pitchFamily="34" charset="0"/>
                <a:ea typeface="Cambria" pitchFamily="34" charset="-122"/>
                <a:cs typeface="Cambria" pitchFamily="34" charset="-120"/>
              </a:rPr>
              <a:t>RAG는 세 가지 오픈도메인 QA 태스크(NQ·TriviaQA·WebQuestions)에서 당시 SOTA를 달성했고, 검색-추출 전용 아키텍처까지 모두 능가했다.</a:t>
            </a:r>
            <a:endParaRPr lang="en-US" sz="1400" dirty="0"/>
          </a:p>
        </p:txBody>
      </p:sp>
      <p:sp>
        <p:nvSpPr>
          <p:cNvPr id="16" name="Shape 14"/>
          <p:cNvSpPr/>
          <p:nvPr/>
        </p:nvSpPr>
        <p:spPr>
          <a:xfrm>
            <a:off x="640080" y="3611880"/>
            <a:ext cx="5257800" cy="1371600"/>
          </a:xfrm>
          <a:prstGeom prst="roundRect">
            <a:avLst>
              <a:gd name="adj" fmla="val 6667"/>
            </a:avLst>
          </a:prstGeom>
          <a:solidFill>
            <a:srgbClr val="E6F0F5"/>
          </a:solidFill>
          <a:ln/>
        </p:spPr>
      </p:sp>
      <p:pic>
        <p:nvPicPr>
          <p:cNvPr id="17" name="Image 0" descr="/home/claude/rag_deck/icon_shield_blue.png">    </p:cNvPr>
          <p:cNvPicPr>
            <a:picLocks noChangeAspect="1"/>
          </p:cNvPicPr>
          <p:nvPr/>
        </p:nvPicPr>
        <p:blipFill>
          <a:blip r:embed="rId1"/>
          <a:stretch>
            <a:fillRect/>
          </a:stretch>
        </p:blipFill>
        <p:spPr>
          <a:xfrm>
            <a:off x="868680" y="3794760"/>
            <a:ext cx="384048" cy="384048"/>
          </a:xfrm>
          <a:prstGeom prst="rect">
            <a:avLst/>
          </a:prstGeom>
        </p:spPr>
      </p:pic>
      <p:sp>
        <p:nvSpPr>
          <p:cNvPr id="18" name="Text 15"/>
          <p:cNvSpPr/>
          <p:nvPr/>
        </p:nvSpPr>
        <p:spPr>
          <a:xfrm>
            <a:off x="1371600" y="3794760"/>
            <a:ext cx="4389120" cy="320040"/>
          </a:xfrm>
          <a:prstGeom prst="rect">
            <a:avLst/>
          </a:prstGeom>
          <a:noFill/>
          <a:ln/>
        </p:spPr>
        <p:txBody>
          <a:bodyPr wrap="square" lIns="0" tIns="0" rIns="0" bIns="0" rtlCol="0" anchor="ctr"/>
          <a:lstStyle/>
          <a:p>
            <a:pPr indent="0" marL="0">
              <a:buNone/>
            </a:pPr>
            <a:r>
              <a:rPr lang="en-US" sz="1450" b="1" dirty="0">
                <a:solidFill>
                  <a:srgbClr val="065A82"/>
                </a:solidFill>
                <a:latin typeface="Cambria" pitchFamily="34" charset="0"/>
                <a:ea typeface="Cambria" pitchFamily="34" charset="-122"/>
                <a:cs typeface="Cambria" pitchFamily="34" charset="-120"/>
              </a:rPr>
              <a:t>환각 감소</a:t>
            </a:r>
            <a:endParaRPr lang="en-US" sz="1450" dirty="0"/>
          </a:p>
        </p:txBody>
      </p:sp>
      <p:sp>
        <p:nvSpPr>
          <p:cNvPr id="19" name="Text 16"/>
          <p:cNvSpPr/>
          <p:nvPr/>
        </p:nvSpPr>
        <p:spPr>
          <a:xfrm>
            <a:off x="868680" y="4251960"/>
            <a:ext cx="4846320" cy="640080"/>
          </a:xfrm>
          <a:prstGeom prst="rect">
            <a:avLst/>
          </a:prstGeom>
          <a:noFill/>
          <a:ln/>
        </p:spPr>
        <p:txBody>
          <a:bodyPr wrap="square" lIns="0" tIns="0" rIns="0" bIns="0" rtlCol="0" anchor="ctr"/>
          <a:lstStyle/>
          <a:p>
            <a:pPr indent="0" marL="0">
              <a:lnSpc>
                <a:spcPct val="125000"/>
              </a:lnSpc>
              <a:buNone/>
            </a:pPr>
            <a:r>
              <a:rPr lang="en-US" sz="1300" dirty="0">
                <a:solidFill>
                  <a:srgbClr val="18213D"/>
                </a:solidFill>
                <a:latin typeface="Calibri" pitchFamily="34" charset="0"/>
                <a:ea typeface="Calibri" pitchFamily="34" charset="-122"/>
                <a:cs typeface="Calibri" pitchFamily="34" charset="-120"/>
              </a:rPr>
              <a:t>검색된 문서를 근거로 답하니 모르는 걸 지어낼 위험이 줄어든다</a:t>
            </a:r>
            <a:endParaRPr lang="en-US" sz="1300" dirty="0"/>
          </a:p>
        </p:txBody>
      </p:sp>
      <p:sp>
        <p:nvSpPr>
          <p:cNvPr id="20" name="Shape 17"/>
          <p:cNvSpPr/>
          <p:nvPr/>
        </p:nvSpPr>
        <p:spPr>
          <a:xfrm>
            <a:off x="6263640" y="3611880"/>
            <a:ext cx="5257800" cy="1371600"/>
          </a:xfrm>
          <a:prstGeom prst="roundRect">
            <a:avLst>
              <a:gd name="adj" fmla="val 6667"/>
            </a:avLst>
          </a:prstGeom>
          <a:solidFill>
            <a:srgbClr val="E6F0F5"/>
          </a:solidFill>
          <a:ln/>
        </p:spPr>
      </p:sp>
      <p:pic>
        <p:nvPicPr>
          <p:cNvPr id="21" name="Image 1" descr="/home/claude/rag_deck/icon_redo_blue.png">    </p:cNvPr>
          <p:cNvPicPr>
            <a:picLocks noChangeAspect="1"/>
          </p:cNvPicPr>
          <p:nvPr/>
        </p:nvPicPr>
        <p:blipFill>
          <a:blip r:embed="rId2"/>
          <a:stretch>
            <a:fillRect/>
          </a:stretch>
        </p:blipFill>
        <p:spPr>
          <a:xfrm>
            <a:off x="6492240" y="3794760"/>
            <a:ext cx="384048" cy="384048"/>
          </a:xfrm>
          <a:prstGeom prst="rect">
            <a:avLst/>
          </a:prstGeom>
        </p:spPr>
      </p:pic>
      <p:sp>
        <p:nvSpPr>
          <p:cNvPr id="22" name="Text 18"/>
          <p:cNvSpPr/>
          <p:nvPr/>
        </p:nvSpPr>
        <p:spPr>
          <a:xfrm>
            <a:off x="6995160" y="3794760"/>
            <a:ext cx="4389120" cy="320040"/>
          </a:xfrm>
          <a:prstGeom prst="rect">
            <a:avLst/>
          </a:prstGeom>
          <a:noFill/>
          <a:ln/>
        </p:spPr>
        <p:txBody>
          <a:bodyPr wrap="square" lIns="0" tIns="0" rIns="0" bIns="0" rtlCol="0" anchor="ctr"/>
          <a:lstStyle/>
          <a:p>
            <a:pPr indent="0" marL="0">
              <a:buNone/>
            </a:pPr>
            <a:r>
              <a:rPr lang="en-US" sz="1450" b="1" dirty="0">
                <a:solidFill>
                  <a:srgbClr val="065A82"/>
                </a:solidFill>
                <a:latin typeface="Cambria" pitchFamily="34" charset="0"/>
                <a:ea typeface="Cambria" pitchFamily="34" charset="-122"/>
                <a:cs typeface="Cambria" pitchFamily="34" charset="-120"/>
              </a:rPr>
              <a:t>쉬운 지식 업데이트</a:t>
            </a:r>
            <a:endParaRPr lang="en-US" sz="1450" dirty="0"/>
          </a:p>
        </p:txBody>
      </p:sp>
      <p:sp>
        <p:nvSpPr>
          <p:cNvPr id="23" name="Text 19"/>
          <p:cNvSpPr/>
          <p:nvPr/>
        </p:nvSpPr>
        <p:spPr>
          <a:xfrm>
            <a:off x="6492240" y="4251960"/>
            <a:ext cx="4846320" cy="640080"/>
          </a:xfrm>
          <a:prstGeom prst="rect">
            <a:avLst/>
          </a:prstGeom>
          <a:noFill/>
          <a:ln/>
        </p:spPr>
        <p:txBody>
          <a:bodyPr wrap="square" lIns="0" tIns="0" rIns="0" bIns="0" rtlCol="0" anchor="ctr"/>
          <a:lstStyle/>
          <a:p>
            <a:pPr indent="0" marL="0">
              <a:lnSpc>
                <a:spcPct val="125000"/>
              </a:lnSpc>
              <a:buNone/>
            </a:pPr>
            <a:r>
              <a:rPr lang="en-US" sz="1300" dirty="0">
                <a:solidFill>
                  <a:srgbClr val="18213D"/>
                </a:solidFill>
                <a:latin typeface="Calibri" pitchFamily="34" charset="0"/>
                <a:ea typeface="Calibri" pitchFamily="34" charset="-122"/>
                <a:cs typeface="Calibri" pitchFamily="34" charset="-120"/>
              </a:rPr>
              <a:t>재학습 없이 외부 문서 인덱스만 바꾸면 새 지식이 반영된다</a:t>
            </a:r>
            <a:endParaRPr lang="en-US" sz="1300" dirty="0"/>
          </a:p>
        </p:txBody>
      </p:sp>
      <p:sp>
        <p:nvSpPr>
          <p:cNvPr id="24" name="Text 20"/>
          <p:cNvSpPr/>
          <p:nvPr/>
        </p:nvSpPr>
        <p:spPr>
          <a:xfrm>
            <a:off x="640080" y="5166360"/>
            <a:ext cx="7315200" cy="3200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이제부터 반복해서 등장할 5가지 용어</a:t>
            </a:r>
            <a:endParaRPr lang="en-US" sz="1350" dirty="0"/>
          </a:p>
        </p:txBody>
      </p:sp>
      <p:sp>
        <p:nvSpPr>
          <p:cNvPr id="25" name="Shape 21"/>
          <p:cNvSpPr/>
          <p:nvPr/>
        </p:nvSpPr>
        <p:spPr>
          <a:xfrm>
            <a:off x="640080" y="5532120"/>
            <a:ext cx="2066544" cy="960120"/>
          </a:xfrm>
          <a:prstGeom prst="roundRect">
            <a:avLst>
              <a:gd name="adj" fmla="val 5714"/>
            </a:avLst>
          </a:prstGeom>
          <a:solidFill>
            <a:srgbClr val="F4F7FA"/>
          </a:solidFill>
          <a:ln/>
        </p:spPr>
      </p:sp>
      <p:sp>
        <p:nvSpPr>
          <p:cNvPr id="26" name="Text 22"/>
          <p:cNvSpPr/>
          <p:nvPr/>
        </p:nvSpPr>
        <p:spPr>
          <a:xfrm>
            <a:off x="731520" y="5623560"/>
            <a:ext cx="1883664" cy="27432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Chunking</a:t>
            </a:r>
            <a:endParaRPr lang="en-US" sz="1350" dirty="0"/>
          </a:p>
        </p:txBody>
      </p:sp>
      <p:sp>
        <p:nvSpPr>
          <p:cNvPr id="27" name="Text 23"/>
          <p:cNvSpPr/>
          <p:nvPr/>
        </p:nvSpPr>
        <p:spPr>
          <a:xfrm>
            <a:off x="731520" y="5916168"/>
            <a:ext cx="1883664" cy="502920"/>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문서를 작은 조각으로 나누기</a:t>
            </a:r>
            <a:endParaRPr lang="en-US" sz="1150" dirty="0"/>
          </a:p>
        </p:txBody>
      </p:sp>
      <p:sp>
        <p:nvSpPr>
          <p:cNvPr id="28" name="Shape 24"/>
          <p:cNvSpPr/>
          <p:nvPr/>
        </p:nvSpPr>
        <p:spPr>
          <a:xfrm>
            <a:off x="2798064" y="5532120"/>
            <a:ext cx="2066544" cy="960120"/>
          </a:xfrm>
          <a:prstGeom prst="roundRect">
            <a:avLst>
              <a:gd name="adj" fmla="val 5714"/>
            </a:avLst>
          </a:prstGeom>
          <a:solidFill>
            <a:srgbClr val="F4F7FA"/>
          </a:solidFill>
          <a:ln/>
        </p:spPr>
      </p:sp>
      <p:sp>
        <p:nvSpPr>
          <p:cNvPr id="29" name="Text 25"/>
          <p:cNvSpPr/>
          <p:nvPr/>
        </p:nvSpPr>
        <p:spPr>
          <a:xfrm>
            <a:off x="2889504" y="5623560"/>
            <a:ext cx="1883664" cy="27432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Embedding</a:t>
            </a:r>
            <a:endParaRPr lang="en-US" sz="1350" dirty="0"/>
          </a:p>
        </p:txBody>
      </p:sp>
      <p:sp>
        <p:nvSpPr>
          <p:cNvPr id="30" name="Text 26"/>
          <p:cNvSpPr/>
          <p:nvPr/>
        </p:nvSpPr>
        <p:spPr>
          <a:xfrm>
            <a:off x="2889504" y="5916168"/>
            <a:ext cx="1883664" cy="502920"/>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문장을 벡터로 바꾸기</a:t>
            </a:r>
            <a:endParaRPr lang="en-US" sz="1150" dirty="0"/>
          </a:p>
        </p:txBody>
      </p:sp>
      <p:sp>
        <p:nvSpPr>
          <p:cNvPr id="31" name="Shape 27"/>
          <p:cNvSpPr/>
          <p:nvPr/>
        </p:nvSpPr>
        <p:spPr>
          <a:xfrm>
            <a:off x="4956048" y="5532120"/>
            <a:ext cx="2066544" cy="960120"/>
          </a:xfrm>
          <a:prstGeom prst="roundRect">
            <a:avLst>
              <a:gd name="adj" fmla="val 5714"/>
            </a:avLst>
          </a:prstGeom>
          <a:solidFill>
            <a:srgbClr val="F4F7FA"/>
          </a:solidFill>
          <a:ln/>
        </p:spPr>
      </p:sp>
      <p:sp>
        <p:nvSpPr>
          <p:cNvPr id="32" name="Text 28"/>
          <p:cNvSpPr/>
          <p:nvPr/>
        </p:nvSpPr>
        <p:spPr>
          <a:xfrm>
            <a:off x="5047488" y="5623560"/>
            <a:ext cx="1883664" cy="27432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Vector Search</a:t>
            </a:r>
            <a:endParaRPr lang="en-US" sz="1350" dirty="0"/>
          </a:p>
        </p:txBody>
      </p:sp>
      <p:sp>
        <p:nvSpPr>
          <p:cNvPr id="33" name="Text 29"/>
          <p:cNvSpPr/>
          <p:nvPr/>
        </p:nvSpPr>
        <p:spPr>
          <a:xfrm>
            <a:off x="5047488" y="5916168"/>
            <a:ext cx="1883664" cy="502920"/>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비슷한 조각 찾기</a:t>
            </a:r>
            <a:endParaRPr lang="en-US" sz="1150" dirty="0"/>
          </a:p>
        </p:txBody>
      </p:sp>
      <p:sp>
        <p:nvSpPr>
          <p:cNvPr id="34" name="Shape 30"/>
          <p:cNvSpPr/>
          <p:nvPr/>
        </p:nvSpPr>
        <p:spPr>
          <a:xfrm>
            <a:off x="7114032" y="5532120"/>
            <a:ext cx="2066544" cy="960120"/>
          </a:xfrm>
          <a:prstGeom prst="roundRect">
            <a:avLst>
              <a:gd name="adj" fmla="val 5714"/>
            </a:avLst>
          </a:prstGeom>
          <a:solidFill>
            <a:srgbClr val="F4F7FA"/>
          </a:solidFill>
          <a:ln/>
        </p:spPr>
      </p:sp>
      <p:sp>
        <p:nvSpPr>
          <p:cNvPr id="35" name="Text 31"/>
          <p:cNvSpPr/>
          <p:nvPr/>
        </p:nvSpPr>
        <p:spPr>
          <a:xfrm>
            <a:off x="7205472" y="5623560"/>
            <a:ext cx="1883664" cy="27432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Retriever</a:t>
            </a:r>
            <a:endParaRPr lang="en-US" sz="1350" dirty="0"/>
          </a:p>
        </p:txBody>
      </p:sp>
      <p:sp>
        <p:nvSpPr>
          <p:cNvPr id="36" name="Text 32"/>
          <p:cNvSpPr/>
          <p:nvPr/>
        </p:nvSpPr>
        <p:spPr>
          <a:xfrm>
            <a:off x="7205472" y="5916168"/>
            <a:ext cx="1883664" cy="502920"/>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관련 문서 검색 담당</a:t>
            </a:r>
            <a:endParaRPr lang="en-US" sz="1150" dirty="0"/>
          </a:p>
        </p:txBody>
      </p:sp>
      <p:sp>
        <p:nvSpPr>
          <p:cNvPr id="37" name="Shape 33"/>
          <p:cNvSpPr/>
          <p:nvPr/>
        </p:nvSpPr>
        <p:spPr>
          <a:xfrm>
            <a:off x="9272016" y="5532120"/>
            <a:ext cx="2066544" cy="960120"/>
          </a:xfrm>
          <a:prstGeom prst="roundRect">
            <a:avLst>
              <a:gd name="adj" fmla="val 5714"/>
            </a:avLst>
          </a:prstGeom>
          <a:solidFill>
            <a:srgbClr val="F4F7FA"/>
          </a:solidFill>
          <a:ln/>
        </p:spPr>
      </p:sp>
      <p:sp>
        <p:nvSpPr>
          <p:cNvPr id="38" name="Text 34"/>
          <p:cNvSpPr/>
          <p:nvPr/>
        </p:nvSpPr>
        <p:spPr>
          <a:xfrm>
            <a:off x="9363456" y="5623560"/>
            <a:ext cx="1883664" cy="27432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Generator</a:t>
            </a:r>
            <a:endParaRPr lang="en-US" sz="1350" dirty="0"/>
          </a:p>
        </p:txBody>
      </p:sp>
      <p:sp>
        <p:nvSpPr>
          <p:cNvPr id="39" name="Text 35"/>
          <p:cNvSpPr/>
          <p:nvPr/>
        </p:nvSpPr>
        <p:spPr>
          <a:xfrm>
            <a:off x="9363456" y="5916168"/>
            <a:ext cx="1883664" cy="502920"/>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답변 생성 담당</a:t>
            </a:r>
            <a:endParaRPr lang="en-US" sz="1150" dirty="0"/>
          </a:p>
        </p:txBody>
      </p:sp>
      <p:sp>
        <p:nvSpPr>
          <p:cNvPr id="40" name="Text 36"/>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02 · SURVEY</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RAG 기술 지도를 그리다</a:t>
            </a:r>
            <a:endParaRPr lang="en-US" sz="2400" dirty="0"/>
          </a:p>
        </p:txBody>
      </p:sp>
      <p:sp>
        <p:nvSpPr>
          <p:cNvPr id="6" name="Shape 4"/>
          <p:cNvSpPr/>
          <p:nvPr/>
        </p:nvSpPr>
        <p:spPr>
          <a:xfrm>
            <a:off x="640080" y="1298448"/>
            <a:ext cx="10881360" cy="713232"/>
          </a:xfrm>
          <a:prstGeom prst="roundRect">
            <a:avLst>
              <a:gd name="adj" fmla="val 7692"/>
            </a:avLst>
          </a:prstGeom>
          <a:solidFill>
            <a:srgbClr val="F4F7FA"/>
          </a:solidFill>
          <a:ln/>
        </p:spPr>
      </p:sp>
      <p:sp>
        <p:nvSpPr>
          <p:cNvPr id="7" name="Text 5"/>
          <p:cNvSpPr/>
          <p:nvPr/>
        </p:nvSpPr>
        <p:spPr>
          <a:xfrm>
            <a:off x="868680" y="1353312"/>
            <a:ext cx="10424160" cy="384048"/>
          </a:xfrm>
          <a:prstGeom prst="rect">
            <a:avLst/>
          </a:prstGeom>
          <a:noFill/>
          <a:ln/>
        </p:spPr>
        <p:txBody>
          <a:bodyPr wrap="square" lIns="0" tIns="0" rIns="0" bIns="0" rtlCol="0" anchor="ctr"/>
          <a:lstStyle/>
          <a:p>
            <a:pPr indent="0" marL="0">
              <a:lnSpc>
                <a:spcPct val="102000"/>
              </a:lnSpc>
              <a:buNone/>
            </a:pPr>
            <a:r>
              <a:rPr lang="en-US" sz="1250" b="1" dirty="0">
                <a:solidFill>
                  <a:srgbClr val="21295C"/>
                </a:solidFill>
                <a:latin typeface="Cambria" pitchFamily="34" charset="0"/>
                <a:ea typeface="Cambria" pitchFamily="34" charset="-122"/>
                <a:cs typeface="Cambria" pitchFamily="34" charset="-120"/>
              </a:rPr>
              <a:t>Retrieval-Augmented Generation for Large Language Models: A Survey</a:t>
            </a:r>
            <a:endParaRPr lang="en-US" sz="1250" dirty="0"/>
          </a:p>
        </p:txBody>
      </p:sp>
      <p:sp>
        <p:nvSpPr>
          <p:cNvPr id="8" name="Text 6"/>
          <p:cNvSpPr/>
          <p:nvPr/>
        </p:nvSpPr>
        <p:spPr>
          <a:xfrm>
            <a:off x="868680" y="1737360"/>
            <a:ext cx="10424160" cy="228600"/>
          </a:xfrm>
          <a:prstGeom prst="rect">
            <a:avLst/>
          </a:prstGeom>
          <a:noFill/>
          <a:ln/>
        </p:spPr>
        <p:txBody>
          <a:bodyPr wrap="square" lIns="0" tIns="0" rIns="0" bIns="0" rtlCol="0" anchor="ctr"/>
          <a:lstStyle/>
          <a:p>
            <a:pPr indent="0" marL="0">
              <a:buNone/>
            </a:pPr>
            <a:r>
              <a:rPr lang="en-US" sz="1100" dirty="0">
                <a:solidFill>
                  <a:srgbClr val="45506B"/>
                </a:solidFill>
                <a:latin typeface="Calibri" pitchFamily="34" charset="0"/>
                <a:ea typeface="Calibri" pitchFamily="34" charset="-122"/>
                <a:cs typeface="Calibri" pitchFamily="34" charset="-120"/>
              </a:rPr>
              <a:t>Gao, Y. et al.  ·  arXiv 2024  ·  arXiv:2312.10997</a:t>
            </a:r>
            <a:endParaRPr lang="en-US" sz="1100" dirty="0"/>
          </a:p>
        </p:txBody>
      </p:sp>
      <p:sp>
        <p:nvSpPr>
          <p:cNvPr id="9" name="Text 7"/>
          <p:cNvSpPr/>
          <p:nvPr/>
        </p:nvSpPr>
        <p:spPr>
          <a:xfrm>
            <a:off x="640080" y="2084832"/>
            <a:ext cx="9144000" cy="32004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현대 RAG 기술을 세 단계로 정리한 지도 논문</a:t>
            </a:r>
            <a:endParaRPr lang="en-US" sz="1400" dirty="0"/>
          </a:p>
        </p:txBody>
      </p:sp>
      <p:sp>
        <p:nvSpPr>
          <p:cNvPr id="10" name="Shape 8"/>
          <p:cNvSpPr/>
          <p:nvPr/>
        </p:nvSpPr>
        <p:spPr>
          <a:xfrm>
            <a:off x="640080" y="2606040"/>
            <a:ext cx="3429000" cy="1783080"/>
          </a:xfrm>
          <a:prstGeom prst="roundRect">
            <a:avLst>
              <a:gd name="adj" fmla="val 5128"/>
            </a:avLst>
          </a:prstGeom>
          <a:solidFill>
            <a:srgbClr val="E6F0F5"/>
          </a:solidFill>
          <a:ln/>
        </p:spPr>
      </p:sp>
      <p:sp>
        <p:nvSpPr>
          <p:cNvPr id="11" name="Text 9"/>
          <p:cNvSpPr/>
          <p:nvPr/>
        </p:nvSpPr>
        <p:spPr>
          <a:xfrm>
            <a:off x="868680" y="2788920"/>
            <a:ext cx="914400" cy="457200"/>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01</a:t>
            </a:r>
            <a:endParaRPr lang="en-US" sz="2200" dirty="0"/>
          </a:p>
        </p:txBody>
      </p:sp>
      <p:sp>
        <p:nvSpPr>
          <p:cNvPr id="12" name="Text 10"/>
          <p:cNvSpPr/>
          <p:nvPr/>
        </p:nvSpPr>
        <p:spPr>
          <a:xfrm>
            <a:off x="868680" y="3291840"/>
            <a:ext cx="297180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Naive RAG</a:t>
            </a:r>
            <a:endParaRPr lang="en-US" sz="1550" dirty="0"/>
          </a:p>
        </p:txBody>
      </p:sp>
      <p:sp>
        <p:nvSpPr>
          <p:cNvPr id="13" name="Text 11"/>
          <p:cNvSpPr/>
          <p:nvPr/>
        </p:nvSpPr>
        <p:spPr>
          <a:xfrm>
            <a:off x="868680" y="3657600"/>
            <a:ext cx="2971800" cy="274320"/>
          </a:xfrm>
          <a:prstGeom prst="rect">
            <a:avLst/>
          </a:prstGeom>
          <a:noFill/>
          <a:ln/>
        </p:spPr>
        <p:txBody>
          <a:bodyPr wrap="square" lIns="0" tIns="0" rIns="0" bIns="0" rtlCol="0" anchor="ctr"/>
          <a:lstStyle/>
          <a:p>
            <a:pPr indent="0" marL="0">
              <a:buNone/>
            </a:pPr>
            <a:r>
              <a:rPr lang="en-US" sz="1300" dirty="0">
                <a:solidFill>
                  <a:srgbClr val="18213D"/>
                </a:solidFill>
                <a:latin typeface="Calibri" pitchFamily="34" charset="0"/>
                <a:ea typeface="Calibri" pitchFamily="34" charset="-122"/>
                <a:cs typeface="Calibri" pitchFamily="34" charset="-120"/>
              </a:rPr>
              <a:t>가장 단순한 구조</a:t>
            </a:r>
            <a:endParaRPr lang="en-US" sz="1300" dirty="0"/>
          </a:p>
        </p:txBody>
      </p:sp>
      <p:sp>
        <p:nvSpPr>
          <p:cNvPr id="14" name="Text 12"/>
          <p:cNvSpPr/>
          <p:nvPr/>
        </p:nvSpPr>
        <p:spPr>
          <a:xfrm>
            <a:off x="868680" y="3959352"/>
            <a:ext cx="2971800" cy="320040"/>
          </a:xfrm>
          <a:prstGeom prst="rect">
            <a:avLst/>
          </a:prstGeom>
          <a:noFill/>
          <a:ln/>
        </p:spPr>
        <p:txBody>
          <a:bodyPr wrap="square" lIns="0" tIns="0" rIns="0" bIns="0" rtlCol="0" anchor="ctr"/>
          <a:lstStyle/>
          <a:p>
            <a:pPr indent="0" marL="0">
              <a:buNone/>
            </a:pPr>
            <a:r>
              <a:rPr lang="en-US" sz="1250" dirty="0">
                <a:solidFill>
                  <a:srgbClr val="45506B"/>
                </a:solidFill>
                <a:latin typeface="Calibri" pitchFamily="34" charset="0"/>
                <a:ea typeface="Calibri" pitchFamily="34" charset="-122"/>
                <a:cs typeface="Calibri" pitchFamily="34" charset="-120"/>
              </a:rPr>
              <a:t>검색 후 바로 답 생성</a:t>
            </a:r>
            <a:endParaRPr lang="en-US" sz="1250" dirty="0"/>
          </a:p>
        </p:txBody>
      </p:sp>
      <p:sp>
        <p:nvSpPr>
          <p:cNvPr id="15" name="Shape 13"/>
          <p:cNvSpPr/>
          <p:nvPr/>
        </p:nvSpPr>
        <p:spPr>
          <a:xfrm>
            <a:off x="4069080" y="3497580"/>
            <a:ext cx="274320" cy="0"/>
          </a:xfrm>
          <a:prstGeom prst="line">
            <a:avLst/>
          </a:prstGeom>
          <a:noFill/>
          <a:ln w="19050">
            <a:solidFill>
              <a:srgbClr val="45506B"/>
            </a:solidFill>
            <a:prstDash val="solid"/>
            <a:tailEnd type="triangle"/>
          </a:ln>
        </p:spPr>
      </p:sp>
      <p:sp>
        <p:nvSpPr>
          <p:cNvPr id="16" name="Shape 14"/>
          <p:cNvSpPr/>
          <p:nvPr/>
        </p:nvSpPr>
        <p:spPr>
          <a:xfrm>
            <a:off x="4343400" y="2606040"/>
            <a:ext cx="3429000" cy="1783080"/>
          </a:xfrm>
          <a:prstGeom prst="roundRect">
            <a:avLst>
              <a:gd name="adj" fmla="val 5128"/>
            </a:avLst>
          </a:prstGeom>
          <a:solidFill>
            <a:srgbClr val="DCEAF0"/>
          </a:solidFill>
          <a:ln/>
        </p:spPr>
      </p:sp>
      <p:sp>
        <p:nvSpPr>
          <p:cNvPr id="17" name="Text 15"/>
          <p:cNvSpPr/>
          <p:nvPr/>
        </p:nvSpPr>
        <p:spPr>
          <a:xfrm>
            <a:off x="4572000" y="2788920"/>
            <a:ext cx="914400" cy="457200"/>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02</a:t>
            </a:r>
            <a:endParaRPr lang="en-US" sz="2200" dirty="0"/>
          </a:p>
        </p:txBody>
      </p:sp>
      <p:sp>
        <p:nvSpPr>
          <p:cNvPr id="18" name="Text 16"/>
          <p:cNvSpPr/>
          <p:nvPr/>
        </p:nvSpPr>
        <p:spPr>
          <a:xfrm>
            <a:off x="4572000" y="3291840"/>
            <a:ext cx="297180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Advanced RAG</a:t>
            </a:r>
            <a:endParaRPr lang="en-US" sz="1550" dirty="0"/>
          </a:p>
        </p:txBody>
      </p:sp>
      <p:sp>
        <p:nvSpPr>
          <p:cNvPr id="19" name="Text 17"/>
          <p:cNvSpPr/>
          <p:nvPr/>
        </p:nvSpPr>
        <p:spPr>
          <a:xfrm>
            <a:off x="4572000" y="3657600"/>
            <a:ext cx="2971800" cy="274320"/>
          </a:xfrm>
          <a:prstGeom prst="rect">
            <a:avLst/>
          </a:prstGeom>
          <a:noFill/>
          <a:ln/>
        </p:spPr>
        <p:txBody>
          <a:bodyPr wrap="square" lIns="0" tIns="0" rIns="0" bIns="0" rtlCol="0" anchor="ctr"/>
          <a:lstStyle/>
          <a:p>
            <a:pPr indent="0" marL="0">
              <a:buNone/>
            </a:pPr>
            <a:r>
              <a:rPr lang="en-US" sz="1300" dirty="0">
                <a:solidFill>
                  <a:srgbClr val="18213D"/>
                </a:solidFill>
                <a:latin typeface="Calibri" pitchFamily="34" charset="0"/>
                <a:ea typeface="Calibri" pitchFamily="34" charset="-122"/>
                <a:cs typeface="Calibri" pitchFamily="34" charset="-120"/>
              </a:rPr>
              <a:t>검색 전후 최적화 추가</a:t>
            </a:r>
            <a:endParaRPr lang="en-US" sz="1300" dirty="0"/>
          </a:p>
        </p:txBody>
      </p:sp>
      <p:sp>
        <p:nvSpPr>
          <p:cNvPr id="20" name="Text 18"/>
          <p:cNvSpPr/>
          <p:nvPr/>
        </p:nvSpPr>
        <p:spPr>
          <a:xfrm>
            <a:off x="4572000" y="3959352"/>
            <a:ext cx="2971800" cy="320040"/>
          </a:xfrm>
          <a:prstGeom prst="rect">
            <a:avLst/>
          </a:prstGeom>
          <a:noFill/>
          <a:ln/>
        </p:spPr>
        <p:txBody>
          <a:bodyPr wrap="square" lIns="0" tIns="0" rIns="0" bIns="0" rtlCol="0" anchor="ctr"/>
          <a:lstStyle/>
          <a:p>
            <a:pPr indent="0" marL="0">
              <a:buNone/>
            </a:pPr>
            <a:r>
              <a:rPr lang="en-US" sz="1250" dirty="0">
                <a:solidFill>
                  <a:srgbClr val="45506B"/>
                </a:solidFill>
                <a:latin typeface="Calibri" pitchFamily="34" charset="0"/>
                <a:ea typeface="Calibri" pitchFamily="34" charset="-122"/>
                <a:cs typeface="Calibri" pitchFamily="34" charset="-120"/>
              </a:rPr>
              <a:t>질문 다듬기 + 결과 재정렬</a:t>
            </a:r>
            <a:endParaRPr lang="en-US" sz="1250" dirty="0"/>
          </a:p>
        </p:txBody>
      </p:sp>
      <p:sp>
        <p:nvSpPr>
          <p:cNvPr id="21" name="Shape 19"/>
          <p:cNvSpPr/>
          <p:nvPr/>
        </p:nvSpPr>
        <p:spPr>
          <a:xfrm>
            <a:off x="7772400" y="3497580"/>
            <a:ext cx="274320" cy="0"/>
          </a:xfrm>
          <a:prstGeom prst="line">
            <a:avLst/>
          </a:prstGeom>
          <a:noFill/>
          <a:ln w="19050">
            <a:solidFill>
              <a:srgbClr val="45506B"/>
            </a:solidFill>
            <a:prstDash val="solid"/>
            <a:tailEnd type="triangle"/>
          </a:ln>
        </p:spPr>
      </p:sp>
      <p:sp>
        <p:nvSpPr>
          <p:cNvPr id="22" name="Shape 20"/>
          <p:cNvSpPr/>
          <p:nvPr/>
        </p:nvSpPr>
        <p:spPr>
          <a:xfrm>
            <a:off x="8046720" y="2606040"/>
            <a:ext cx="3429000" cy="1783080"/>
          </a:xfrm>
          <a:prstGeom prst="roundRect">
            <a:avLst>
              <a:gd name="adj" fmla="val 5128"/>
            </a:avLst>
          </a:prstGeom>
          <a:solidFill>
            <a:srgbClr val="CFE3ED"/>
          </a:solidFill>
          <a:ln/>
        </p:spPr>
      </p:sp>
      <p:sp>
        <p:nvSpPr>
          <p:cNvPr id="23" name="Text 21"/>
          <p:cNvSpPr/>
          <p:nvPr/>
        </p:nvSpPr>
        <p:spPr>
          <a:xfrm>
            <a:off x="8275320" y="2788920"/>
            <a:ext cx="914400" cy="457200"/>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03</a:t>
            </a:r>
            <a:endParaRPr lang="en-US" sz="2200" dirty="0"/>
          </a:p>
        </p:txBody>
      </p:sp>
      <p:sp>
        <p:nvSpPr>
          <p:cNvPr id="24" name="Text 22"/>
          <p:cNvSpPr/>
          <p:nvPr/>
        </p:nvSpPr>
        <p:spPr>
          <a:xfrm>
            <a:off x="8275320" y="3291840"/>
            <a:ext cx="297180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Modular RAG</a:t>
            </a:r>
            <a:endParaRPr lang="en-US" sz="1550" dirty="0"/>
          </a:p>
        </p:txBody>
      </p:sp>
      <p:sp>
        <p:nvSpPr>
          <p:cNvPr id="25" name="Text 23"/>
          <p:cNvSpPr/>
          <p:nvPr/>
        </p:nvSpPr>
        <p:spPr>
          <a:xfrm>
            <a:off x="8275320" y="3657600"/>
            <a:ext cx="2971800" cy="274320"/>
          </a:xfrm>
          <a:prstGeom prst="rect">
            <a:avLst/>
          </a:prstGeom>
          <a:noFill/>
          <a:ln/>
        </p:spPr>
        <p:txBody>
          <a:bodyPr wrap="square" lIns="0" tIns="0" rIns="0" bIns="0" rtlCol="0" anchor="ctr"/>
          <a:lstStyle/>
          <a:p>
            <a:pPr indent="0" marL="0">
              <a:buNone/>
            </a:pPr>
            <a:r>
              <a:rPr lang="en-US" sz="1300" dirty="0">
                <a:solidFill>
                  <a:srgbClr val="18213D"/>
                </a:solidFill>
                <a:latin typeface="Calibri" pitchFamily="34" charset="0"/>
                <a:ea typeface="Calibri" pitchFamily="34" charset="-122"/>
                <a:cs typeface="Calibri" pitchFamily="34" charset="-120"/>
              </a:rPr>
              <a:t>자유롭게 조합 가능</a:t>
            </a:r>
            <a:endParaRPr lang="en-US" sz="1300" dirty="0"/>
          </a:p>
        </p:txBody>
      </p:sp>
      <p:sp>
        <p:nvSpPr>
          <p:cNvPr id="26" name="Text 24"/>
          <p:cNvSpPr/>
          <p:nvPr/>
        </p:nvSpPr>
        <p:spPr>
          <a:xfrm>
            <a:off x="8275320" y="3959352"/>
            <a:ext cx="2971800" cy="320040"/>
          </a:xfrm>
          <a:prstGeom prst="rect">
            <a:avLst/>
          </a:prstGeom>
          <a:noFill/>
          <a:ln/>
        </p:spPr>
        <p:txBody>
          <a:bodyPr wrap="square" lIns="0" tIns="0" rIns="0" bIns="0" rtlCol="0" anchor="ctr"/>
          <a:lstStyle/>
          <a:p>
            <a:pPr indent="0" marL="0">
              <a:buNone/>
            </a:pPr>
            <a:r>
              <a:rPr lang="en-US" sz="1250" dirty="0">
                <a:solidFill>
                  <a:srgbClr val="45506B"/>
                </a:solidFill>
                <a:latin typeface="Calibri" pitchFamily="34" charset="0"/>
                <a:ea typeface="Calibri" pitchFamily="34" charset="-122"/>
                <a:cs typeface="Calibri" pitchFamily="34" charset="-120"/>
              </a:rPr>
              <a:t>필요에 따라 반복·분기</a:t>
            </a:r>
            <a:endParaRPr lang="en-US" sz="1250" dirty="0"/>
          </a:p>
        </p:txBody>
      </p:sp>
      <p:sp>
        <p:nvSpPr>
          <p:cNvPr id="27" name="Text 25"/>
          <p:cNvSpPr/>
          <p:nvPr/>
        </p:nvSpPr>
        <p:spPr>
          <a:xfrm>
            <a:off x="640080" y="4617720"/>
            <a:ext cx="54864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이 논문의 3대 구성요소</a:t>
            </a:r>
            <a:endParaRPr lang="en-US" sz="1400" dirty="0"/>
          </a:p>
        </p:txBody>
      </p:sp>
      <p:sp>
        <p:nvSpPr>
          <p:cNvPr id="28" name="Shape 26"/>
          <p:cNvSpPr/>
          <p:nvPr/>
        </p:nvSpPr>
        <p:spPr>
          <a:xfrm>
            <a:off x="640080" y="4983480"/>
            <a:ext cx="3520440" cy="1234440"/>
          </a:xfrm>
          <a:prstGeom prst="roundRect">
            <a:avLst>
              <a:gd name="adj" fmla="val 5926"/>
            </a:avLst>
          </a:prstGeom>
          <a:solidFill>
            <a:srgbClr val="F4F7FA"/>
          </a:solidFill>
          <a:ln/>
        </p:spPr>
      </p:sp>
      <p:sp>
        <p:nvSpPr>
          <p:cNvPr id="29" name="Text 27"/>
          <p:cNvSpPr/>
          <p:nvPr/>
        </p:nvSpPr>
        <p:spPr>
          <a:xfrm>
            <a:off x="822960" y="5093208"/>
            <a:ext cx="3154680" cy="27432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Retriever</a:t>
            </a:r>
            <a:endParaRPr lang="en-US" sz="1400" dirty="0"/>
          </a:p>
        </p:txBody>
      </p:sp>
      <p:sp>
        <p:nvSpPr>
          <p:cNvPr id="30" name="Text 28"/>
          <p:cNvSpPr/>
          <p:nvPr/>
        </p:nvSpPr>
        <p:spPr>
          <a:xfrm>
            <a:off x="822960" y="5394960"/>
            <a:ext cx="3154680" cy="320040"/>
          </a:xfrm>
          <a:prstGeom prst="rect">
            <a:avLst/>
          </a:prstGeom>
          <a:noFill/>
          <a:ln/>
        </p:spPr>
        <p:txBody>
          <a:bodyPr wrap="square" lIns="0" tIns="0" rIns="0" bIns="0" rtlCol="0" anchor="ctr"/>
          <a:lstStyle/>
          <a:p>
            <a:pPr indent="0" marL="0">
              <a:buNone/>
            </a:pPr>
            <a:r>
              <a:rPr lang="en-US" sz="1200" dirty="0">
                <a:solidFill>
                  <a:srgbClr val="45506B"/>
                </a:solidFill>
                <a:latin typeface="Calibri" pitchFamily="34" charset="0"/>
                <a:ea typeface="Calibri" pitchFamily="34" charset="-122"/>
                <a:cs typeface="Calibri" pitchFamily="34" charset="-120"/>
              </a:rPr>
              <a:t>검색 정확도·효율성 균형</a:t>
            </a:r>
            <a:endParaRPr lang="en-US" sz="1200" dirty="0"/>
          </a:p>
        </p:txBody>
      </p:sp>
      <p:sp>
        <p:nvSpPr>
          <p:cNvPr id="31" name="Text 29"/>
          <p:cNvSpPr/>
          <p:nvPr/>
        </p:nvSpPr>
        <p:spPr>
          <a:xfrm>
            <a:off x="822960" y="5760720"/>
            <a:ext cx="3154680" cy="411480"/>
          </a:xfrm>
          <a:prstGeom prst="rect">
            <a:avLst/>
          </a:prstGeom>
          <a:noFill/>
          <a:ln/>
        </p:spPr>
        <p:txBody>
          <a:bodyPr wrap="square" lIns="0" tIns="0" rIns="0" bIns="0" rtlCol="0" anchor="ctr"/>
          <a:lstStyle/>
          <a:p>
            <a:pPr indent="0" marL="0">
              <a:lnSpc>
                <a:spcPct val="115000"/>
              </a:lnSpc>
              <a:buNone/>
            </a:pPr>
            <a:r>
              <a:rPr lang="en-US" sz="1200" dirty="0">
                <a:solidFill>
                  <a:srgbClr val="065A82"/>
                </a:solidFill>
                <a:latin typeface="Calibri" pitchFamily="34" charset="0"/>
                <a:ea typeface="Calibri" pitchFamily="34" charset="-122"/>
                <a:cs typeface="Calibri" pitchFamily="34" charset="-120"/>
              </a:rPr>
              <a:t>DPR · Hybrid · HyDE</a:t>
            </a:r>
            <a:endParaRPr lang="en-US" sz="1200" dirty="0"/>
          </a:p>
        </p:txBody>
      </p:sp>
      <p:sp>
        <p:nvSpPr>
          <p:cNvPr id="32" name="Shape 30"/>
          <p:cNvSpPr/>
          <p:nvPr/>
        </p:nvSpPr>
        <p:spPr>
          <a:xfrm>
            <a:off x="4416552" y="4983480"/>
            <a:ext cx="3520440" cy="1234440"/>
          </a:xfrm>
          <a:prstGeom prst="roundRect">
            <a:avLst>
              <a:gd name="adj" fmla="val 5926"/>
            </a:avLst>
          </a:prstGeom>
          <a:solidFill>
            <a:srgbClr val="F4F7FA"/>
          </a:solidFill>
          <a:ln/>
        </p:spPr>
      </p:sp>
      <p:sp>
        <p:nvSpPr>
          <p:cNvPr id="33" name="Text 31"/>
          <p:cNvSpPr/>
          <p:nvPr/>
        </p:nvSpPr>
        <p:spPr>
          <a:xfrm>
            <a:off x="4599432" y="5093208"/>
            <a:ext cx="3154680" cy="27432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Generator</a:t>
            </a:r>
            <a:endParaRPr lang="en-US" sz="1400" dirty="0"/>
          </a:p>
        </p:txBody>
      </p:sp>
      <p:sp>
        <p:nvSpPr>
          <p:cNvPr id="34" name="Text 32"/>
          <p:cNvSpPr/>
          <p:nvPr/>
        </p:nvSpPr>
        <p:spPr>
          <a:xfrm>
            <a:off x="4599432" y="5394960"/>
            <a:ext cx="3154680" cy="320040"/>
          </a:xfrm>
          <a:prstGeom prst="rect">
            <a:avLst/>
          </a:prstGeom>
          <a:noFill/>
          <a:ln/>
        </p:spPr>
        <p:txBody>
          <a:bodyPr wrap="square" lIns="0" tIns="0" rIns="0" bIns="0" rtlCol="0" anchor="ctr"/>
          <a:lstStyle/>
          <a:p>
            <a:pPr indent="0" marL="0">
              <a:buNone/>
            </a:pPr>
            <a:r>
              <a:rPr lang="en-US" sz="1200" dirty="0">
                <a:solidFill>
                  <a:srgbClr val="45506B"/>
                </a:solidFill>
                <a:latin typeface="Calibri" pitchFamily="34" charset="0"/>
                <a:ea typeface="Calibri" pitchFamily="34" charset="-122"/>
                <a:cs typeface="Calibri" pitchFamily="34" charset="-120"/>
              </a:rPr>
              <a:t>검색 결과 활용도</a:t>
            </a:r>
            <a:endParaRPr lang="en-US" sz="1200" dirty="0"/>
          </a:p>
        </p:txBody>
      </p:sp>
      <p:sp>
        <p:nvSpPr>
          <p:cNvPr id="35" name="Text 33"/>
          <p:cNvSpPr/>
          <p:nvPr/>
        </p:nvSpPr>
        <p:spPr>
          <a:xfrm>
            <a:off x="4599432" y="5760720"/>
            <a:ext cx="3154680" cy="411480"/>
          </a:xfrm>
          <a:prstGeom prst="rect">
            <a:avLst/>
          </a:prstGeom>
          <a:noFill/>
          <a:ln/>
        </p:spPr>
        <p:txBody>
          <a:bodyPr wrap="square" lIns="0" tIns="0" rIns="0" bIns="0" rtlCol="0" anchor="ctr"/>
          <a:lstStyle/>
          <a:p>
            <a:pPr indent="0" marL="0">
              <a:lnSpc>
                <a:spcPct val="115000"/>
              </a:lnSpc>
              <a:buNone/>
            </a:pPr>
            <a:r>
              <a:rPr lang="en-US" sz="1200" dirty="0">
                <a:solidFill>
                  <a:srgbClr val="065A82"/>
                </a:solidFill>
                <a:latin typeface="Calibri" pitchFamily="34" charset="0"/>
                <a:ea typeface="Calibri" pitchFamily="34" charset="-122"/>
                <a:cs typeface="Calibri" pitchFamily="34" charset="-120"/>
              </a:rPr>
              <a:t>프롬프트·파인튜닝·인용강제</a:t>
            </a:r>
            <a:endParaRPr lang="en-US" sz="1200" dirty="0"/>
          </a:p>
        </p:txBody>
      </p:sp>
      <p:sp>
        <p:nvSpPr>
          <p:cNvPr id="36" name="Shape 34"/>
          <p:cNvSpPr/>
          <p:nvPr/>
        </p:nvSpPr>
        <p:spPr>
          <a:xfrm>
            <a:off x="8193024" y="4983480"/>
            <a:ext cx="3520440" cy="1234440"/>
          </a:xfrm>
          <a:prstGeom prst="roundRect">
            <a:avLst>
              <a:gd name="adj" fmla="val 5926"/>
            </a:avLst>
          </a:prstGeom>
          <a:solidFill>
            <a:srgbClr val="F4F7FA"/>
          </a:solidFill>
          <a:ln/>
        </p:spPr>
      </p:sp>
      <p:sp>
        <p:nvSpPr>
          <p:cNvPr id="37" name="Text 35"/>
          <p:cNvSpPr/>
          <p:nvPr/>
        </p:nvSpPr>
        <p:spPr>
          <a:xfrm>
            <a:off x="8375904" y="5093208"/>
            <a:ext cx="3154680" cy="27432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Augmentation</a:t>
            </a:r>
            <a:endParaRPr lang="en-US" sz="1400" dirty="0"/>
          </a:p>
        </p:txBody>
      </p:sp>
      <p:sp>
        <p:nvSpPr>
          <p:cNvPr id="38" name="Text 36"/>
          <p:cNvSpPr/>
          <p:nvPr/>
        </p:nvSpPr>
        <p:spPr>
          <a:xfrm>
            <a:off x="8375904" y="5394960"/>
            <a:ext cx="3154680" cy="320040"/>
          </a:xfrm>
          <a:prstGeom prst="rect">
            <a:avLst/>
          </a:prstGeom>
          <a:noFill/>
          <a:ln/>
        </p:spPr>
        <p:txBody>
          <a:bodyPr wrap="square" lIns="0" tIns="0" rIns="0" bIns="0" rtlCol="0" anchor="ctr"/>
          <a:lstStyle/>
          <a:p>
            <a:pPr indent="0" marL="0">
              <a:buNone/>
            </a:pPr>
            <a:r>
              <a:rPr lang="en-US" sz="1200" dirty="0">
                <a:solidFill>
                  <a:srgbClr val="45506B"/>
                </a:solidFill>
                <a:latin typeface="Calibri" pitchFamily="34" charset="0"/>
                <a:ea typeface="Calibri" pitchFamily="34" charset="-122"/>
                <a:cs typeface="Calibri" pitchFamily="34" charset="-120"/>
              </a:rPr>
              <a:t>검색-생성 연결 방식</a:t>
            </a:r>
            <a:endParaRPr lang="en-US" sz="1200" dirty="0"/>
          </a:p>
        </p:txBody>
      </p:sp>
      <p:sp>
        <p:nvSpPr>
          <p:cNvPr id="39" name="Text 37"/>
          <p:cNvSpPr/>
          <p:nvPr/>
        </p:nvSpPr>
        <p:spPr>
          <a:xfrm>
            <a:off x="8375904" y="5760720"/>
            <a:ext cx="3154680" cy="411480"/>
          </a:xfrm>
          <a:prstGeom prst="rect">
            <a:avLst/>
          </a:prstGeom>
          <a:noFill/>
          <a:ln/>
        </p:spPr>
        <p:txBody>
          <a:bodyPr wrap="square" lIns="0" tIns="0" rIns="0" bIns="0" rtlCol="0" anchor="ctr"/>
          <a:lstStyle/>
          <a:p>
            <a:pPr indent="0" marL="0">
              <a:lnSpc>
                <a:spcPct val="115000"/>
              </a:lnSpc>
              <a:buNone/>
            </a:pPr>
            <a:r>
              <a:rPr lang="en-US" sz="1200" dirty="0">
                <a:solidFill>
                  <a:srgbClr val="065A82"/>
                </a:solidFill>
                <a:latin typeface="Calibri" pitchFamily="34" charset="0"/>
                <a:ea typeface="Calibri" pitchFamily="34" charset="-122"/>
                <a:cs typeface="Calibri" pitchFamily="34" charset="-120"/>
              </a:rPr>
              <a:t>1회성·반복·적응적(Self-RAG·CRAG)</a:t>
            </a:r>
            <a:endParaRPr lang="en-US" sz="1200" dirty="0"/>
          </a:p>
        </p:txBody>
      </p:sp>
      <p:sp>
        <p:nvSpPr>
          <p:cNvPr id="40" name="Text 38"/>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02 · NAIVE RAG</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Naive RAG — 가장 단순한 구조</a:t>
            </a:r>
            <a:endParaRPr lang="en-US" sz="2400" dirty="0"/>
          </a:p>
        </p:txBody>
      </p:sp>
      <p:sp>
        <p:nvSpPr>
          <p:cNvPr id="6" name="Shape 4"/>
          <p:cNvSpPr/>
          <p:nvPr/>
        </p:nvSpPr>
        <p:spPr>
          <a:xfrm>
            <a:off x="640080" y="1417320"/>
            <a:ext cx="1444752" cy="1371600"/>
          </a:xfrm>
          <a:prstGeom prst="roundRect">
            <a:avLst>
              <a:gd name="adj" fmla="val 5333"/>
            </a:avLst>
          </a:prstGeom>
          <a:solidFill>
            <a:srgbClr val="21295C"/>
          </a:solidFill>
          <a:ln/>
        </p:spPr>
      </p:sp>
      <p:pic>
        <p:nvPicPr>
          <p:cNvPr id="7" name="Image 0" descr="/home/claude/rag_deck/icon_file_white.png">    </p:cNvPr>
          <p:cNvPicPr>
            <a:picLocks noChangeAspect="1"/>
          </p:cNvPicPr>
          <p:nvPr/>
        </p:nvPicPr>
        <p:blipFill>
          <a:blip r:embed="rId1"/>
          <a:stretch>
            <a:fillRect/>
          </a:stretch>
        </p:blipFill>
        <p:spPr>
          <a:xfrm>
            <a:off x="1216152" y="1554480"/>
            <a:ext cx="292608" cy="292608"/>
          </a:xfrm>
          <a:prstGeom prst="rect">
            <a:avLst/>
          </a:prstGeom>
        </p:spPr>
      </p:pic>
      <p:sp>
        <p:nvSpPr>
          <p:cNvPr id="8" name="Text 5"/>
          <p:cNvSpPr/>
          <p:nvPr/>
        </p:nvSpPr>
        <p:spPr>
          <a:xfrm>
            <a:off x="694944"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학과 PDF</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업로드</a:t>
            </a:r>
            <a:endParaRPr lang="en-US" sz="1200" dirty="0"/>
          </a:p>
        </p:txBody>
      </p:sp>
      <p:sp>
        <p:nvSpPr>
          <p:cNvPr id="9" name="Shape 6"/>
          <p:cNvSpPr/>
          <p:nvPr/>
        </p:nvSpPr>
        <p:spPr>
          <a:xfrm>
            <a:off x="2084832" y="2103120"/>
            <a:ext cx="128016" cy="0"/>
          </a:xfrm>
          <a:prstGeom prst="line">
            <a:avLst/>
          </a:prstGeom>
          <a:noFill/>
          <a:ln w="15240">
            <a:solidFill>
              <a:srgbClr val="45506B"/>
            </a:solidFill>
            <a:prstDash val="solid"/>
            <a:tailEnd type="triangle"/>
          </a:ln>
        </p:spPr>
      </p:sp>
      <p:sp>
        <p:nvSpPr>
          <p:cNvPr id="10" name="Shape 7"/>
          <p:cNvSpPr/>
          <p:nvPr/>
        </p:nvSpPr>
        <p:spPr>
          <a:xfrm>
            <a:off x="2212848" y="1417320"/>
            <a:ext cx="1444752" cy="1371600"/>
          </a:xfrm>
          <a:prstGeom prst="roundRect">
            <a:avLst>
              <a:gd name="adj" fmla="val 5333"/>
            </a:avLst>
          </a:prstGeom>
          <a:solidFill>
            <a:srgbClr val="065A82"/>
          </a:solidFill>
          <a:ln/>
        </p:spPr>
      </p:sp>
      <p:pic>
        <p:nvPicPr>
          <p:cNvPr id="11" name="Image 1" descr="/home/claude/rag_deck/icon_scissors_white.png">    </p:cNvPr>
          <p:cNvPicPr>
            <a:picLocks noChangeAspect="1"/>
          </p:cNvPicPr>
          <p:nvPr/>
        </p:nvPicPr>
        <p:blipFill>
          <a:blip r:embed="rId2"/>
          <a:stretch>
            <a:fillRect/>
          </a:stretch>
        </p:blipFill>
        <p:spPr>
          <a:xfrm>
            <a:off x="2788920" y="1554480"/>
            <a:ext cx="292608" cy="292608"/>
          </a:xfrm>
          <a:prstGeom prst="rect">
            <a:avLst/>
          </a:prstGeom>
        </p:spPr>
      </p:pic>
      <p:sp>
        <p:nvSpPr>
          <p:cNvPr id="12" name="Text 8"/>
          <p:cNvSpPr/>
          <p:nvPr/>
        </p:nvSpPr>
        <p:spPr>
          <a:xfrm>
            <a:off x="2267712"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Chunking</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(조각내기)</a:t>
            </a:r>
            <a:endParaRPr lang="en-US" sz="1200" dirty="0"/>
          </a:p>
        </p:txBody>
      </p:sp>
      <p:sp>
        <p:nvSpPr>
          <p:cNvPr id="13" name="Shape 9"/>
          <p:cNvSpPr/>
          <p:nvPr/>
        </p:nvSpPr>
        <p:spPr>
          <a:xfrm>
            <a:off x="3657600" y="2103120"/>
            <a:ext cx="128016" cy="0"/>
          </a:xfrm>
          <a:prstGeom prst="line">
            <a:avLst/>
          </a:prstGeom>
          <a:noFill/>
          <a:ln w="15240">
            <a:solidFill>
              <a:srgbClr val="45506B"/>
            </a:solidFill>
            <a:prstDash val="solid"/>
            <a:tailEnd type="triangle"/>
          </a:ln>
        </p:spPr>
      </p:sp>
      <p:sp>
        <p:nvSpPr>
          <p:cNvPr id="14" name="Shape 10"/>
          <p:cNvSpPr/>
          <p:nvPr/>
        </p:nvSpPr>
        <p:spPr>
          <a:xfrm>
            <a:off x="3785616" y="1417320"/>
            <a:ext cx="1444752" cy="1371600"/>
          </a:xfrm>
          <a:prstGeom prst="roundRect">
            <a:avLst>
              <a:gd name="adj" fmla="val 5333"/>
            </a:avLst>
          </a:prstGeom>
          <a:solidFill>
            <a:srgbClr val="21295C"/>
          </a:solidFill>
          <a:ln/>
        </p:spPr>
      </p:sp>
      <p:pic>
        <p:nvPicPr>
          <p:cNvPr id="15" name="Image 2" descr="/home/claude/rag_deck/icon_hashtag_white.png">    </p:cNvPr>
          <p:cNvPicPr>
            <a:picLocks noChangeAspect="1"/>
          </p:cNvPicPr>
          <p:nvPr/>
        </p:nvPicPr>
        <p:blipFill>
          <a:blip r:embed="rId3"/>
          <a:stretch>
            <a:fillRect/>
          </a:stretch>
        </p:blipFill>
        <p:spPr>
          <a:xfrm>
            <a:off x="4361688" y="1554480"/>
            <a:ext cx="292608" cy="292608"/>
          </a:xfrm>
          <a:prstGeom prst="rect">
            <a:avLst/>
          </a:prstGeom>
        </p:spPr>
      </p:pic>
      <p:sp>
        <p:nvSpPr>
          <p:cNvPr id="16" name="Text 11"/>
          <p:cNvSpPr/>
          <p:nvPr/>
        </p:nvSpPr>
        <p:spPr>
          <a:xfrm>
            <a:off x="3840480"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Embedding</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(벡터화)</a:t>
            </a:r>
            <a:endParaRPr lang="en-US" sz="1200" dirty="0"/>
          </a:p>
        </p:txBody>
      </p:sp>
      <p:sp>
        <p:nvSpPr>
          <p:cNvPr id="17" name="Shape 12"/>
          <p:cNvSpPr/>
          <p:nvPr/>
        </p:nvSpPr>
        <p:spPr>
          <a:xfrm>
            <a:off x="5230368" y="2103120"/>
            <a:ext cx="128016" cy="0"/>
          </a:xfrm>
          <a:prstGeom prst="line">
            <a:avLst/>
          </a:prstGeom>
          <a:noFill/>
          <a:ln w="15240">
            <a:solidFill>
              <a:srgbClr val="45506B"/>
            </a:solidFill>
            <a:prstDash val="solid"/>
            <a:tailEnd type="triangle"/>
          </a:ln>
        </p:spPr>
      </p:sp>
      <p:sp>
        <p:nvSpPr>
          <p:cNvPr id="18" name="Shape 13"/>
          <p:cNvSpPr/>
          <p:nvPr/>
        </p:nvSpPr>
        <p:spPr>
          <a:xfrm>
            <a:off x="5358384" y="1417320"/>
            <a:ext cx="1444752" cy="1371600"/>
          </a:xfrm>
          <a:prstGeom prst="roundRect">
            <a:avLst>
              <a:gd name="adj" fmla="val 5333"/>
            </a:avLst>
          </a:prstGeom>
          <a:solidFill>
            <a:srgbClr val="065A82"/>
          </a:solidFill>
          <a:ln/>
        </p:spPr>
      </p:sp>
      <p:pic>
        <p:nvPicPr>
          <p:cNvPr id="19" name="Image 3" descr="/home/claude/rag_deck/icon_db_white.png">    </p:cNvPr>
          <p:cNvPicPr>
            <a:picLocks noChangeAspect="1"/>
          </p:cNvPicPr>
          <p:nvPr/>
        </p:nvPicPr>
        <p:blipFill>
          <a:blip r:embed="rId4"/>
          <a:stretch>
            <a:fillRect/>
          </a:stretch>
        </p:blipFill>
        <p:spPr>
          <a:xfrm>
            <a:off x="5934456" y="1554480"/>
            <a:ext cx="292608" cy="292608"/>
          </a:xfrm>
          <a:prstGeom prst="rect">
            <a:avLst/>
          </a:prstGeom>
        </p:spPr>
      </p:pic>
      <p:sp>
        <p:nvSpPr>
          <p:cNvPr id="20" name="Text 14"/>
          <p:cNvSpPr/>
          <p:nvPr/>
        </p:nvSpPr>
        <p:spPr>
          <a:xfrm>
            <a:off x="5413248"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Vector DB</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저장</a:t>
            </a:r>
            <a:endParaRPr lang="en-US" sz="1200" dirty="0"/>
          </a:p>
        </p:txBody>
      </p:sp>
      <p:sp>
        <p:nvSpPr>
          <p:cNvPr id="21" name="Shape 15"/>
          <p:cNvSpPr/>
          <p:nvPr/>
        </p:nvSpPr>
        <p:spPr>
          <a:xfrm>
            <a:off x="6803136" y="2103120"/>
            <a:ext cx="128016" cy="0"/>
          </a:xfrm>
          <a:prstGeom prst="line">
            <a:avLst/>
          </a:prstGeom>
          <a:noFill/>
          <a:ln w="15240">
            <a:solidFill>
              <a:srgbClr val="45506B"/>
            </a:solidFill>
            <a:prstDash val="solid"/>
            <a:tailEnd type="triangle"/>
          </a:ln>
        </p:spPr>
      </p:sp>
      <p:sp>
        <p:nvSpPr>
          <p:cNvPr id="22" name="Shape 16"/>
          <p:cNvSpPr/>
          <p:nvPr/>
        </p:nvSpPr>
        <p:spPr>
          <a:xfrm>
            <a:off x="6931152" y="1417320"/>
            <a:ext cx="1444752" cy="1371600"/>
          </a:xfrm>
          <a:prstGeom prst="roundRect">
            <a:avLst>
              <a:gd name="adj" fmla="val 5333"/>
            </a:avLst>
          </a:prstGeom>
          <a:solidFill>
            <a:srgbClr val="C98A2C"/>
          </a:solidFill>
          <a:ln/>
        </p:spPr>
      </p:sp>
      <p:pic>
        <p:nvPicPr>
          <p:cNvPr id="23" name="Image 4" descr="/home/claude/rag_deck/icon_commentalt_white.png">    </p:cNvPr>
          <p:cNvPicPr>
            <a:picLocks noChangeAspect="1"/>
          </p:cNvPicPr>
          <p:nvPr/>
        </p:nvPicPr>
        <p:blipFill>
          <a:blip r:embed="rId5"/>
          <a:stretch>
            <a:fillRect/>
          </a:stretch>
        </p:blipFill>
        <p:spPr>
          <a:xfrm>
            <a:off x="7507224" y="1554480"/>
            <a:ext cx="292608" cy="292608"/>
          </a:xfrm>
          <a:prstGeom prst="rect">
            <a:avLst/>
          </a:prstGeom>
        </p:spPr>
      </p:pic>
      <p:sp>
        <p:nvSpPr>
          <p:cNvPr id="24" name="Text 17"/>
          <p:cNvSpPr/>
          <p:nvPr/>
        </p:nvSpPr>
        <p:spPr>
          <a:xfrm>
            <a:off x="6986016"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학생 질문</a:t>
            </a:r>
            <a:endParaRPr lang="en-US" sz="1200" dirty="0"/>
          </a:p>
        </p:txBody>
      </p:sp>
      <p:sp>
        <p:nvSpPr>
          <p:cNvPr id="25" name="Shape 18"/>
          <p:cNvSpPr/>
          <p:nvPr/>
        </p:nvSpPr>
        <p:spPr>
          <a:xfrm>
            <a:off x="8375904" y="2103120"/>
            <a:ext cx="128016" cy="0"/>
          </a:xfrm>
          <a:prstGeom prst="line">
            <a:avLst/>
          </a:prstGeom>
          <a:noFill/>
          <a:ln w="15240">
            <a:solidFill>
              <a:srgbClr val="45506B"/>
            </a:solidFill>
            <a:prstDash val="solid"/>
            <a:tailEnd type="triangle"/>
          </a:ln>
        </p:spPr>
      </p:sp>
      <p:sp>
        <p:nvSpPr>
          <p:cNvPr id="26" name="Shape 19"/>
          <p:cNvSpPr/>
          <p:nvPr/>
        </p:nvSpPr>
        <p:spPr>
          <a:xfrm>
            <a:off x="8503920" y="1417320"/>
            <a:ext cx="1444752" cy="1371600"/>
          </a:xfrm>
          <a:prstGeom prst="roundRect">
            <a:avLst>
              <a:gd name="adj" fmla="val 5333"/>
            </a:avLst>
          </a:prstGeom>
          <a:solidFill>
            <a:srgbClr val="065A82"/>
          </a:solidFill>
          <a:ln/>
        </p:spPr>
      </p:sp>
      <p:pic>
        <p:nvPicPr>
          <p:cNvPr id="27" name="Image 5" descr="/home/claude/rag_deck/icon_search_white.png">    </p:cNvPr>
          <p:cNvPicPr>
            <a:picLocks noChangeAspect="1"/>
          </p:cNvPicPr>
          <p:nvPr/>
        </p:nvPicPr>
        <p:blipFill>
          <a:blip r:embed="rId6"/>
          <a:stretch>
            <a:fillRect/>
          </a:stretch>
        </p:blipFill>
        <p:spPr>
          <a:xfrm>
            <a:off x="9079992" y="1554480"/>
            <a:ext cx="292608" cy="292608"/>
          </a:xfrm>
          <a:prstGeom prst="rect">
            <a:avLst/>
          </a:prstGeom>
        </p:spPr>
      </p:pic>
      <p:sp>
        <p:nvSpPr>
          <p:cNvPr id="28" name="Text 20"/>
          <p:cNvSpPr/>
          <p:nvPr/>
        </p:nvSpPr>
        <p:spPr>
          <a:xfrm>
            <a:off x="8558784"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관련 chunk</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검색</a:t>
            </a:r>
            <a:endParaRPr lang="en-US" sz="1200" dirty="0"/>
          </a:p>
        </p:txBody>
      </p:sp>
      <p:sp>
        <p:nvSpPr>
          <p:cNvPr id="29" name="Shape 21"/>
          <p:cNvSpPr/>
          <p:nvPr/>
        </p:nvSpPr>
        <p:spPr>
          <a:xfrm>
            <a:off x="9948672" y="2103120"/>
            <a:ext cx="128016" cy="0"/>
          </a:xfrm>
          <a:prstGeom prst="line">
            <a:avLst/>
          </a:prstGeom>
          <a:noFill/>
          <a:ln w="15240">
            <a:solidFill>
              <a:srgbClr val="45506B"/>
            </a:solidFill>
            <a:prstDash val="solid"/>
            <a:tailEnd type="triangle"/>
          </a:ln>
        </p:spPr>
      </p:sp>
      <p:sp>
        <p:nvSpPr>
          <p:cNvPr id="30" name="Shape 22"/>
          <p:cNvSpPr/>
          <p:nvPr/>
        </p:nvSpPr>
        <p:spPr>
          <a:xfrm>
            <a:off x="10076688" y="1417320"/>
            <a:ext cx="1444752" cy="1371600"/>
          </a:xfrm>
          <a:prstGeom prst="roundRect">
            <a:avLst>
              <a:gd name="adj" fmla="val 5333"/>
            </a:avLst>
          </a:prstGeom>
          <a:solidFill>
            <a:srgbClr val="21295C"/>
          </a:solidFill>
          <a:ln/>
        </p:spPr>
      </p:sp>
      <p:pic>
        <p:nvPicPr>
          <p:cNvPr id="31" name="Image 6" descr="/home/claude/rag_deck/icon_robot_white.png">    </p:cNvPr>
          <p:cNvPicPr>
            <a:picLocks noChangeAspect="1"/>
          </p:cNvPicPr>
          <p:nvPr/>
        </p:nvPicPr>
        <p:blipFill>
          <a:blip r:embed="rId7"/>
          <a:stretch>
            <a:fillRect/>
          </a:stretch>
        </p:blipFill>
        <p:spPr>
          <a:xfrm>
            <a:off x="10652760" y="1554480"/>
            <a:ext cx="292608" cy="292608"/>
          </a:xfrm>
          <a:prstGeom prst="rect">
            <a:avLst/>
          </a:prstGeom>
        </p:spPr>
      </p:pic>
      <p:sp>
        <p:nvSpPr>
          <p:cNvPr id="32" name="Text 23"/>
          <p:cNvSpPr/>
          <p:nvPr/>
        </p:nvSpPr>
        <p:spPr>
          <a:xfrm>
            <a:off x="10131552" y="1947672"/>
            <a:ext cx="1335024" cy="77724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LLM 답변</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생성</a:t>
            </a:r>
            <a:endParaRPr lang="en-US" sz="1200" dirty="0"/>
          </a:p>
        </p:txBody>
      </p:sp>
      <p:sp>
        <p:nvSpPr>
          <p:cNvPr id="33" name="Text 24"/>
          <p:cNvSpPr/>
          <p:nvPr/>
        </p:nvSpPr>
        <p:spPr>
          <a:xfrm>
            <a:off x="640080" y="3108960"/>
            <a:ext cx="7315200" cy="36576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한계 — Naive RAG가 놓치는 것들</a:t>
            </a:r>
            <a:endParaRPr lang="en-US" sz="1450" dirty="0"/>
          </a:p>
        </p:txBody>
      </p:sp>
      <p:sp>
        <p:nvSpPr>
          <p:cNvPr id="34" name="Shape 25"/>
          <p:cNvSpPr/>
          <p:nvPr/>
        </p:nvSpPr>
        <p:spPr>
          <a:xfrm>
            <a:off x="640080" y="3566160"/>
            <a:ext cx="2084832" cy="1508760"/>
          </a:xfrm>
          <a:prstGeom prst="roundRect">
            <a:avLst>
              <a:gd name="adj" fmla="val 4242"/>
            </a:avLst>
          </a:prstGeom>
          <a:solidFill>
            <a:srgbClr val="FBEFE0"/>
          </a:solidFill>
          <a:ln/>
        </p:spPr>
      </p:sp>
      <p:sp>
        <p:nvSpPr>
          <p:cNvPr id="35" name="Shape 26"/>
          <p:cNvSpPr/>
          <p:nvPr/>
        </p:nvSpPr>
        <p:spPr>
          <a:xfrm>
            <a:off x="1536192" y="3703320"/>
            <a:ext cx="292608" cy="292608"/>
          </a:xfrm>
          <a:prstGeom prst="ellipse">
            <a:avLst/>
          </a:prstGeom>
          <a:solidFill>
            <a:srgbClr val="9C6B00"/>
          </a:solidFill>
          <a:ln/>
        </p:spPr>
      </p:sp>
      <p:pic>
        <p:nvPicPr>
          <p:cNvPr id="36" name="Image 7" descr="/home/claude/rag_deck/icon_warn_white.png">    </p:cNvPr>
          <p:cNvPicPr>
            <a:picLocks noChangeAspect="1"/>
          </p:cNvPicPr>
          <p:nvPr/>
        </p:nvPicPr>
        <p:blipFill>
          <a:blip r:embed="rId8"/>
          <a:stretch>
            <a:fillRect/>
          </a:stretch>
        </p:blipFill>
        <p:spPr>
          <a:xfrm>
            <a:off x="1600200" y="3767328"/>
            <a:ext cx="164592" cy="164592"/>
          </a:xfrm>
          <a:prstGeom prst="rect">
            <a:avLst/>
          </a:prstGeom>
        </p:spPr>
      </p:pic>
      <p:sp>
        <p:nvSpPr>
          <p:cNvPr id="37" name="Text 27"/>
          <p:cNvSpPr/>
          <p:nvPr/>
        </p:nvSpPr>
        <p:spPr>
          <a:xfrm>
            <a:off x="731520" y="4096512"/>
            <a:ext cx="1901952" cy="365760"/>
          </a:xfrm>
          <a:prstGeom prst="rect">
            <a:avLst/>
          </a:prstGeom>
          <a:noFill/>
          <a:ln/>
        </p:spPr>
        <p:txBody>
          <a:bodyPr wrap="square" lIns="0" tIns="0" rIns="0" bIns="0" rtlCol="0" anchor="ctr"/>
          <a:lstStyle/>
          <a:p>
            <a:pPr algn="ctr" indent="0" marL="0">
              <a:buNone/>
            </a:pPr>
            <a:r>
              <a:rPr lang="en-US" sz="1250" b="1" dirty="0">
                <a:solidFill>
                  <a:srgbClr val="6B4A1A"/>
                </a:solidFill>
                <a:latin typeface="Cambria" pitchFamily="34" charset="0"/>
                <a:ea typeface="Cambria" pitchFamily="34" charset="-122"/>
                <a:cs typeface="Cambria" pitchFamily="34" charset="-120"/>
              </a:rPr>
              <a:t>검색 품질 낮음</a:t>
            </a:r>
            <a:endParaRPr lang="en-US" sz="1250" dirty="0"/>
          </a:p>
        </p:txBody>
      </p:sp>
      <p:sp>
        <p:nvSpPr>
          <p:cNvPr id="38" name="Text 28"/>
          <p:cNvSpPr/>
          <p:nvPr/>
        </p:nvSpPr>
        <p:spPr>
          <a:xfrm>
            <a:off x="758952" y="4480560"/>
            <a:ext cx="1847088" cy="548640"/>
          </a:xfrm>
          <a:prstGeom prst="rect">
            <a:avLst/>
          </a:prstGeom>
          <a:noFill/>
          <a:ln/>
        </p:spPr>
        <p:txBody>
          <a:bodyPr wrap="square" lIns="0" tIns="0" rIns="0" bIns="0" rtlCol="0" anchor="ctr"/>
          <a:lstStyle/>
          <a:p>
            <a:pPr algn="ctr" indent="0" marL="0">
              <a:lnSpc>
                <a:spcPct val="120000"/>
              </a:lnSpc>
              <a:buNone/>
            </a:pPr>
            <a:r>
              <a:rPr lang="en-US" sz="1150" dirty="0">
                <a:solidFill>
                  <a:srgbClr val="6B4A1A"/>
                </a:solidFill>
                <a:latin typeface="Calibri" pitchFamily="34" charset="0"/>
                <a:ea typeface="Calibri" pitchFamily="34" charset="-122"/>
                <a:cs typeface="Calibri" pitchFamily="34" charset="-120"/>
              </a:rPr>
              <a:t>엉뚱한 문서를 가져올 수 있음</a:t>
            </a:r>
            <a:endParaRPr lang="en-US" sz="1150" dirty="0"/>
          </a:p>
        </p:txBody>
      </p:sp>
      <p:sp>
        <p:nvSpPr>
          <p:cNvPr id="39" name="Shape 29"/>
          <p:cNvSpPr/>
          <p:nvPr/>
        </p:nvSpPr>
        <p:spPr>
          <a:xfrm>
            <a:off x="2834640" y="3566160"/>
            <a:ext cx="2084832" cy="1508760"/>
          </a:xfrm>
          <a:prstGeom prst="roundRect">
            <a:avLst>
              <a:gd name="adj" fmla="val 4242"/>
            </a:avLst>
          </a:prstGeom>
          <a:solidFill>
            <a:srgbClr val="FBEFE0"/>
          </a:solidFill>
          <a:ln/>
        </p:spPr>
      </p:sp>
      <p:sp>
        <p:nvSpPr>
          <p:cNvPr id="40" name="Shape 30"/>
          <p:cNvSpPr/>
          <p:nvPr/>
        </p:nvSpPr>
        <p:spPr>
          <a:xfrm>
            <a:off x="3730752" y="3703320"/>
            <a:ext cx="292608" cy="292608"/>
          </a:xfrm>
          <a:prstGeom prst="ellipse">
            <a:avLst/>
          </a:prstGeom>
          <a:solidFill>
            <a:srgbClr val="9C6B00"/>
          </a:solidFill>
          <a:ln/>
        </p:spPr>
      </p:sp>
      <p:pic>
        <p:nvPicPr>
          <p:cNvPr id="41" name="Image 8" descr="/home/claude/rag_deck/icon_warn_white.png">    </p:cNvPr>
          <p:cNvPicPr>
            <a:picLocks noChangeAspect="1"/>
          </p:cNvPicPr>
          <p:nvPr/>
        </p:nvPicPr>
        <p:blipFill>
          <a:blip r:embed="rId9"/>
          <a:stretch>
            <a:fillRect/>
          </a:stretch>
        </p:blipFill>
        <p:spPr>
          <a:xfrm>
            <a:off x="3794760" y="3767328"/>
            <a:ext cx="164592" cy="164592"/>
          </a:xfrm>
          <a:prstGeom prst="rect">
            <a:avLst/>
          </a:prstGeom>
        </p:spPr>
      </p:pic>
      <p:sp>
        <p:nvSpPr>
          <p:cNvPr id="42" name="Text 31"/>
          <p:cNvSpPr/>
          <p:nvPr/>
        </p:nvSpPr>
        <p:spPr>
          <a:xfrm>
            <a:off x="2926080" y="4096512"/>
            <a:ext cx="1901952" cy="365760"/>
          </a:xfrm>
          <a:prstGeom prst="rect">
            <a:avLst/>
          </a:prstGeom>
          <a:noFill/>
          <a:ln/>
        </p:spPr>
        <p:txBody>
          <a:bodyPr wrap="square" lIns="0" tIns="0" rIns="0" bIns="0" rtlCol="0" anchor="ctr"/>
          <a:lstStyle/>
          <a:p>
            <a:pPr algn="ctr" indent="0" marL="0">
              <a:buNone/>
            </a:pPr>
            <a:r>
              <a:rPr lang="en-US" sz="1250" b="1" dirty="0">
                <a:solidFill>
                  <a:srgbClr val="6B4A1A"/>
                </a:solidFill>
                <a:latin typeface="Cambria" pitchFamily="34" charset="0"/>
                <a:ea typeface="Cambria" pitchFamily="34" charset="-122"/>
                <a:cs typeface="Cambria" pitchFamily="34" charset="-120"/>
              </a:rPr>
              <a:t>Chunk 크기 문제</a:t>
            </a:r>
            <a:endParaRPr lang="en-US" sz="1250" dirty="0"/>
          </a:p>
        </p:txBody>
      </p:sp>
      <p:sp>
        <p:nvSpPr>
          <p:cNvPr id="43" name="Text 32"/>
          <p:cNvSpPr/>
          <p:nvPr/>
        </p:nvSpPr>
        <p:spPr>
          <a:xfrm>
            <a:off x="2953512" y="4480560"/>
            <a:ext cx="1847088" cy="548640"/>
          </a:xfrm>
          <a:prstGeom prst="rect">
            <a:avLst/>
          </a:prstGeom>
          <a:noFill/>
          <a:ln/>
        </p:spPr>
        <p:txBody>
          <a:bodyPr wrap="square" lIns="0" tIns="0" rIns="0" bIns="0" rtlCol="0" anchor="ctr"/>
          <a:lstStyle/>
          <a:p>
            <a:pPr algn="ctr" indent="0" marL="0">
              <a:lnSpc>
                <a:spcPct val="120000"/>
              </a:lnSpc>
              <a:buNone/>
            </a:pPr>
            <a:r>
              <a:rPr lang="en-US" sz="1150" dirty="0">
                <a:solidFill>
                  <a:srgbClr val="6B4A1A"/>
                </a:solidFill>
                <a:latin typeface="Calibri" pitchFamily="34" charset="0"/>
                <a:ea typeface="Calibri" pitchFamily="34" charset="-122"/>
                <a:cs typeface="Calibri" pitchFamily="34" charset="-120"/>
              </a:rPr>
              <a:t>너무 작거나 크면 답변 품질 저하</a:t>
            </a:r>
            <a:endParaRPr lang="en-US" sz="1150" dirty="0"/>
          </a:p>
        </p:txBody>
      </p:sp>
      <p:sp>
        <p:nvSpPr>
          <p:cNvPr id="44" name="Shape 33"/>
          <p:cNvSpPr/>
          <p:nvPr/>
        </p:nvSpPr>
        <p:spPr>
          <a:xfrm>
            <a:off x="5029200" y="3566160"/>
            <a:ext cx="2084832" cy="1508760"/>
          </a:xfrm>
          <a:prstGeom prst="roundRect">
            <a:avLst>
              <a:gd name="adj" fmla="val 4242"/>
            </a:avLst>
          </a:prstGeom>
          <a:solidFill>
            <a:srgbClr val="FBEFE0"/>
          </a:solidFill>
          <a:ln/>
        </p:spPr>
      </p:sp>
      <p:sp>
        <p:nvSpPr>
          <p:cNvPr id="45" name="Shape 34"/>
          <p:cNvSpPr/>
          <p:nvPr/>
        </p:nvSpPr>
        <p:spPr>
          <a:xfrm>
            <a:off x="5925312" y="3703320"/>
            <a:ext cx="292608" cy="292608"/>
          </a:xfrm>
          <a:prstGeom prst="ellipse">
            <a:avLst/>
          </a:prstGeom>
          <a:solidFill>
            <a:srgbClr val="9C6B00"/>
          </a:solidFill>
          <a:ln/>
        </p:spPr>
      </p:sp>
      <p:pic>
        <p:nvPicPr>
          <p:cNvPr id="46" name="Image 9" descr="/home/claude/rag_deck/icon_warn_white.png">    </p:cNvPr>
          <p:cNvPicPr>
            <a:picLocks noChangeAspect="1"/>
          </p:cNvPicPr>
          <p:nvPr/>
        </p:nvPicPr>
        <p:blipFill>
          <a:blip r:embed="rId10"/>
          <a:stretch>
            <a:fillRect/>
          </a:stretch>
        </p:blipFill>
        <p:spPr>
          <a:xfrm>
            <a:off x="5989320" y="3767328"/>
            <a:ext cx="164592" cy="164592"/>
          </a:xfrm>
          <a:prstGeom prst="rect">
            <a:avLst/>
          </a:prstGeom>
        </p:spPr>
      </p:pic>
      <p:sp>
        <p:nvSpPr>
          <p:cNvPr id="47" name="Text 35"/>
          <p:cNvSpPr/>
          <p:nvPr/>
        </p:nvSpPr>
        <p:spPr>
          <a:xfrm>
            <a:off x="5120640" y="4096512"/>
            <a:ext cx="1901952" cy="365760"/>
          </a:xfrm>
          <a:prstGeom prst="rect">
            <a:avLst/>
          </a:prstGeom>
          <a:noFill/>
          <a:ln/>
        </p:spPr>
        <p:txBody>
          <a:bodyPr wrap="square" lIns="0" tIns="0" rIns="0" bIns="0" rtlCol="0" anchor="ctr"/>
          <a:lstStyle/>
          <a:p>
            <a:pPr algn="ctr" indent="0" marL="0">
              <a:buNone/>
            </a:pPr>
            <a:r>
              <a:rPr lang="en-US" sz="1250" b="1" dirty="0">
                <a:solidFill>
                  <a:srgbClr val="6B4A1A"/>
                </a:solidFill>
                <a:latin typeface="Cambria" pitchFamily="34" charset="0"/>
                <a:ea typeface="Cambria" pitchFamily="34" charset="-122"/>
                <a:cs typeface="Cambria" pitchFamily="34" charset="-120"/>
              </a:rPr>
              <a:t>문맥 부족</a:t>
            </a:r>
            <a:endParaRPr lang="en-US" sz="1250" dirty="0"/>
          </a:p>
        </p:txBody>
      </p:sp>
      <p:sp>
        <p:nvSpPr>
          <p:cNvPr id="48" name="Text 36"/>
          <p:cNvSpPr/>
          <p:nvPr/>
        </p:nvSpPr>
        <p:spPr>
          <a:xfrm>
            <a:off x="5148072" y="4480560"/>
            <a:ext cx="1847088" cy="548640"/>
          </a:xfrm>
          <a:prstGeom prst="rect">
            <a:avLst/>
          </a:prstGeom>
          <a:noFill/>
          <a:ln/>
        </p:spPr>
        <p:txBody>
          <a:bodyPr wrap="square" lIns="0" tIns="0" rIns="0" bIns="0" rtlCol="0" anchor="ctr"/>
          <a:lstStyle/>
          <a:p>
            <a:pPr algn="ctr" indent="0" marL="0">
              <a:lnSpc>
                <a:spcPct val="120000"/>
              </a:lnSpc>
              <a:buNone/>
            </a:pPr>
            <a:r>
              <a:rPr lang="en-US" sz="1150" dirty="0">
                <a:solidFill>
                  <a:srgbClr val="6B4A1A"/>
                </a:solidFill>
                <a:latin typeface="Calibri" pitchFamily="34" charset="0"/>
                <a:ea typeface="Calibri" pitchFamily="34" charset="-122"/>
                <a:cs typeface="Calibri" pitchFamily="34" charset="-120"/>
              </a:rPr>
              <a:t>필요한 정보가 여러 문서에 흩어져 있음</a:t>
            </a:r>
            <a:endParaRPr lang="en-US" sz="1150" dirty="0"/>
          </a:p>
        </p:txBody>
      </p:sp>
      <p:sp>
        <p:nvSpPr>
          <p:cNvPr id="49" name="Shape 37"/>
          <p:cNvSpPr/>
          <p:nvPr/>
        </p:nvSpPr>
        <p:spPr>
          <a:xfrm>
            <a:off x="7223760" y="3566160"/>
            <a:ext cx="2084832" cy="1508760"/>
          </a:xfrm>
          <a:prstGeom prst="roundRect">
            <a:avLst>
              <a:gd name="adj" fmla="val 4242"/>
            </a:avLst>
          </a:prstGeom>
          <a:solidFill>
            <a:srgbClr val="FBEFE0"/>
          </a:solidFill>
          <a:ln/>
        </p:spPr>
      </p:sp>
      <p:sp>
        <p:nvSpPr>
          <p:cNvPr id="50" name="Shape 38"/>
          <p:cNvSpPr/>
          <p:nvPr/>
        </p:nvSpPr>
        <p:spPr>
          <a:xfrm>
            <a:off x="8119872" y="3703320"/>
            <a:ext cx="292608" cy="292608"/>
          </a:xfrm>
          <a:prstGeom prst="ellipse">
            <a:avLst/>
          </a:prstGeom>
          <a:solidFill>
            <a:srgbClr val="9C6B00"/>
          </a:solidFill>
          <a:ln/>
        </p:spPr>
      </p:sp>
      <p:pic>
        <p:nvPicPr>
          <p:cNvPr id="51" name="Image 10" descr="/home/claude/rag_deck/icon_warn_white.png">    </p:cNvPr>
          <p:cNvPicPr>
            <a:picLocks noChangeAspect="1"/>
          </p:cNvPicPr>
          <p:nvPr/>
        </p:nvPicPr>
        <p:blipFill>
          <a:blip r:embed="rId11"/>
          <a:stretch>
            <a:fillRect/>
          </a:stretch>
        </p:blipFill>
        <p:spPr>
          <a:xfrm>
            <a:off x="8183880" y="3767328"/>
            <a:ext cx="164592" cy="164592"/>
          </a:xfrm>
          <a:prstGeom prst="rect">
            <a:avLst/>
          </a:prstGeom>
        </p:spPr>
      </p:pic>
      <p:sp>
        <p:nvSpPr>
          <p:cNvPr id="52" name="Text 39"/>
          <p:cNvSpPr/>
          <p:nvPr/>
        </p:nvSpPr>
        <p:spPr>
          <a:xfrm>
            <a:off x="7315200" y="4096512"/>
            <a:ext cx="1901952" cy="365760"/>
          </a:xfrm>
          <a:prstGeom prst="rect">
            <a:avLst/>
          </a:prstGeom>
          <a:noFill/>
          <a:ln/>
        </p:spPr>
        <p:txBody>
          <a:bodyPr wrap="square" lIns="0" tIns="0" rIns="0" bIns="0" rtlCol="0" anchor="ctr"/>
          <a:lstStyle/>
          <a:p>
            <a:pPr algn="ctr" indent="0" marL="0">
              <a:buNone/>
            </a:pPr>
            <a:r>
              <a:rPr lang="en-US" sz="1250" b="1" dirty="0">
                <a:solidFill>
                  <a:srgbClr val="6B4A1A"/>
                </a:solidFill>
                <a:latin typeface="Cambria" pitchFamily="34" charset="0"/>
                <a:ea typeface="Cambria" pitchFamily="34" charset="-122"/>
                <a:cs typeface="Cambria" pitchFamily="34" charset="-120"/>
              </a:rPr>
              <a:t>중복 검색</a:t>
            </a:r>
            <a:endParaRPr lang="en-US" sz="1250" dirty="0"/>
          </a:p>
        </p:txBody>
      </p:sp>
      <p:sp>
        <p:nvSpPr>
          <p:cNvPr id="53" name="Text 40"/>
          <p:cNvSpPr/>
          <p:nvPr/>
        </p:nvSpPr>
        <p:spPr>
          <a:xfrm>
            <a:off x="7342632" y="4480560"/>
            <a:ext cx="1847088" cy="548640"/>
          </a:xfrm>
          <a:prstGeom prst="rect">
            <a:avLst/>
          </a:prstGeom>
          <a:noFill/>
          <a:ln/>
        </p:spPr>
        <p:txBody>
          <a:bodyPr wrap="square" lIns="0" tIns="0" rIns="0" bIns="0" rtlCol="0" anchor="ctr"/>
          <a:lstStyle/>
          <a:p>
            <a:pPr algn="ctr" indent="0" marL="0">
              <a:lnSpc>
                <a:spcPct val="120000"/>
              </a:lnSpc>
              <a:buNone/>
            </a:pPr>
            <a:r>
              <a:rPr lang="en-US" sz="1150" dirty="0">
                <a:solidFill>
                  <a:srgbClr val="6B4A1A"/>
                </a:solidFill>
                <a:latin typeface="Calibri" pitchFamily="34" charset="0"/>
                <a:ea typeface="Calibri" pitchFamily="34" charset="-122"/>
                <a:cs typeface="Calibri" pitchFamily="34" charset="-120"/>
              </a:rPr>
              <a:t>비슷한 문서만 여러 개 가져옴</a:t>
            </a:r>
            <a:endParaRPr lang="en-US" sz="1150" dirty="0"/>
          </a:p>
        </p:txBody>
      </p:sp>
      <p:sp>
        <p:nvSpPr>
          <p:cNvPr id="54" name="Shape 41"/>
          <p:cNvSpPr/>
          <p:nvPr/>
        </p:nvSpPr>
        <p:spPr>
          <a:xfrm>
            <a:off x="9418320" y="3566160"/>
            <a:ext cx="2084832" cy="1508760"/>
          </a:xfrm>
          <a:prstGeom prst="roundRect">
            <a:avLst>
              <a:gd name="adj" fmla="val 4242"/>
            </a:avLst>
          </a:prstGeom>
          <a:solidFill>
            <a:srgbClr val="FBEFE0"/>
          </a:solidFill>
          <a:ln/>
        </p:spPr>
      </p:sp>
      <p:sp>
        <p:nvSpPr>
          <p:cNvPr id="55" name="Shape 42"/>
          <p:cNvSpPr/>
          <p:nvPr/>
        </p:nvSpPr>
        <p:spPr>
          <a:xfrm>
            <a:off x="10314432" y="3703320"/>
            <a:ext cx="292608" cy="292608"/>
          </a:xfrm>
          <a:prstGeom prst="ellipse">
            <a:avLst/>
          </a:prstGeom>
          <a:solidFill>
            <a:srgbClr val="9C6B00"/>
          </a:solidFill>
          <a:ln/>
        </p:spPr>
      </p:sp>
      <p:pic>
        <p:nvPicPr>
          <p:cNvPr id="56" name="Image 11" descr="/home/claude/rag_deck/icon_warn_white.png">    </p:cNvPr>
          <p:cNvPicPr>
            <a:picLocks noChangeAspect="1"/>
          </p:cNvPicPr>
          <p:nvPr/>
        </p:nvPicPr>
        <p:blipFill>
          <a:blip r:embed="rId12"/>
          <a:stretch>
            <a:fillRect/>
          </a:stretch>
        </p:blipFill>
        <p:spPr>
          <a:xfrm>
            <a:off x="10378440" y="3767328"/>
            <a:ext cx="164592" cy="164592"/>
          </a:xfrm>
          <a:prstGeom prst="rect">
            <a:avLst/>
          </a:prstGeom>
        </p:spPr>
      </p:pic>
      <p:sp>
        <p:nvSpPr>
          <p:cNvPr id="57" name="Text 43"/>
          <p:cNvSpPr/>
          <p:nvPr/>
        </p:nvSpPr>
        <p:spPr>
          <a:xfrm>
            <a:off x="9509760" y="4096512"/>
            <a:ext cx="1901952" cy="365760"/>
          </a:xfrm>
          <a:prstGeom prst="rect">
            <a:avLst/>
          </a:prstGeom>
          <a:noFill/>
          <a:ln/>
        </p:spPr>
        <p:txBody>
          <a:bodyPr wrap="square" lIns="0" tIns="0" rIns="0" bIns="0" rtlCol="0" anchor="ctr"/>
          <a:lstStyle/>
          <a:p>
            <a:pPr algn="ctr" indent="0" marL="0">
              <a:buNone/>
            </a:pPr>
            <a:r>
              <a:rPr lang="en-US" sz="1250" b="1" dirty="0">
                <a:solidFill>
                  <a:srgbClr val="6B4A1A"/>
                </a:solidFill>
                <a:latin typeface="Cambria" pitchFamily="34" charset="0"/>
                <a:ea typeface="Cambria" pitchFamily="34" charset="-122"/>
                <a:cs typeface="Cambria" pitchFamily="34" charset="-120"/>
              </a:rPr>
              <a:t>환각 가능성</a:t>
            </a:r>
            <a:endParaRPr lang="en-US" sz="1250" dirty="0"/>
          </a:p>
        </p:txBody>
      </p:sp>
      <p:sp>
        <p:nvSpPr>
          <p:cNvPr id="58" name="Text 44"/>
          <p:cNvSpPr/>
          <p:nvPr/>
        </p:nvSpPr>
        <p:spPr>
          <a:xfrm>
            <a:off x="9537192" y="4480560"/>
            <a:ext cx="1847088" cy="548640"/>
          </a:xfrm>
          <a:prstGeom prst="rect">
            <a:avLst/>
          </a:prstGeom>
          <a:noFill/>
          <a:ln/>
        </p:spPr>
        <p:txBody>
          <a:bodyPr wrap="square" lIns="0" tIns="0" rIns="0" bIns="0" rtlCol="0" anchor="ctr"/>
          <a:lstStyle/>
          <a:p>
            <a:pPr algn="ctr" indent="0" marL="0">
              <a:lnSpc>
                <a:spcPct val="120000"/>
              </a:lnSpc>
              <a:buNone/>
            </a:pPr>
            <a:r>
              <a:rPr lang="en-US" sz="1150" dirty="0">
                <a:solidFill>
                  <a:srgbClr val="6B4A1A"/>
                </a:solidFill>
                <a:latin typeface="Calibri" pitchFamily="34" charset="0"/>
                <a:ea typeface="Calibri" pitchFamily="34" charset="-122"/>
                <a:cs typeface="Calibri" pitchFamily="34" charset="-120"/>
              </a:rPr>
              <a:t>검색 결과가 부족하면 LLM이 지어낼 수 있음</a:t>
            </a:r>
            <a:endParaRPr lang="en-US" sz="1150" dirty="0"/>
          </a:p>
        </p:txBody>
      </p:sp>
      <p:sp>
        <p:nvSpPr>
          <p:cNvPr id="59" name="Text 45"/>
          <p:cNvSpPr/>
          <p:nvPr/>
        </p:nvSpPr>
        <p:spPr>
          <a:xfrm>
            <a:off x="640080" y="5257800"/>
            <a:ext cx="10881360" cy="457200"/>
          </a:xfrm>
          <a:prstGeom prst="rect">
            <a:avLst/>
          </a:prstGeom>
          <a:noFill/>
          <a:ln/>
        </p:spPr>
        <p:txBody>
          <a:bodyPr wrap="square" lIns="0" tIns="0" rIns="0" bIns="0" rtlCol="0" anchor="ctr"/>
          <a:lstStyle/>
          <a:p>
            <a:pPr indent="0" marL="0">
              <a:buNone/>
            </a:pPr>
            <a:r>
              <a:rPr lang="en-US" sz="1350" dirty="0">
                <a:solidFill>
                  <a:srgbClr val="45506B"/>
                </a:solidFill>
                <a:latin typeface="Calibri" pitchFamily="34" charset="0"/>
                <a:ea typeface="Calibri" pitchFamily="34" charset="-122"/>
                <a:cs typeface="Calibri" pitchFamily="34" charset="-120"/>
              </a:rPr>
              <a:t>이 다섯 가지 한계를 개선하려는 시도가 Advanced/Modular RAG, 그리고 오늘 살펴볼 HyDE·Self-RAG·CRAG·RAPTOR다.</a:t>
            </a:r>
            <a:endParaRPr lang="en-US" sz="1350" dirty="0"/>
          </a:p>
        </p:txBody>
      </p:sp>
      <p:sp>
        <p:nvSpPr>
          <p:cNvPr id="60" name="Text 46"/>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02 · ADVANCED RAG</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200" b="1" dirty="0">
                <a:solidFill>
                  <a:srgbClr val="18213D"/>
                </a:solidFill>
                <a:latin typeface="Cambria" pitchFamily="34" charset="0"/>
                <a:ea typeface="Cambria" pitchFamily="34" charset="-122"/>
                <a:cs typeface="Cambria" pitchFamily="34" charset="-120"/>
              </a:rPr>
              <a:t>Advanced RAG — 검색 전·중·후를 개선하다</a:t>
            </a:r>
            <a:endParaRPr lang="en-US" sz="2200" dirty="0"/>
          </a:p>
        </p:txBody>
      </p:sp>
      <p:sp>
        <p:nvSpPr>
          <p:cNvPr id="6" name="Text 4"/>
          <p:cNvSpPr/>
          <p:nvPr/>
        </p:nvSpPr>
        <p:spPr>
          <a:xfrm>
            <a:off x="640080" y="1298448"/>
            <a:ext cx="10058400" cy="32004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검색하고 답하는 게 아니라, 검색 전·검색 중·검색 후 각각을 다듬는다</a:t>
            </a:r>
            <a:endParaRPr lang="en-US" sz="1400" dirty="0"/>
          </a:p>
        </p:txBody>
      </p:sp>
      <p:sp>
        <p:nvSpPr>
          <p:cNvPr id="7" name="Shape 5"/>
          <p:cNvSpPr/>
          <p:nvPr/>
        </p:nvSpPr>
        <p:spPr>
          <a:xfrm>
            <a:off x="640080" y="1783080"/>
            <a:ext cx="3520440" cy="3749040"/>
          </a:xfrm>
          <a:prstGeom prst="roundRect">
            <a:avLst>
              <a:gd name="adj" fmla="val 2338"/>
            </a:avLst>
          </a:prstGeom>
          <a:solidFill>
            <a:srgbClr val="F4F7FA"/>
          </a:solidFill>
          <a:ln/>
        </p:spPr>
      </p:sp>
      <p:sp>
        <p:nvSpPr>
          <p:cNvPr id="8" name="Text 6"/>
          <p:cNvSpPr/>
          <p:nvPr/>
        </p:nvSpPr>
        <p:spPr>
          <a:xfrm>
            <a:off x="822960" y="1947672"/>
            <a:ext cx="3154680" cy="3200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Pre-Retrieval</a:t>
            </a:r>
            <a:endParaRPr lang="en-US" sz="1450" dirty="0"/>
          </a:p>
        </p:txBody>
      </p:sp>
      <p:sp>
        <p:nvSpPr>
          <p:cNvPr id="9" name="Text 7"/>
          <p:cNvSpPr/>
          <p:nvPr/>
        </p:nvSpPr>
        <p:spPr>
          <a:xfrm>
            <a:off x="822960" y="2286000"/>
            <a:ext cx="3154680" cy="411480"/>
          </a:xfrm>
          <a:prstGeom prst="rect">
            <a:avLst/>
          </a:prstGeom>
          <a:noFill/>
          <a:ln/>
        </p:spPr>
        <p:txBody>
          <a:bodyPr wrap="square" lIns="0" tIns="0" rIns="0" bIns="0" rtlCol="0" anchor="ctr"/>
          <a:lstStyle/>
          <a:p>
            <a:pPr indent="0" marL="0">
              <a:lnSpc>
                <a:spcPct val="120000"/>
              </a:lnSpc>
              <a:buNone/>
            </a:pPr>
            <a:r>
              <a:rPr lang="en-US" sz="1200" dirty="0">
                <a:solidFill>
                  <a:srgbClr val="45506B"/>
                </a:solidFill>
                <a:latin typeface="Calibri" pitchFamily="34" charset="0"/>
                <a:ea typeface="Calibri" pitchFamily="34" charset="-122"/>
                <a:cs typeface="Calibri" pitchFamily="34" charset="-120"/>
              </a:rPr>
              <a:t>검색 전 질문·문서를 잘 준비</a:t>
            </a:r>
            <a:endParaRPr lang="en-US" sz="1200" dirty="0"/>
          </a:p>
        </p:txBody>
      </p:sp>
      <p:sp>
        <p:nvSpPr>
          <p:cNvPr id="10" name="Shape 8"/>
          <p:cNvSpPr/>
          <p:nvPr/>
        </p:nvSpPr>
        <p:spPr>
          <a:xfrm>
            <a:off x="841248" y="2843784"/>
            <a:ext cx="73152" cy="73152"/>
          </a:xfrm>
          <a:prstGeom prst="ellipse">
            <a:avLst/>
          </a:prstGeom>
          <a:solidFill>
            <a:srgbClr val="1C7293"/>
          </a:solidFill>
          <a:ln/>
        </p:spPr>
      </p:sp>
      <p:sp>
        <p:nvSpPr>
          <p:cNvPr id="11" name="Text 9"/>
          <p:cNvSpPr/>
          <p:nvPr/>
        </p:nvSpPr>
        <p:spPr>
          <a:xfrm>
            <a:off x="1005840" y="2734056"/>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좋은 Chunking</a:t>
            </a:r>
            <a:endParaRPr lang="en-US" sz="1250" dirty="0"/>
          </a:p>
        </p:txBody>
      </p:sp>
      <p:sp>
        <p:nvSpPr>
          <p:cNvPr id="12" name="Shape 10"/>
          <p:cNvSpPr/>
          <p:nvPr/>
        </p:nvSpPr>
        <p:spPr>
          <a:xfrm>
            <a:off x="841248" y="3410712"/>
            <a:ext cx="73152" cy="73152"/>
          </a:xfrm>
          <a:prstGeom prst="ellipse">
            <a:avLst/>
          </a:prstGeom>
          <a:solidFill>
            <a:srgbClr val="1C7293"/>
          </a:solidFill>
          <a:ln/>
        </p:spPr>
      </p:sp>
      <p:sp>
        <p:nvSpPr>
          <p:cNvPr id="13" name="Text 11"/>
          <p:cNvSpPr/>
          <p:nvPr/>
        </p:nvSpPr>
        <p:spPr>
          <a:xfrm>
            <a:off x="1005840" y="3300984"/>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Metadata 추가</a:t>
            </a:r>
            <a:endParaRPr lang="en-US" sz="1250" dirty="0"/>
          </a:p>
        </p:txBody>
      </p:sp>
      <p:sp>
        <p:nvSpPr>
          <p:cNvPr id="14" name="Shape 12"/>
          <p:cNvSpPr/>
          <p:nvPr/>
        </p:nvSpPr>
        <p:spPr>
          <a:xfrm>
            <a:off x="841248" y="3977640"/>
            <a:ext cx="73152" cy="73152"/>
          </a:xfrm>
          <a:prstGeom prst="ellipse">
            <a:avLst/>
          </a:prstGeom>
          <a:solidFill>
            <a:srgbClr val="1C7293"/>
          </a:solidFill>
          <a:ln/>
        </p:spPr>
      </p:sp>
      <p:sp>
        <p:nvSpPr>
          <p:cNvPr id="15" name="Text 13"/>
          <p:cNvSpPr/>
          <p:nvPr/>
        </p:nvSpPr>
        <p:spPr>
          <a:xfrm>
            <a:off x="1005840" y="3867912"/>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Query Rewrite</a:t>
            </a:r>
            <a:endParaRPr lang="en-US" sz="1250" dirty="0"/>
          </a:p>
        </p:txBody>
      </p:sp>
      <p:sp>
        <p:nvSpPr>
          <p:cNvPr id="16" name="Shape 14"/>
          <p:cNvSpPr/>
          <p:nvPr/>
        </p:nvSpPr>
        <p:spPr>
          <a:xfrm>
            <a:off x="841248" y="4544568"/>
            <a:ext cx="73152" cy="73152"/>
          </a:xfrm>
          <a:prstGeom prst="ellipse">
            <a:avLst/>
          </a:prstGeom>
          <a:solidFill>
            <a:srgbClr val="1C7293"/>
          </a:solidFill>
          <a:ln/>
        </p:spPr>
      </p:sp>
      <p:sp>
        <p:nvSpPr>
          <p:cNvPr id="17" name="Text 15"/>
          <p:cNvSpPr/>
          <p:nvPr/>
        </p:nvSpPr>
        <p:spPr>
          <a:xfrm>
            <a:off x="1005840" y="4434840"/>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HyDE</a:t>
            </a:r>
            <a:endParaRPr lang="en-US" sz="1250" dirty="0"/>
          </a:p>
        </p:txBody>
      </p:sp>
      <p:sp>
        <p:nvSpPr>
          <p:cNvPr id="18" name="Shape 16"/>
          <p:cNvSpPr/>
          <p:nvPr/>
        </p:nvSpPr>
        <p:spPr>
          <a:xfrm>
            <a:off x="4416552" y="1783080"/>
            <a:ext cx="3520440" cy="3749040"/>
          </a:xfrm>
          <a:prstGeom prst="roundRect">
            <a:avLst>
              <a:gd name="adj" fmla="val 2338"/>
            </a:avLst>
          </a:prstGeom>
          <a:solidFill>
            <a:srgbClr val="21295C"/>
          </a:solidFill>
          <a:ln/>
        </p:spPr>
      </p:sp>
      <p:sp>
        <p:nvSpPr>
          <p:cNvPr id="19" name="Text 17"/>
          <p:cNvSpPr/>
          <p:nvPr/>
        </p:nvSpPr>
        <p:spPr>
          <a:xfrm>
            <a:off x="4599432" y="1947672"/>
            <a:ext cx="3154680" cy="3200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Retrieval</a:t>
            </a:r>
            <a:endParaRPr lang="en-US" sz="1450" dirty="0"/>
          </a:p>
        </p:txBody>
      </p:sp>
      <p:sp>
        <p:nvSpPr>
          <p:cNvPr id="20" name="Text 18"/>
          <p:cNvSpPr/>
          <p:nvPr/>
        </p:nvSpPr>
        <p:spPr>
          <a:xfrm>
            <a:off x="4599432" y="2286000"/>
            <a:ext cx="3154680" cy="411480"/>
          </a:xfrm>
          <a:prstGeom prst="rect">
            <a:avLst/>
          </a:prstGeom>
          <a:noFill/>
          <a:ln/>
        </p:spPr>
        <p:txBody>
          <a:bodyPr wrap="square" lIns="0" tIns="0" rIns="0" bIns="0" rtlCol="0" anchor="ctr"/>
          <a:lstStyle/>
          <a:p>
            <a:pPr indent="0" marL="0">
              <a:lnSpc>
                <a:spcPct val="120000"/>
              </a:lnSpc>
              <a:buNone/>
            </a:pPr>
            <a:r>
              <a:rPr lang="en-US" sz="1200" dirty="0">
                <a:solidFill>
                  <a:srgbClr val="CFE3ED"/>
                </a:solidFill>
                <a:latin typeface="Calibri" pitchFamily="34" charset="0"/>
                <a:ea typeface="Calibri" pitchFamily="34" charset="-122"/>
                <a:cs typeface="Calibri" pitchFamily="34" charset="-120"/>
              </a:rPr>
              <a:t>실제로 문서를 찾는 단계</a:t>
            </a:r>
            <a:endParaRPr lang="en-US" sz="1200" dirty="0"/>
          </a:p>
        </p:txBody>
      </p:sp>
      <p:sp>
        <p:nvSpPr>
          <p:cNvPr id="21" name="Shape 19"/>
          <p:cNvSpPr/>
          <p:nvPr/>
        </p:nvSpPr>
        <p:spPr>
          <a:xfrm>
            <a:off x="4617720" y="2843784"/>
            <a:ext cx="73152" cy="73152"/>
          </a:xfrm>
          <a:prstGeom prst="ellipse">
            <a:avLst/>
          </a:prstGeom>
          <a:solidFill>
            <a:srgbClr val="C98A2C"/>
          </a:solidFill>
          <a:ln/>
        </p:spPr>
      </p:sp>
      <p:sp>
        <p:nvSpPr>
          <p:cNvPr id="22" name="Text 20"/>
          <p:cNvSpPr/>
          <p:nvPr/>
        </p:nvSpPr>
        <p:spPr>
          <a:xfrm>
            <a:off x="4782312" y="2734056"/>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Dense Retrieval</a:t>
            </a:r>
            <a:endParaRPr lang="en-US" sz="1250" dirty="0"/>
          </a:p>
        </p:txBody>
      </p:sp>
      <p:sp>
        <p:nvSpPr>
          <p:cNvPr id="23" name="Shape 21"/>
          <p:cNvSpPr/>
          <p:nvPr/>
        </p:nvSpPr>
        <p:spPr>
          <a:xfrm>
            <a:off x="4617720" y="3410712"/>
            <a:ext cx="73152" cy="73152"/>
          </a:xfrm>
          <a:prstGeom prst="ellipse">
            <a:avLst/>
          </a:prstGeom>
          <a:solidFill>
            <a:srgbClr val="C98A2C"/>
          </a:solidFill>
          <a:ln/>
        </p:spPr>
      </p:sp>
      <p:sp>
        <p:nvSpPr>
          <p:cNvPr id="24" name="Text 22"/>
          <p:cNvSpPr/>
          <p:nvPr/>
        </p:nvSpPr>
        <p:spPr>
          <a:xfrm>
            <a:off x="4782312" y="3300984"/>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Sparse Retrieval(BM25)</a:t>
            </a:r>
            <a:endParaRPr lang="en-US" sz="1250" dirty="0"/>
          </a:p>
        </p:txBody>
      </p:sp>
      <p:sp>
        <p:nvSpPr>
          <p:cNvPr id="25" name="Shape 23"/>
          <p:cNvSpPr/>
          <p:nvPr/>
        </p:nvSpPr>
        <p:spPr>
          <a:xfrm>
            <a:off x="4617720" y="3977640"/>
            <a:ext cx="73152" cy="73152"/>
          </a:xfrm>
          <a:prstGeom prst="ellipse">
            <a:avLst/>
          </a:prstGeom>
          <a:solidFill>
            <a:srgbClr val="C98A2C"/>
          </a:solidFill>
          <a:ln/>
        </p:spPr>
      </p:sp>
      <p:sp>
        <p:nvSpPr>
          <p:cNvPr id="26" name="Text 24"/>
          <p:cNvSpPr/>
          <p:nvPr/>
        </p:nvSpPr>
        <p:spPr>
          <a:xfrm>
            <a:off x="4782312" y="3867912"/>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Hybrid Search</a:t>
            </a:r>
            <a:endParaRPr lang="en-US" sz="1250" dirty="0"/>
          </a:p>
        </p:txBody>
      </p:sp>
      <p:sp>
        <p:nvSpPr>
          <p:cNvPr id="27" name="Shape 25"/>
          <p:cNvSpPr/>
          <p:nvPr/>
        </p:nvSpPr>
        <p:spPr>
          <a:xfrm>
            <a:off x="4617720" y="4544568"/>
            <a:ext cx="73152" cy="73152"/>
          </a:xfrm>
          <a:prstGeom prst="ellipse">
            <a:avLst/>
          </a:prstGeom>
          <a:solidFill>
            <a:srgbClr val="C98A2C"/>
          </a:solidFill>
          <a:ln/>
        </p:spPr>
      </p:sp>
      <p:sp>
        <p:nvSpPr>
          <p:cNvPr id="28" name="Text 26"/>
          <p:cNvSpPr/>
          <p:nvPr/>
        </p:nvSpPr>
        <p:spPr>
          <a:xfrm>
            <a:off x="4782312" y="4434840"/>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Reranking</a:t>
            </a:r>
            <a:endParaRPr lang="en-US" sz="1250" dirty="0"/>
          </a:p>
        </p:txBody>
      </p:sp>
      <p:sp>
        <p:nvSpPr>
          <p:cNvPr id="29" name="Shape 27"/>
          <p:cNvSpPr/>
          <p:nvPr/>
        </p:nvSpPr>
        <p:spPr>
          <a:xfrm>
            <a:off x="8193024" y="1783080"/>
            <a:ext cx="3520440" cy="3749040"/>
          </a:xfrm>
          <a:prstGeom prst="roundRect">
            <a:avLst>
              <a:gd name="adj" fmla="val 2338"/>
            </a:avLst>
          </a:prstGeom>
          <a:solidFill>
            <a:srgbClr val="F4F7FA"/>
          </a:solidFill>
          <a:ln/>
        </p:spPr>
      </p:sp>
      <p:sp>
        <p:nvSpPr>
          <p:cNvPr id="30" name="Text 28"/>
          <p:cNvSpPr/>
          <p:nvPr/>
        </p:nvSpPr>
        <p:spPr>
          <a:xfrm>
            <a:off x="8375904" y="1947672"/>
            <a:ext cx="3154680" cy="3200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Post-Retrieval</a:t>
            </a:r>
            <a:endParaRPr lang="en-US" sz="1450" dirty="0"/>
          </a:p>
        </p:txBody>
      </p:sp>
      <p:sp>
        <p:nvSpPr>
          <p:cNvPr id="31" name="Text 29"/>
          <p:cNvSpPr/>
          <p:nvPr/>
        </p:nvSpPr>
        <p:spPr>
          <a:xfrm>
            <a:off x="8375904" y="2286000"/>
            <a:ext cx="3154680" cy="411480"/>
          </a:xfrm>
          <a:prstGeom prst="rect">
            <a:avLst/>
          </a:prstGeom>
          <a:noFill/>
          <a:ln/>
        </p:spPr>
        <p:txBody>
          <a:bodyPr wrap="square" lIns="0" tIns="0" rIns="0" bIns="0" rtlCol="0" anchor="ctr"/>
          <a:lstStyle/>
          <a:p>
            <a:pPr indent="0" marL="0">
              <a:lnSpc>
                <a:spcPct val="120000"/>
              </a:lnSpc>
              <a:buNone/>
            </a:pPr>
            <a:r>
              <a:rPr lang="en-US" sz="1200" dirty="0">
                <a:solidFill>
                  <a:srgbClr val="45506B"/>
                </a:solidFill>
                <a:latin typeface="Calibri" pitchFamily="34" charset="0"/>
                <a:ea typeface="Calibri" pitchFamily="34" charset="-122"/>
                <a:cs typeface="Calibri" pitchFamily="34" charset="-120"/>
              </a:rPr>
              <a:t>찾은 문서를 정리해서 넣는 단계</a:t>
            </a:r>
            <a:endParaRPr lang="en-US" sz="1200" dirty="0"/>
          </a:p>
        </p:txBody>
      </p:sp>
      <p:sp>
        <p:nvSpPr>
          <p:cNvPr id="32" name="Shape 30"/>
          <p:cNvSpPr/>
          <p:nvPr/>
        </p:nvSpPr>
        <p:spPr>
          <a:xfrm>
            <a:off x="8394192" y="2843784"/>
            <a:ext cx="73152" cy="73152"/>
          </a:xfrm>
          <a:prstGeom prst="ellipse">
            <a:avLst/>
          </a:prstGeom>
          <a:solidFill>
            <a:srgbClr val="1C7293"/>
          </a:solidFill>
          <a:ln/>
        </p:spPr>
      </p:sp>
      <p:sp>
        <p:nvSpPr>
          <p:cNvPr id="33" name="Text 31"/>
          <p:cNvSpPr/>
          <p:nvPr/>
        </p:nvSpPr>
        <p:spPr>
          <a:xfrm>
            <a:off x="8558784" y="2734056"/>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Rerank</a:t>
            </a:r>
            <a:endParaRPr lang="en-US" sz="1250" dirty="0"/>
          </a:p>
        </p:txBody>
      </p:sp>
      <p:sp>
        <p:nvSpPr>
          <p:cNvPr id="34" name="Shape 32"/>
          <p:cNvSpPr/>
          <p:nvPr/>
        </p:nvSpPr>
        <p:spPr>
          <a:xfrm>
            <a:off x="8394192" y="3410712"/>
            <a:ext cx="73152" cy="73152"/>
          </a:xfrm>
          <a:prstGeom prst="ellipse">
            <a:avLst/>
          </a:prstGeom>
          <a:solidFill>
            <a:srgbClr val="1C7293"/>
          </a:solidFill>
          <a:ln/>
        </p:spPr>
      </p:sp>
      <p:sp>
        <p:nvSpPr>
          <p:cNvPr id="35" name="Text 33"/>
          <p:cNvSpPr/>
          <p:nvPr/>
        </p:nvSpPr>
        <p:spPr>
          <a:xfrm>
            <a:off x="8558784" y="3300984"/>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Filter</a:t>
            </a:r>
            <a:endParaRPr lang="en-US" sz="1250" dirty="0"/>
          </a:p>
        </p:txBody>
      </p:sp>
      <p:sp>
        <p:nvSpPr>
          <p:cNvPr id="36" name="Shape 34"/>
          <p:cNvSpPr/>
          <p:nvPr/>
        </p:nvSpPr>
        <p:spPr>
          <a:xfrm>
            <a:off x="8394192" y="3977640"/>
            <a:ext cx="73152" cy="73152"/>
          </a:xfrm>
          <a:prstGeom prst="ellipse">
            <a:avLst/>
          </a:prstGeom>
          <a:solidFill>
            <a:srgbClr val="1C7293"/>
          </a:solidFill>
          <a:ln/>
        </p:spPr>
      </p:sp>
      <p:sp>
        <p:nvSpPr>
          <p:cNvPr id="37" name="Text 35"/>
          <p:cNvSpPr/>
          <p:nvPr/>
        </p:nvSpPr>
        <p:spPr>
          <a:xfrm>
            <a:off x="8558784" y="3867912"/>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Compression</a:t>
            </a:r>
            <a:endParaRPr lang="en-US" sz="1250" dirty="0"/>
          </a:p>
        </p:txBody>
      </p:sp>
      <p:sp>
        <p:nvSpPr>
          <p:cNvPr id="38" name="Shape 36"/>
          <p:cNvSpPr/>
          <p:nvPr/>
        </p:nvSpPr>
        <p:spPr>
          <a:xfrm>
            <a:off x="8394192" y="4544568"/>
            <a:ext cx="73152" cy="73152"/>
          </a:xfrm>
          <a:prstGeom prst="ellipse">
            <a:avLst/>
          </a:prstGeom>
          <a:solidFill>
            <a:srgbClr val="1C7293"/>
          </a:solidFill>
          <a:ln/>
        </p:spPr>
      </p:sp>
      <p:sp>
        <p:nvSpPr>
          <p:cNvPr id="39" name="Text 37"/>
          <p:cNvSpPr/>
          <p:nvPr/>
        </p:nvSpPr>
        <p:spPr>
          <a:xfrm>
            <a:off x="8558784" y="4434840"/>
            <a:ext cx="2971800" cy="411480"/>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Deduplication</a:t>
            </a:r>
            <a:endParaRPr lang="en-US" sz="1250" dirty="0"/>
          </a:p>
        </p:txBody>
      </p:sp>
      <p:sp>
        <p:nvSpPr>
          <p:cNvPr id="40" name="Text 38"/>
          <p:cNvSpPr/>
          <p:nvPr/>
        </p:nvSpPr>
        <p:spPr>
          <a:xfrm>
            <a:off x="640080" y="5715000"/>
            <a:ext cx="10881360" cy="365760"/>
          </a:xfrm>
          <a:prstGeom prst="rect">
            <a:avLst/>
          </a:prstGeom>
          <a:noFill/>
          <a:ln/>
        </p:spPr>
        <p:txBody>
          <a:bodyPr wrap="square" lIns="0" tIns="0" rIns="0" bIns="0" rtlCol="0" anchor="ctr"/>
          <a:lstStyle/>
          <a:p>
            <a:pPr indent="0" marL="0">
              <a:buNone/>
            </a:pPr>
            <a:r>
              <a:rPr lang="en-US" sz="1350" dirty="0">
                <a:solidFill>
                  <a:srgbClr val="45506B"/>
                </a:solidFill>
                <a:latin typeface="Calibri" pitchFamily="34" charset="0"/>
                <a:ea typeface="Calibri" pitchFamily="34" charset="-122"/>
                <a:cs typeface="Calibri" pitchFamily="34" charset="-120"/>
              </a:rPr>
              <a:t>실무에서는 보통 Hybrid Search + Reranker 조합이 성능이 좋다.</a:t>
            </a:r>
            <a:endParaRPr lang="en-US" sz="1350" dirty="0"/>
          </a:p>
        </p:txBody>
      </p:sp>
      <p:sp>
        <p:nvSpPr>
          <p:cNvPr id="41" name="Text 39"/>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02 · MODULAR RAG</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200" b="1" dirty="0">
                <a:solidFill>
                  <a:srgbClr val="18213D"/>
                </a:solidFill>
                <a:latin typeface="Cambria" pitchFamily="34" charset="0"/>
                <a:ea typeface="Cambria" pitchFamily="34" charset="-122"/>
                <a:cs typeface="Cambria" pitchFamily="34" charset="-120"/>
              </a:rPr>
              <a:t>Modular RAG — 모듈을 자유롭게 조합하다</a:t>
            </a:r>
            <a:endParaRPr lang="en-US" sz="2200" dirty="0"/>
          </a:p>
        </p:txBody>
      </p:sp>
      <p:sp>
        <p:nvSpPr>
          <p:cNvPr id="6" name="Text 4"/>
          <p:cNvSpPr/>
          <p:nvPr/>
        </p:nvSpPr>
        <p:spPr>
          <a:xfrm>
            <a:off x="640080" y="1298448"/>
            <a:ext cx="10058400" cy="32004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고정된 하나의 파이프라인이 아니라, 상황에 맞게 모듈을 조합하는 방식</a:t>
            </a:r>
            <a:endParaRPr lang="en-US" sz="1400" dirty="0"/>
          </a:p>
        </p:txBody>
      </p:sp>
      <p:sp>
        <p:nvSpPr>
          <p:cNvPr id="7" name="Shape 5"/>
          <p:cNvSpPr/>
          <p:nvPr/>
        </p:nvSpPr>
        <p:spPr>
          <a:xfrm>
            <a:off x="640080" y="1737360"/>
            <a:ext cx="10881360" cy="548640"/>
          </a:xfrm>
          <a:prstGeom prst="roundRect">
            <a:avLst>
              <a:gd name="adj" fmla="val 10000"/>
            </a:avLst>
          </a:prstGeom>
          <a:solidFill>
            <a:srgbClr val="F4F7FA"/>
          </a:solidFill>
          <a:ln/>
        </p:spPr>
      </p:sp>
      <p:sp>
        <p:nvSpPr>
          <p:cNvPr id="8" name="Text 6"/>
          <p:cNvSpPr/>
          <p:nvPr/>
        </p:nvSpPr>
        <p:spPr>
          <a:xfrm>
            <a:off x="868680" y="1737360"/>
            <a:ext cx="10424160" cy="5486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“컴퓨터공학과랑 AI학과 차이가 뭐야?”</a:t>
            </a:r>
            <a:endParaRPr lang="en-US" sz="1450" dirty="0"/>
          </a:p>
        </p:txBody>
      </p:sp>
      <p:sp>
        <p:nvSpPr>
          <p:cNvPr id="9" name="Shape 7"/>
          <p:cNvSpPr/>
          <p:nvPr/>
        </p:nvSpPr>
        <p:spPr>
          <a:xfrm>
            <a:off x="640080" y="2423160"/>
            <a:ext cx="5257800" cy="2788920"/>
          </a:xfrm>
          <a:prstGeom prst="roundRect">
            <a:avLst>
              <a:gd name="adj" fmla="val 3279"/>
            </a:avLst>
          </a:prstGeom>
          <a:solidFill>
            <a:srgbClr val="FBEFE0"/>
          </a:solidFill>
          <a:ln/>
        </p:spPr>
      </p:sp>
      <p:sp>
        <p:nvSpPr>
          <p:cNvPr id="10" name="Text 8"/>
          <p:cNvSpPr/>
          <p:nvPr/>
        </p:nvSpPr>
        <p:spPr>
          <a:xfrm>
            <a:off x="868680" y="2587752"/>
            <a:ext cx="4800600" cy="320040"/>
          </a:xfrm>
          <a:prstGeom prst="rect">
            <a:avLst/>
          </a:prstGeom>
          <a:noFill/>
          <a:ln/>
        </p:spPr>
        <p:txBody>
          <a:bodyPr wrap="square" lIns="0" tIns="0" rIns="0" bIns="0" rtlCol="0" anchor="ctr"/>
          <a:lstStyle/>
          <a:p>
            <a:pPr indent="0" marL="0">
              <a:buNone/>
            </a:pPr>
            <a:r>
              <a:rPr lang="en-US" sz="1450" b="1" dirty="0">
                <a:solidFill>
                  <a:srgbClr val="9C6B00"/>
                </a:solidFill>
                <a:latin typeface="Cambria" pitchFamily="34" charset="0"/>
                <a:ea typeface="Cambria" pitchFamily="34" charset="-122"/>
                <a:cs typeface="Cambria" pitchFamily="34" charset="-120"/>
              </a:rPr>
              <a:t>Naive RAG라면</a:t>
            </a:r>
            <a:endParaRPr lang="en-US" sz="1450" dirty="0"/>
          </a:p>
        </p:txBody>
      </p:sp>
      <p:sp>
        <p:nvSpPr>
          <p:cNvPr id="11" name="Shape 9"/>
          <p:cNvSpPr/>
          <p:nvPr/>
        </p:nvSpPr>
        <p:spPr>
          <a:xfrm>
            <a:off x="2903220" y="3246120"/>
            <a:ext cx="731520" cy="731520"/>
          </a:xfrm>
          <a:prstGeom prst="ellipse">
            <a:avLst/>
          </a:prstGeom>
          <a:solidFill>
            <a:srgbClr val="E8C88A"/>
          </a:solidFill>
          <a:ln/>
        </p:spPr>
      </p:sp>
      <p:pic>
        <p:nvPicPr>
          <p:cNvPr id="12" name="Image 0" descr="/home/claude/rag_deck/icon_search_navy.png">    </p:cNvPr>
          <p:cNvPicPr>
            <a:picLocks noChangeAspect="1"/>
          </p:cNvPicPr>
          <p:nvPr/>
        </p:nvPicPr>
        <p:blipFill>
          <a:blip r:embed="rId1"/>
          <a:stretch>
            <a:fillRect/>
          </a:stretch>
        </p:blipFill>
        <p:spPr>
          <a:xfrm>
            <a:off x="3086100" y="3429000"/>
            <a:ext cx="365760" cy="365760"/>
          </a:xfrm>
          <a:prstGeom prst="rect">
            <a:avLst/>
          </a:prstGeom>
        </p:spPr>
      </p:pic>
      <p:sp>
        <p:nvSpPr>
          <p:cNvPr id="13" name="Text 10"/>
          <p:cNvSpPr/>
          <p:nvPr/>
        </p:nvSpPr>
        <p:spPr>
          <a:xfrm>
            <a:off x="868680" y="4114800"/>
            <a:ext cx="4800600" cy="320040"/>
          </a:xfrm>
          <a:prstGeom prst="rect">
            <a:avLst/>
          </a:prstGeom>
          <a:noFill/>
          <a:ln/>
        </p:spPr>
        <p:txBody>
          <a:bodyPr wrap="square" lIns="0" tIns="0" rIns="0" bIns="0" rtlCol="0" anchor="ctr"/>
          <a:lstStyle/>
          <a:p>
            <a:pPr algn="ctr" indent="0" marL="0">
              <a:buNone/>
            </a:pPr>
            <a:r>
              <a:rPr lang="en-US" sz="1350" dirty="0">
                <a:solidFill>
                  <a:srgbClr val="6B4A1A"/>
                </a:solidFill>
                <a:latin typeface="Calibri" pitchFamily="34" charset="0"/>
                <a:ea typeface="Calibri" pitchFamily="34" charset="-122"/>
                <a:cs typeface="Calibri" pitchFamily="34" charset="-120"/>
              </a:rPr>
              <a:t>그냥 검색하고 답한다</a:t>
            </a:r>
            <a:endParaRPr lang="en-US" sz="1350" dirty="0"/>
          </a:p>
        </p:txBody>
      </p:sp>
      <p:sp>
        <p:nvSpPr>
          <p:cNvPr id="14" name="Text 11"/>
          <p:cNvSpPr/>
          <p:nvPr/>
        </p:nvSpPr>
        <p:spPr>
          <a:xfrm>
            <a:off x="960120" y="4480560"/>
            <a:ext cx="4617720" cy="548640"/>
          </a:xfrm>
          <a:prstGeom prst="rect">
            <a:avLst/>
          </a:prstGeom>
          <a:noFill/>
          <a:ln/>
        </p:spPr>
        <p:txBody>
          <a:bodyPr wrap="square" lIns="0" tIns="0" rIns="0" bIns="0" rtlCol="0" anchor="ctr"/>
          <a:lstStyle/>
          <a:p>
            <a:pPr algn="ctr" indent="0" marL="0">
              <a:lnSpc>
                <a:spcPct val="120000"/>
              </a:lnSpc>
              <a:buNone/>
            </a:pPr>
            <a:r>
              <a:rPr lang="en-US" sz="1200" dirty="0">
                <a:solidFill>
                  <a:srgbClr val="6B4A1A"/>
                </a:solidFill>
                <a:latin typeface="Calibri" pitchFamily="34" charset="0"/>
                <a:ea typeface="Calibri" pitchFamily="34" charset="-122"/>
                <a:cs typeface="Calibri" pitchFamily="34" charset="-120"/>
              </a:rPr>
              <a:t>두 학과 정보가 섞인 문서만 검색되어 비교가 어색해질 수 있다</a:t>
            </a:r>
            <a:endParaRPr lang="en-US" sz="1200" dirty="0"/>
          </a:p>
        </p:txBody>
      </p:sp>
      <p:sp>
        <p:nvSpPr>
          <p:cNvPr id="15" name="Shape 12"/>
          <p:cNvSpPr/>
          <p:nvPr/>
        </p:nvSpPr>
        <p:spPr>
          <a:xfrm>
            <a:off x="6263640" y="2423160"/>
            <a:ext cx="5257800" cy="2788920"/>
          </a:xfrm>
          <a:prstGeom prst="roundRect">
            <a:avLst>
              <a:gd name="adj" fmla="val 3279"/>
            </a:avLst>
          </a:prstGeom>
          <a:solidFill>
            <a:srgbClr val="21295C"/>
          </a:solidFill>
          <a:ln/>
        </p:spPr>
      </p:sp>
      <p:sp>
        <p:nvSpPr>
          <p:cNvPr id="16" name="Text 13"/>
          <p:cNvSpPr/>
          <p:nvPr/>
        </p:nvSpPr>
        <p:spPr>
          <a:xfrm>
            <a:off x="6492240" y="2542032"/>
            <a:ext cx="4800600" cy="45720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mbria" pitchFamily="34" charset="0"/>
                <a:ea typeface="Cambria" pitchFamily="34" charset="-122"/>
                <a:cs typeface="Cambria" pitchFamily="34" charset="-120"/>
              </a:rPr>
              <a:t>Modular RAG라면 — Comparison Module 사용</a:t>
            </a:r>
            <a:endParaRPr lang="en-US" sz="1250" dirty="0"/>
          </a:p>
        </p:txBody>
      </p:sp>
      <p:sp>
        <p:nvSpPr>
          <p:cNvPr id="17" name="Text 14"/>
          <p:cNvSpPr/>
          <p:nvPr/>
        </p:nvSpPr>
        <p:spPr>
          <a:xfrm>
            <a:off x="6537960" y="3044952"/>
            <a:ext cx="4709160" cy="329184"/>
          </a:xfrm>
          <a:prstGeom prst="rect">
            <a:avLst/>
          </a:prstGeom>
          <a:noFill/>
          <a:ln/>
        </p:spPr>
        <p:txBody>
          <a:bodyPr wrap="square" lIns="0" tIns="0" rIns="0" bIns="0" rtlCol="0" anchor="ctr"/>
          <a:lstStyle/>
          <a:p>
            <a:pPr indent="0" marL="0">
              <a:buNone/>
            </a:pPr>
            <a:r>
              <a:rPr lang="en-US" sz="1250" dirty="0">
                <a:solidFill>
                  <a:srgbClr val="CFE3ED"/>
                </a:solidFill>
                <a:latin typeface="Calibri" pitchFamily="34" charset="0"/>
                <a:ea typeface="Calibri" pitchFamily="34" charset="-122"/>
                <a:cs typeface="Calibri" pitchFamily="34" charset="-120"/>
              </a:rPr>
              <a:t>① 질문이 비교형인지 판단</a:t>
            </a:r>
            <a:endParaRPr lang="en-US" sz="1250" dirty="0"/>
          </a:p>
        </p:txBody>
      </p:sp>
      <p:sp>
        <p:nvSpPr>
          <p:cNvPr id="18" name="Text 15"/>
          <p:cNvSpPr/>
          <p:nvPr/>
        </p:nvSpPr>
        <p:spPr>
          <a:xfrm>
            <a:off x="6537960" y="3392424"/>
            <a:ext cx="4709160" cy="329184"/>
          </a:xfrm>
          <a:prstGeom prst="rect">
            <a:avLst/>
          </a:prstGeom>
          <a:noFill/>
          <a:ln/>
        </p:spPr>
        <p:txBody>
          <a:bodyPr wrap="square" lIns="0" tIns="0" rIns="0" bIns="0" rtlCol="0" anchor="ctr"/>
          <a:lstStyle/>
          <a:p>
            <a:pPr indent="0" marL="0">
              <a:buNone/>
            </a:pPr>
            <a:r>
              <a:rPr lang="en-US" sz="1250" dirty="0">
                <a:solidFill>
                  <a:srgbClr val="CFE3ED"/>
                </a:solidFill>
                <a:latin typeface="Calibri" pitchFamily="34" charset="0"/>
                <a:ea typeface="Calibri" pitchFamily="34" charset="-122"/>
                <a:cs typeface="Calibri" pitchFamily="34" charset="-120"/>
              </a:rPr>
              <a:t>② 컴퓨터공학과 자료 검색</a:t>
            </a:r>
            <a:endParaRPr lang="en-US" sz="1250" dirty="0"/>
          </a:p>
        </p:txBody>
      </p:sp>
      <p:sp>
        <p:nvSpPr>
          <p:cNvPr id="19" name="Text 16"/>
          <p:cNvSpPr/>
          <p:nvPr/>
        </p:nvSpPr>
        <p:spPr>
          <a:xfrm>
            <a:off x="6537960" y="3739896"/>
            <a:ext cx="4709160" cy="329184"/>
          </a:xfrm>
          <a:prstGeom prst="rect">
            <a:avLst/>
          </a:prstGeom>
          <a:noFill/>
          <a:ln/>
        </p:spPr>
        <p:txBody>
          <a:bodyPr wrap="square" lIns="0" tIns="0" rIns="0" bIns="0" rtlCol="0" anchor="ctr"/>
          <a:lstStyle/>
          <a:p>
            <a:pPr indent="0" marL="0">
              <a:buNone/>
            </a:pPr>
            <a:r>
              <a:rPr lang="en-US" sz="1250" dirty="0">
                <a:solidFill>
                  <a:srgbClr val="CFE3ED"/>
                </a:solidFill>
                <a:latin typeface="Calibri" pitchFamily="34" charset="0"/>
                <a:ea typeface="Calibri" pitchFamily="34" charset="-122"/>
                <a:cs typeface="Calibri" pitchFamily="34" charset="-120"/>
              </a:rPr>
              <a:t>③ AI학과 자료 검색</a:t>
            </a:r>
            <a:endParaRPr lang="en-US" sz="1250" dirty="0"/>
          </a:p>
        </p:txBody>
      </p:sp>
      <p:sp>
        <p:nvSpPr>
          <p:cNvPr id="20" name="Text 17"/>
          <p:cNvSpPr/>
          <p:nvPr/>
        </p:nvSpPr>
        <p:spPr>
          <a:xfrm>
            <a:off x="6537960" y="4087368"/>
            <a:ext cx="4709160" cy="329184"/>
          </a:xfrm>
          <a:prstGeom prst="rect">
            <a:avLst/>
          </a:prstGeom>
          <a:noFill/>
          <a:ln/>
        </p:spPr>
        <p:txBody>
          <a:bodyPr wrap="square" lIns="0" tIns="0" rIns="0" bIns="0" rtlCol="0" anchor="ctr"/>
          <a:lstStyle/>
          <a:p>
            <a:pPr indent="0" marL="0">
              <a:buNone/>
            </a:pPr>
            <a:r>
              <a:rPr lang="en-US" sz="1250" dirty="0">
                <a:solidFill>
                  <a:srgbClr val="CFE3ED"/>
                </a:solidFill>
                <a:latin typeface="Calibri" pitchFamily="34" charset="0"/>
                <a:ea typeface="Calibri" pitchFamily="34" charset="-122"/>
                <a:cs typeface="Calibri" pitchFamily="34" charset="-120"/>
              </a:rPr>
              <a:t>④ 두 결과를 비교</a:t>
            </a:r>
            <a:endParaRPr lang="en-US" sz="1250" dirty="0"/>
          </a:p>
        </p:txBody>
      </p:sp>
      <p:sp>
        <p:nvSpPr>
          <p:cNvPr id="21" name="Text 18"/>
          <p:cNvSpPr/>
          <p:nvPr/>
        </p:nvSpPr>
        <p:spPr>
          <a:xfrm>
            <a:off x="6537960" y="4434840"/>
            <a:ext cx="4709160" cy="329184"/>
          </a:xfrm>
          <a:prstGeom prst="rect">
            <a:avLst/>
          </a:prstGeom>
          <a:noFill/>
          <a:ln/>
        </p:spPr>
        <p:txBody>
          <a:bodyPr wrap="square" lIns="0" tIns="0" rIns="0" bIns="0" rtlCol="0" anchor="ctr"/>
          <a:lstStyle/>
          <a:p>
            <a:pPr indent="0" marL="0">
              <a:buNone/>
            </a:pPr>
            <a:r>
              <a:rPr lang="en-US" sz="1250" dirty="0">
                <a:solidFill>
                  <a:srgbClr val="CFE3ED"/>
                </a:solidFill>
                <a:latin typeface="Calibri" pitchFamily="34" charset="0"/>
                <a:ea typeface="Calibri" pitchFamily="34" charset="-122"/>
                <a:cs typeface="Calibri" pitchFamily="34" charset="-120"/>
              </a:rPr>
              <a:t>⑤ 표 형태로 답변</a:t>
            </a:r>
            <a:endParaRPr lang="en-US" sz="1250" dirty="0"/>
          </a:p>
        </p:txBody>
      </p:sp>
      <p:sp>
        <p:nvSpPr>
          <p:cNvPr id="22" name="Text 19"/>
          <p:cNvSpPr/>
          <p:nvPr/>
        </p:nvSpPr>
        <p:spPr>
          <a:xfrm>
            <a:off x="6537960" y="4782312"/>
            <a:ext cx="4709160" cy="329184"/>
          </a:xfrm>
          <a:prstGeom prst="rect">
            <a:avLst/>
          </a:prstGeom>
          <a:noFill/>
          <a:ln/>
        </p:spPr>
        <p:txBody>
          <a:bodyPr wrap="square" lIns="0" tIns="0" rIns="0" bIns="0" rtlCol="0" anchor="ctr"/>
          <a:lstStyle/>
          <a:p>
            <a:pPr indent="0" marL="0">
              <a:buNone/>
            </a:pPr>
            <a:r>
              <a:rPr lang="en-US" sz="1250" dirty="0">
                <a:solidFill>
                  <a:srgbClr val="CFE3ED"/>
                </a:solidFill>
                <a:latin typeface="Calibri" pitchFamily="34" charset="0"/>
                <a:ea typeface="Calibri" pitchFamily="34" charset="-122"/>
                <a:cs typeface="Calibri" pitchFamily="34" charset="-120"/>
              </a:rPr>
              <a:t>⑥ 출처 표시</a:t>
            </a:r>
            <a:endParaRPr lang="en-US" sz="1250" dirty="0"/>
          </a:p>
        </p:txBody>
      </p:sp>
      <p:sp>
        <p:nvSpPr>
          <p:cNvPr id="23" name="Shape 20"/>
          <p:cNvSpPr/>
          <p:nvPr/>
        </p:nvSpPr>
        <p:spPr>
          <a:xfrm>
            <a:off x="640080" y="5440680"/>
            <a:ext cx="10881360" cy="960120"/>
          </a:xfrm>
          <a:prstGeom prst="roundRect">
            <a:avLst>
              <a:gd name="adj" fmla="val 7619"/>
            </a:avLst>
          </a:prstGeom>
          <a:solidFill>
            <a:srgbClr val="F4F7FA"/>
          </a:solidFill>
          <a:ln/>
        </p:spPr>
      </p:sp>
      <p:sp>
        <p:nvSpPr>
          <p:cNvPr id="24" name="Text 21"/>
          <p:cNvSpPr/>
          <p:nvPr/>
        </p:nvSpPr>
        <p:spPr>
          <a:xfrm>
            <a:off x="868680" y="5440680"/>
            <a:ext cx="10424160" cy="960120"/>
          </a:xfrm>
          <a:prstGeom prst="rect">
            <a:avLst/>
          </a:prstGeom>
          <a:noFill/>
          <a:ln/>
        </p:spPr>
        <p:txBody>
          <a:bodyPr wrap="square" lIns="0" tIns="0" rIns="0" bIns="0" rtlCol="0" anchor="ctr"/>
          <a:lstStyle/>
          <a:p>
            <a:pPr indent="0" marL="0">
              <a:lnSpc>
                <a:spcPct val="130000"/>
              </a:lnSpc>
              <a:buNone/>
            </a:pPr>
            <a:r>
              <a:rPr lang="en-US" sz="1350" b="1" dirty="0">
                <a:solidFill>
                  <a:srgbClr val="1C7293"/>
                </a:solidFill>
                <a:latin typeface="Calibri" pitchFamily="34" charset="0"/>
                <a:ea typeface="Calibri" pitchFamily="34" charset="-122"/>
                <a:cs typeface="Calibri" pitchFamily="34" charset="-120"/>
              </a:rPr>
              <a:t>모듈 종류   </a:t>
            </a:r>
            <a:pPr indent="0" marL="0">
              <a:lnSpc>
                <a:spcPct val="130000"/>
              </a:lnSpc>
              <a:buNone/>
            </a:pPr>
            <a:r>
              <a:rPr lang="en-US" sz="1350" dirty="0">
                <a:solidFill>
                  <a:srgbClr val="18213D"/>
                </a:solidFill>
                <a:latin typeface="Calibri" pitchFamily="34" charset="0"/>
                <a:ea typeface="Calibri" pitchFamily="34" charset="-122"/>
                <a:cs typeface="Calibri" pitchFamily="34" charset="-120"/>
              </a:rPr>
              <a:t>Query Analyzer(질문 분석) · Query Rewrite(질문 재작성) · Web Search(웹 검색) · Summarizer(요약) · Citation Module(출처 표시)</a:t>
            </a:r>
            <a:endParaRPr lang="en-US" sz="1350" dirty="0"/>
          </a:p>
        </p:txBody>
      </p:sp>
      <p:sp>
        <p:nvSpPr>
          <p:cNvPr id="25" name="Text 22"/>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03 · QUERY EXPANSION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HyDE — 질문과 문서 사이의 간극</a:t>
            </a:r>
            <a:endParaRPr lang="en-US" sz="2400" dirty="0"/>
          </a:p>
        </p:txBody>
      </p:sp>
      <p:sp>
        <p:nvSpPr>
          <p:cNvPr id="6" name="Shape 4"/>
          <p:cNvSpPr/>
          <p:nvPr/>
        </p:nvSpPr>
        <p:spPr>
          <a:xfrm>
            <a:off x="640080" y="1298448"/>
            <a:ext cx="10881360" cy="713232"/>
          </a:xfrm>
          <a:prstGeom prst="roundRect">
            <a:avLst>
              <a:gd name="adj" fmla="val 7692"/>
            </a:avLst>
          </a:prstGeom>
          <a:solidFill>
            <a:srgbClr val="F4F7FA"/>
          </a:solidFill>
          <a:ln/>
        </p:spPr>
      </p:sp>
      <p:sp>
        <p:nvSpPr>
          <p:cNvPr id="7" name="Text 5"/>
          <p:cNvSpPr/>
          <p:nvPr/>
        </p:nvSpPr>
        <p:spPr>
          <a:xfrm>
            <a:off x="868680" y="1353312"/>
            <a:ext cx="10424160" cy="384048"/>
          </a:xfrm>
          <a:prstGeom prst="rect">
            <a:avLst/>
          </a:prstGeom>
          <a:noFill/>
          <a:ln/>
        </p:spPr>
        <p:txBody>
          <a:bodyPr wrap="square" lIns="0" tIns="0" rIns="0" bIns="0" rtlCol="0" anchor="ctr"/>
          <a:lstStyle/>
          <a:p>
            <a:pPr indent="0" marL="0">
              <a:lnSpc>
                <a:spcPct val="102000"/>
              </a:lnSpc>
              <a:buNone/>
            </a:pPr>
            <a:r>
              <a:rPr lang="en-US" sz="1250" b="1" dirty="0">
                <a:solidFill>
                  <a:srgbClr val="21295C"/>
                </a:solidFill>
                <a:latin typeface="Cambria" pitchFamily="34" charset="0"/>
                <a:ea typeface="Cambria" pitchFamily="34" charset="-122"/>
                <a:cs typeface="Cambria" pitchFamily="34" charset="-120"/>
              </a:rPr>
              <a:t>HyDE: Precise Zero-Shot Dense Retrieval without Relevance Labels</a:t>
            </a:r>
            <a:endParaRPr lang="en-US" sz="1250" dirty="0"/>
          </a:p>
        </p:txBody>
      </p:sp>
      <p:sp>
        <p:nvSpPr>
          <p:cNvPr id="8" name="Text 6"/>
          <p:cNvSpPr/>
          <p:nvPr/>
        </p:nvSpPr>
        <p:spPr>
          <a:xfrm>
            <a:off x="868680" y="1737360"/>
            <a:ext cx="10424160" cy="228600"/>
          </a:xfrm>
          <a:prstGeom prst="rect">
            <a:avLst/>
          </a:prstGeom>
          <a:noFill/>
          <a:ln/>
        </p:spPr>
        <p:txBody>
          <a:bodyPr wrap="square" lIns="0" tIns="0" rIns="0" bIns="0" rtlCol="0" anchor="ctr"/>
          <a:lstStyle/>
          <a:p>
            <a:pPr indent="0" marL="0">
              <a:buNone/>
            </a:pPr>
            <a:r>
              <a:rPr lang="en-US" sz="1100" dirty="0">
                <a:solidFill>
                  <a:srgbClr val="45506B"/>
                </a:solidFill>
                <a:latin typeface="Calibri" pitchFamily="34" charset="0"/>
                <a:ea typeface="Calibri" pitchFamily="34" charset="-122"/>
                <a:cs typeface="Calibri" pitchFamily="34" charset="-120"/>
              </a:rPr>
              <a:t>Gao, L. et al.  ·  ACL 2023  ·  arXiv:2212.10496</a:t>
            </a:r>
            <a:endParaRPr lang="en-US" sz="1100" dirty="0"/>
          </a:p>
        </p:txBody>
      </p:sp>
      <p:sp>
        <p:nvSpPr>
          <p:cNvPr id="9" name="Text 7"/>
          <p:cNvSpPr/>
          <p:nvPr/>
        </p:nvSpPr>
        <p:spPr>
          <a:xfrm>
            <a:off x="640080" y="2084832"/>
            <a:ext cx="10515600" cy="365760"/>
          </a:xfrm>
          <a:prstGeom prst="rect">
            <a:avLst/>
          </a:prstGeom>
          <a:noFill/>
          <a:ln/>
        </p:spPr>
        <p:txBody>
          <a:bodyPr wrap="square" lIns="0" tIns="0" rIns="0" bIns="0" rtlCol="0" anchor="ctr"/>
          <a:lstStyle/>
          <a:p>
            <a:pPr indent="0" marL="0">
              <a:buNone/>
            </a:pPr>
            <a:r>
              <a:rPr lang="en-US" sz="1450" dirty="0">
                <a:solidFill>
                  <a:srgbClr val="18213D"/>
                </a:solidFill>
                <a:latin typeface="Cambria" pitchFamily="34" charset="0"/>
                <a:ea typeface="Cambria" pitchFamily="34" charset="-122"/>
                <a:cs typeface="Cambria" pitchFamily="34" charset="-120"/>
              </a:rPr>
              <a:t>문제: 질문은 짧고 문서는 길다 — 이 비대칭성이 검색을 어렵게 한다</a:t>
            </a:r>
            <a:endParaRPr lang="en-US" sz="1450" dirty="0"/>
          </a:p>
        </p:txBody>
      </p:sp>
      <p:sp>
        <p:nvSpPr>
          <p:cNvPr id="10" name="Shape 8"/>
          <p:cNvSpPr/>
          <p:nvPr/>
        </p:nvSpPr>
        <p:spPr>
          <a:xfrm>
            <a:off x="640080" y="2606040"/>
            <a:ext cx="10881360" cy="1371600"/>
          </a:xfrm>
          <a:prstGeom prst="roundRect">
            <a:avLst>
              <a:gd name="adj" fmla="val 6667"/>
            </a:avLst>
          </a:prstGeom>
          <a:solidFill>
            <a:srgbClr val="FBEFE0"/>
          </a:solidFill>
          <a:ln/>
        </p:spPr>
      </p:sp>
      <p:pic>
        <p:nvPicPr>
          <p:cNvPr id="11" name="Image 0" descr="/home/claude/rag_deck/icon_commentalt_navy.png">    </p:cNvPr>
          <p:cNvPicPr>
            <a:picLocks noChangeAspect="1"/>
          </p:cNvPicPr>
          <p:nvPr/>
        </p:nvPicPr>
        <p:blipFill>
          <a:blip r:embed="rId1"/>
          <a:stretch>
            <a:fillRect/>
          </a:stretch>
        </p:blipFill>
        <p:spPr>
          <a:xfrm>
            <a:off x="914400" y="2834640"/>
            <a:ext cx="457200" cy="457200"/>
          </a:xfrm>
          <a:prstGeom prst="rect">
            <a:avLst/>
          </a:prstGeom>
        </p:spPr>
      </p:pic>
      <p:sp>
        <p:nvSpPr>
          <p:cNvPr id="12" name="Text 9"/>
          <p:cNvSpPr/>
          <p:nvPr/>
        </p:nvSpPr>
        <p:spPr>
          <a:xfrm>
            <a:off x="1554480" y="2788920"/>
            <a:ext cx="9692640" cy="411480"/>
          </a:xfrm>
          <a:prstGeom prst="rect">
            <a:avLst/>
          </a:prstGeom>
          <a:noFill/>
          <a:ln/>
        </p:spPr>
        <p:txBody>
          <a:bodyPr wrap="square" lIns="0" tIns="0" rIns="0" bIns="0" rtlCol="0" anchor="ctr"/>
          <a:lstStyle/>
          <a:p>
            <a:pPr indent="0" marL="0">
              <a:buNone/>
            </a:pPr>
            <a:r>
              <a:rPr lang="en-US" sz="1600" b="1" dirty="0">
                <a:solidFill>
                  <a:srgbClr val="6B4A1A"/>
                </a:solidFill>
                <a:latin typeface="Cambria" pitchFamily="34" charset="0"/>
                <a:ea typeface="Cambria" pitchFamily="34" charset="-122"/>
                <a:cs typeface="Cambria" pitchFamily="34" charset="-120"/>
              </a:rPr>
              <a:t>“복학하면 뭐부터 해야 하나요?”</a:t>
            </a:r>
            <a:endParaRPr lang="en-US" sz="1600" dirty="0"/>
          </a:p>
        </p:txBody>
      </p:sp>
      <p:sp>
        <p:nvSpPr>
          <p:cNvPr id="13" name="Text 10"/>
          <p:cNvSpPr/>
          <p:nvPr/>
        </p:nvSpPr>
        <p:spPr>
          <a:xfrm>
            <a:off x="1554480" y="3246120"/>
            <a:ext cx="9692640" cy="640080"/>
          </a:xfrm>
          <a:prstGeom prst="rect">
            <a:avLst/>
          </a:prstGeom>
          <a:noFill/>
          <a:ln/>
        </p:spPr>
        <p:txBody>
          <a:bodyPr wrap="square" lIns="0" tIns="0" rIns="0" bIns="0" rtlCol="0" anchor="ctr"/>
          <a:lstStyle/>
          <a:p>
            <a:pPr indent="0" marL="0">
              <a:lnSpc>
                <a:spcPct val="130000"/>
              </a:lnSpc>
              <a:buNone/>
            </a:pPr>
            <a:r>
              <a:rPr lang="en-US" sz="1350" dirty="0">
                <a:solidFill>
                  <a:srgbClr val="6B4A1A"/>
                </a:solidFill>
                <a:latin typeface="Calibri" pitchFamily="34" charset="0"/>
                <a:ea typeface="Calibri" pitchFamily="34" charset="-122"/>
                <a:cs typeface="Calibri" pitchFamily="34" charset="-120"/>
              </a:rPr>
              <a:t>‘복학 신청 기간’, ‘수강 신청’, ‘등록금 납부’, ‘학적 변경’ 같은 구체적인 표현이 질문 안에 전혀 없다 — 이런 질문을 그대로 임베딩하면 관련 문서를 놓치기 쉽다.</a:t>
            </a:r>
            <a:endParaRPr lang="en-US" sz="1350" dirty="0"/>
          </a:p>
        </p:txBody>
      </p:sp>
      <p:sp>
        <p:nvSpPr>
          <p:cNvPr id="14" name="Text 11"/>
          <p:cNvSpPr/>
          <p:nvPr/>
        </p:nvSpPr>
        <p:spPr>
          <a:xfrm>
            <a:off x="640080" y="4206240"/>
            <a:ext cx="7315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왜 어려운 문제인가</a:t>
            </a:r>
            <a:endParaRPr lang="en-US" sz="1400" dirty="0"/>
          </a:p>
        </p:txBody>
      </p:sp>
      <p:sp>
        <p:nvSpPr>
          <p:cNvPr id="15" name="Text 12"/>
          <p:cNvSpPr/>
          <p:nvPr/>
        </p:nvSpPr>
        <p:spPr>
          <a:xfrm>
            <a:off x="640080" y="4572000"/>
            <a:ext cx="10881360" cy="914400"/>
          </a:xfrm>
          <a:prstGeom prst="rect">
            <a:avLst/>
          </a:prstGeom>
          <a:noFill/>
          <a:ln/>
        </p:spPr>
        <p:txBody>
          <a:bodyPr wrap="square" lIns="0" tIns="0" rIns="0" bIns="0" rtlCol="0" anchor="ctr"/>
          <a:lstStyle/>
          <a:p>
            <a:pPr indent="0" marL="0">
              <a:lnSpc>
                <a:spcPct val="135000"/>
              </a:lnSpc>
              <a:buNone/>
            </a:pPr>
            <a:r>
              <a:rPr lang="en-US" sz="1400" dirty="0">
                <a:solidFill>
                  <a:srgbClr val="18213D"/>
                </a:solidFill>
                <a:latin typeface="Calibri" pitchFamily="34" charset="0"/>
                <a:ea typeface="Calibri" pitchFamily="34" charset="-122"/>
                <a:cs typeface="Calibri" pitchFamily="34" charset="-120"/>
              </a:rPr>
              <a:t>밀집 검색기는 보통 '질의-정답 문서' 쌍으로 이루어진 관련성 레이블로 학습된다. 새로운 도메인(예: 우리 학과)에 적용하려면 그 도메인에 맞는 레이블 데이터가 다시 필요한데, 이게 전혀 없는 완전한 제로샷(zero-shot) 상황에서 검색 성능을 내는 것은 여전히 어려운 문제였다.</a:t>
            </a:r>
            <a:endParaRPr lang="en-US" sz="1400" dirty="0"/>
          </a:p>
        </p:txBody>
      </p:sp>
      <p:sp>
        <p:nvSpPr>
          <p:cNvPr id="16" name="Shape 13"/>
          <p:cNvSpPr/>
          <p:nvPr/>
        </p:nvSpPr>
        <p:spPr>
          <a:xfrm>
            <a:off x="640080" y="5623560"/>
            <a:ext cx="10881360" cy="777240"/>
          </a:xfrm>
          <a:prstGeom prst="roundRect">
            <a:avLst>
              <a:gd name="adj" fmla="val 9412"/>
            </a:avLst>
          </a:prstGeom>
          <a:solidFill>
            <a:srgbClr val="F4F7FA"/>
          </a:solidFill>
          <a:ln/>
        </p:spPr>
      </p:sp>
      <p:sp>
        <p:nvSpPr>
          <p:cNvPr id="17" name="Text 14"/>
          <p:cNvSpPr/>
          <p:nvPr/>
        </p:nvSpPr>
        <p:spPr>
          <a:xfrm>
            <a:off x="868680" y="5623560"/>
            <a:ext cx="10424160" cy="777240"/>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핵심 아이디어   </a:t>
            </a:r>
            <a:pPr indent="0" marL="0">
              <a:buNone/>
            </a:pPr>
            <a:r>
              <a:rPr lang="en-US" sz="1400" dirty="0">
                <a:solidFill>
                  <a:srgbClr val="18213D"/>
                </a:solidFill>
                <a:latin typeface="Cambria" pitchFamily="34" charset="0"/>
                <a:ea typeface="Cambria" pitchFamily="34" charset="-122"/>
                <a:cs typeface="Cambria" pitchFamily="34" charset="-120"/>
              </a:rPr>
              <a:t>직접 '관련성'을 학습하는 대신, LLM에게 질의에 대한 가상의 답변 문서를 먼저 작성하게 하고, 그 가상 문서로 검색한다.</a:t>
            </a:r>
            <a:endParaRPr lang="en-US" sz="1400" dirty="0"/>
          </a:p>
        </p:txBody>
      </p:sp>
      <p:sp>
        <p:nvSpPr>
          <p:cNvPr id="18" name="Text 15"/>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03 · QUERY EXPANSION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5" name="Text 3"/>
          <p:cNvSpPr/>
          <p:nvPr/>
        </p:nvSpPr>
        <p:spPr>
          <a:xfrm>
            <a:off x="640080" y="658368"/>
            <a:ext cx="9326880" cy="594360"/>
          </a:xfrm>
          <a:prstGeom prst="rect">
            <a:avLst/>
          </a:prstGeom>
          <a:noFill/>
          <a:ln/>
        </p:spPr>
        <p:txBody>
          <a:bodyPr wrap="square" lIns="0" tIns="0" rIns="0" bIns="0" rtlCol="0" anchor="ctr"/>
          <a:lstStyle/>
          <a:p>
            <a:pPr indent="0" marL="0">
              <a:buNone/>
            </a:pPr>
            <a:r>
              <a:rPr lang="en-US" sz="2400" b="1" dirty="0">
                <a:solidFill>
                  <a:srgbClr val="18213D"/>
                </a:solidFill>
                <a:latin typeface="Cambria" pitchFamily="34" charset="0"/>
                <a:ea typeface="Cambria" pitchFamily="34" charset="-122"/>
                <a:cs typeface="Cambria" pitchFamily="34" charset="-120"/>
              </a:rPr>
              <a:t>HyDE의 2단계 프로세스</a:t>
            </a:r>
            <a:endParaRPr lang="en-US" sz="2400" dirty="0"/>
          </a:p>
        </p:txBody>
      </p:sp>
      <p:sp>
        <p:nvSpPr>
          <p:cNvPr id="6" name="Shape 4"/>
          <p:cNvSpPr/>
          <p:nvPr/>
        </p:nvSpPr>
        <p:spPr>
          <a:xfrm>
            <a:off x="640080" y="1371600"/>
            <a:ext cx="2487168" cy="1508760"/>
          </a:xfrm>
          <a:prstGeom prst="roundRect">
            <a:avLst>
              <a:gd name="adj" fmla="val 5455"/>
            </a:avLst>
          </a:prstGeom>
          <a:solidFill>
            <a:srgbClr val="065A82"/>
          </a:solidFill>
          <a:ln/>
        </p:spPr>
      </p:sp>
      <p:pic>
        <p:nvPicPr>
          <p:cNvPr id="7" name="Image 0" descr="/home/claude/rag_deck/icon_commentalt_white.png">    </p:cNvPr>
          <p:cNvPicPr>
            <a:picLocks noChangeAspect="1"/>
          </p:cNvPicPr>
          <p:nvPr/>
        </p:nvPicPr>
        <p:blipFill>
          <a:blip r:embed="rId1"/>
          <a:stretch>
            <a:fillRect/>
          </a:stretch>
        </p:blipFill>
        <p:spPr>
          <a:xfrm>
            <a:off x="1719072" y="1508760"/>
            <a:ext cx="329184" cy="329184"/>
          </a:xfrm>
          <a:prstGeom prst="rect">
            <a:avLst/>
          </a:prstGeom>
        </p:spPr>
      </p:pic>
      <p:sp>
        <p:nvSpPr>
          <p:cNvPr id="8" name="Text 5"/>
          <p:cNvSpPr/>
          <p:nvPr/>
        </p:nvSpPr>
        <p:spPr>
          <a:xfrm>
            <a:off x="731520" y="1938528"/>
            <a:ext cx="230428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질의 x</a:t>
            </a:r>
            <a:endParaRPr lang="en-US" sz="1300" dirty="0"/>
          </a:p>
        </p:txBody>
      </p:sp>
      <p:sp>
        <p:nvSpPr>
          <p:cNvPr id="9" name="Text 6"/>
          <p:cNvSpPr/>
          <p:nvPr/>
        </p:nvSpPr>
        <p:spPr>
          <a:xfrm>
            <a:off x="731520" y="2304288"/>
            <a:ext cx="2304288" cy="502920"/>
          </a:xfrm>
          <a:prstGeom prst="rect">
            <a:avLst/>
          </a:prstGeom>
          <a:noFill/>
          <a:ln/>
        </p:spPr>
        <p:txBody>
          <a:bodyPr wrap="square" lIns="0" tIns="0" rIns="0" bIns="0" rtlCol="0" anchor="ctr"/>
          <a:lstStyle/>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“복학하면</a:t>
            </a:r>
            <a:endParaRPr lang="en-US" sz="1200" dirty="0"/>
          </a:p>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뭐부터 해요?”</a:t>
            </a:r>
            <a:endParaRPr lang="en-US" sz="1200" dirty="0"/>
          </a:p>
        </p:txBody>
      </p:sp>
      <p:sp>
        <p:nvSpPr>
          <p:cNvPr id="10" name="Shape 7"/>
          <p:cNvSpPr/>
          <p:nvPr/>
        </p:nvSpPr>
        <p:spPr>
          <a:xfrm>
            <a:off x="3127248" y="2125980"/>
            <a:ext cx="219456" cy="0"/>
          </a:xfrm>
          <a:prstGeom prst="line">
            <a:avLst/>
          </a:prstGeom>
          <a:noFill/>
          <a:ln w="19050">
            <a:solidFill>
              <a:srgbClr val="45506B"/>
            </a:solidFill>
            <a:prstDash val="solid"/>
            <a:tailEnd type="triangle"/>
          </a:ln>
        </p:spPr>
      </p:sp>
      <p:sp>
        <p:nvSpPr>
          <p:cNvPr id="11" name="Shape 8"/>
          <p:cNvSpPr/>
          <p:nvPr/>
        </p:nvSpPr>
        <p:spPr>
          <a:xfrm>
            <a:off x="3346704" y="1371600"/>
            <a:ext cx="2487168" cy="1508760"/>
          </a:xfrm>
          <a:prstGeom prst="roundRect">
            <a:avLst>
              <a:gd name="adj" fmla="val 5455"/>
            </a:avLst>
          </a:prstGeom>
          <a:solidFill>
            <a:srgbClr val="1C7293"/>
          </a:solidFill>
          <a:ln/>
        </p:spPr>
      </p:sp>
      <p:pic>
        <p:nvPicPr>
          <p:cNvPr id="12" name="Image 1" descr="/home/claude/rag_deck/icon_robot_white.png">    </p:cNvPr>
          <p:cNvPicPr>
            <a:picLocks noChangeAspect="1"/>
          </p:cNvPicPr>
          <p:nvPr/>
        </p:nvPicPr>
        <p:blipFill>
          <a:blip r:embed="rId2"/>
          <a:stretch>
            <a:fillRect/>
          </a:stretch>
        </p:blipFill>
        <p:spPr>
          <a:xfrm>
            <a:off x="4425696" y="1508760"/>
            <a:ext cx="329184" cy="329184"/>
          </a:xfrm>
          <a:prstGeom prst="rect">
            <a:avLst/>
          </a:prstGeom>
        </p:spPr>
      </p:pic>
      <p:sp>
        <p:nvSpPr>
          <p:cNvPr id="13" name="Text 9"/>
          <p:cNvSpPr/>
          <p:nvPr/>
        </p:nvSpPr>
        <p:spPr>
          <a:xfrm>
            <a:off x="3438144" y="1938528"/>
            <a:ext cx="230428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1단계: 가상 문서 생성</a:t>
            </a:r>
            <a:endParaRPr lang="en-US" sz="1300" dirty="0"/>
          </a:p>
        </p:txBody>
      </p:sp>
      <p:sp>
        <p:nvSpPr>
          <p:cNvPr id="14" name="Text 10"/>
          <p:cNvSpPr/>
          <p:nvPr/>
        </p:nvSpPr>
        <p:spPr>
          <a:xfrm>
            <a:off x="3438144" y="2304288"/>
            <a:ext cx="2304288" cy="502920"/>
          </a:xfrm>
          <a:prstGeom prst="rect">
            <a:avLst/>
          </a:prstGeom>
          <a:noFill/>
          <a:ln/>
        </p:spPr>
        <p:txBody>
          <a:bodyPr wrap="square" lIns="0" tIns="0" rIns="0" bIns="0" rtlCol="0" anchor="ctr"/>
          <a:lstStyle/>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LLM이 제로샷으로</a:t>
            </a:r>
            <a:endParaRPr lang="en-US" sz="1200" dirty="0"/>
          </a:p>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답변 문서를 지어냄</a:t>
            </a:r>
            <a:endParaRPr lang="en-US" sz="1200" dirty="0"/>
          </a:p>
        </p:txBody>
      </p:sp>
      <p:sp>
        <p:nvSpPr>
          <p:cNvPr id="15" name="Shape 11"/>
          <p:cNvSpPr/>
          <p:nvPr/>
        </p:nvSpPr>
        <p:spPr>
          <a:xfrm>
            <a:off x="5833872" y="2125980"/>
            <a:ext cx="219456" cy="0"/>
          </a:xfrm>
          <a:prstGeom prst="line">
            <a:avLst/>
          </a:prstGeom>
          <a:noFill/>
          <a:ln w="19050">
            <a:solidFill>
              <a:srgbClr val="45506B"/>
            </a:solidFill>
            <a:prstDash val="solid"/>
            <a:tailEnd type="triangle"/>
          </a:ln>
        </p:spPr>
      </p:sp>
      <p:sp>
        <p:nvSpPr>
          <p:cNvPr id="16" name="Shape 12"/>
          <p:cNvSpPr/>
          <p:nvPr/>
        </p:nvSpPr>
        <p:spPr>
          <a:xfrm>
            <a:off x="6053328" y="1371600"/>
            <a:ext cx="2487168" cy="1508760"/>
          </a:xfrm>
          <a:prstGeom prst="roundRect">
            <a:avLst>
              <a:gd name="adj" fmla="val 5455"/>
            </a:avLst>
          </a:prstGeom>
          <a:solidFill>
            <a:srgbClr val="1C7293"/>
          </a:solidFill>
          <a:ln/>
        </p:spPr>
      </p:sp>
      <p:pic>
        <p:nvPicPr>
          <p:cNvPr id="17" name="Image 2" descr="/home/claude/rag_deck/icon_route_white.png">    </p:cNvPr>
          <p:cNvPicPr>
            <a:picLocks noChangeAspect="1"/>
          </p:cNvPicPr>
          <p:nvPr/>
        </p:nvPicPr>
        <p:blipFill>
          <a:blip r:embed="rId3"/>
          <a:stretch>
            <a:fillRect/>
          </a:stretch>
        </p:blipFill>
        <p:spPr>
          <a:xfrm>
            <a:off x="7132320" y="1508760"/>
            <a:ext cx="329184" cy="329184"/>
          </a:xfrm>
          <a:prstGeom prst="rect">
            <a:avLst/>
          </a:prstGeom>
        </p:spPr>
      </p:pic>
      <p:sp>
        <p:nvSpPr>
          <p:cNvPr id="18" name="Text 13"/>
          <p:cNvSpPr/>
          <p:nvPr/>
        </p:nvSpPr>
        <p:spPr>
          <a:xfrm>
            <a:off x="6144768" y="1938528"/>
            <a:ext cx="230428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2단계: 인코딩</a:t>
            </a:r>
            <a:endParaRPr lang="en-US" sz="1300" dirty="0"/>
          </a:p>
        </p:txBody>
      </p:sp>
      <p:sp>
        <p:nvSpPr>
          <p:cNvPr id="19" name="Text 14"/>
          <p:cNvSpPr/>
          <p:nvPr/>
        </p:nvSpPr>
        <p:spPr>
          <a:xfrm>
            <a:off x="6144768" y="2304288"/>
            <a:ext cx="2304288" cy="502920"/>
          </a:xfrm>
          <a:prstGeom prst="rect">
            <a:avLst/>
          </a:prstGeom>
          <a:noFill/>
          <a:ln/>
        </p:spPr>
        <p:txBody>
          <a:bodyPr wrap="square" lIns="0" tIns="0" rIns="0" bIns="0" rtlCol="0" anchor="ctr"/>
          <a:lstStyle/>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Contriever로</a:t>
            </a:r>
            <a:endParaRPr lang="en-US" sz="1200" dirty="0"/>
          </a:p>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벡터 변환</a:t>
            </a:r>
            <a:endParaRPr lang="en-US" sz="1200" dirty="0"/>
          </a:p>
        </p:txBody>
      </p:sp>
      <p:sp>
        <p:nvSpPr>
          <p:cNvPr id="20" name="Shape 15"/>
          <p:cNvSpPr/>
          <p:nvPr/>
        </p:nvSpPr>
        <p:spPr>
          <a:xfrm>
            <a:off x="8540496" y="2125980"/>
            <a:ext cx="219456" cy="0"/>
          </a:xfrm>
          <a:prstGeom prst="line">
            <a:avLst/>
          </a:prstGeom>
          <a:noFill/>
          <a:ln w="19050">
            <a:solidFill>
              <a:srgbClr val="45506B"/>
            </a:solidFill>
            <a:prstDash val="solid"/>
            <a:tailEnd type="triangle"/>
          </a:ln>
        </p:spPr>
      </p:sp>
      <p:sp>
        <p:nvSpPr>
          <p:cNvPr id="21" name="Shape 16"/>
          <p:cNvSpPr/>
          <p:nvPr/>
        </p:nvSpPr>
        <p:spPr>
          <a:xfrm>
            <a:off x="8759952" y="1371600"/>
            <a:ext cx="2487168" cy="1508760"/>
          </a:xfrm>
          <a:prstGeom prst="roundRect">
            <a:avLst>
              <a:gd name="adj" fmla="val 5455"/>
            </a:avLst>
          </a:prstGeom>
          <a:solidFill>
            <a:srgbClr val="21295C"/>
          </a:solidFill>
          <a:ln/>
        </p:spPr>
      </p:sp>
      <p:pic>
        <p:nvPicPr>
          <p:cNvPr id="22" name="Image 3" descr="/home/claude/rag_deck/icon_file_navy.png">    </p:cNvPr>
          <p:cNvPicPr>
            <a:picLocks noChangeAspect="1"/>
          </p:cNvPicPr>
          <p:nvPr/>
        </p:nvPicPr>
        <p:blipFill>
          <a:blip r:embed="rId4"/>
          <a:stretch>
            <a:fillRect/>
          </a:stretch>
        </p:blipFill>
        <p:spPr>
          <a:xfrm>
            <a:off x="9838944" y="1508760"/>
            <a:ext cx="329184" cy="329184"/>
          </a:xfrm>
          <a:prstGeom prst="rect">
            <a:avLst/>
          </a:prstGeom>
        </p:spPr>
      </p:pic>
      <p:sp>
        <p:nvSpPr>
          <p:cNvPr id="23" name="Text 17"/>
          <p:cNvSpPr/>
          <p:nvPr/>
        </p:nvSpPr>
        <p:spPr>
          <a:xfrm>
            <a:off x="8851392" y="1938528"/>
            <a:ext cx="2304288"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실제 문서 검색</a:t>
            </a:r>
            <a:endParaRPr lang="en-US" sz="1300" dirty="0"/>
          </a:p>
        </p:txBody>
      </p:sp>
      <p:sp>
        <p:nvSpPr>
          <p:cNvPr id="24" name="Text 18"/>
          <p:cNvSpPr/>
          <p:nvPr/>
        </p:nvSpPr>
        <p:spPr>
          <a:xfrm>
            <a:off x="8851392" y="2304288"/>
            <a:ext cx="2304288" cy="502920"/>
          </a:xfrm>
          <a:prstGeom prst="rect">
            <a:avLst/>
          </a:prstGeom>
          <a:noFill/>
          <a:ln/>
        </p:spPr>
        <p:txBody>
          <a:bodyPr wrap="square" lIns="0" tIns="0" rIns="0" bIns="0" rtlCol="0" anchor="ctr"/>
          <a:lstStyle/>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벡터 이웃에서</a:t>
            </a:r>
            <a:endParaRPr lang="en-US" sz="1200" dirty="0"/>
          </a:p>
          <a:p>
            <a:pPr algn="ctr" indent="0" marL="0">
              <a:lnSpc>
                <a:spcPct val="115000"/>
              </a:lnSpc>
              <a:buNone/>
            </a:pPr>
            <a:r>
              <a:rPr lang="en-US" sz="1200" dirty="0">
                <a:solidFill>
                  <a:srgbClr val="CFE3ED"/>
                </a:solidFill>
                <a:latin typeface="Calibri" pitchFamily="34" charset="0"/>
                <a:ea typeface="Calibri" pitchFamily="34" charset="-122"/>
                <a:cs typeface="Calibri" pitchFamily="34" charset="-120"/>
              </a:rPr>
              <a:t>진짜 문서 검색</a:t>
            </a:r>
            <a:endParaRPr lang="en-US" sz="1200" dirty="0"/>
          </a:p>
        </p:txBody>
      </p:sp>
      <p:sp>
        <p:nvSpPr>
          <p:cNvPr id="25" name="Shape 19"/>
          <p:cNvSpPr/>
          <p:nvPr/>
        </p:nvSpPr>
        <p:spPr>
          <a:xfrm>
            <a:off x="640080" y="3154680"/>
            <a:ext cx="10881360" cy="1234440"/>
          </a:xfrm>
          <a:prstGeom prst="roundRect">
            <a:avLst>
              <a:gd name="adj" fmla="val 7407"/>
            </a:avLst>
          </a:prstGeom>
          <a:solidFill>
            <a:srgbClr val="2B2B3A"/>
          </a:solidFill>
          <a:ln/>
        </p:spPr>
      </p:sp>
      <p:pic>
        <p:nvPicPr>
          <p:cNvPr id="26" name="Image 4" descr="/home/claude/rag_deck/icon_micro_white.png">    </p:cNvPr>
          <p:cNvPicPr>
            <a:picLocks noChangeAspect="1"/>
          </p:cNvPicPr>
          <p:nvPr/>
        </p:nvPicPr>
        <p:blipFill>
          <a:blip r:embed="rId5"/>
          <a:stretch>
            <a:fillRect/>
          </a:stretch>
        </p:blipFill>
        <p:spPr>
          <a:xfrm>
            <a:off x="868680" y="3364992"/>
            <a:ext cx="384048" cy="384048"/>
          </a:xfrm>
          <a:prstGeom prst="rect">
            <a:avLst/>
          </a:prstGeom>
        </p:spPr>
      </p:pic>
      <p:sp>
        <p:nvSpPr>
          <p:cNvPr id="27" name="Text 20"/>
          <p:cNvSpPr/>
          <p:nvPr/>
        </p:nvSpPr>
        <p:spPr>
          <a:xfrm>
            <a:off x="1417320" y="3319272"/>
            <a:ext cx="9875520" cy="320040"/>
          </a:xfrm>
          <a:prstGeom prst="rect">
            <a:avLst/>
          </a:prstGeom>
          <a:noFill/>
          <a:ln/>
        </p:spPr>
        <p:txBody>
          <a:bodyPr wrap="square" lIns="0" tIns="0" rIns="0" bIns="0" rtlCol="0" anchor="ctr"/>
          <a:lstStyle/>
          <a:p>
            <a:pPr indent="0" marL="0">
              <a:buNone/>
            </a:pPr>
            <a:r>
              <a:rPr lang="en-US" sz="1400" b="1" dirty="0">
                <a:solidFill>
                  <a:srgbClr val="C98A2C"/>
                </a:solidFill>
                <a:latin typeface="Cambria" pitchFamily="34" charset="0"/>
                <a:ea typeface="Cambria" pitchFamily="34" charset="-122"/>
                <a:cs typeface="Cambria" pitchFamily="34" charset="-120"/>
              </a:rPr>
              <a:t>왜 환각이 걸러지는가 — 밀집 병목(Dense Bottleneck)</a:t>
            </a:r>
            <a:endParaRPr lang="en-US" sz="1400" dirty="0"/>
          </a:p>
        </p:txBody>
      </p:sp>
      <p:sp>
        <p:nvSpPr>
          <p:cNvPr id="28" name="Text 21"/>
          <p:cNvSpPr/>
          <p:nvPr/>
        </p:nvSpPr>
        <p:spPr>
          <a:xfrm>
            <a:off x="1417320" y="3639312"/>
            <a:ext cx="9966960" cy="685800"/>
          </a:xfrm>
          <a:prstGeom prst="rect">
            <a:avLst/>
          </a:prstGeom>
          <a:noFill/>
          <a:ln/>
        </p:spPr>
        <p:txBody>
          <a:bodyPr wrap="square" lIns="0" tIns="0" rIns="0" bIns="0" rtlCol="0" anchor="ctr"/>
          <a:lstStyle/>
          <a:p>
            <a:pPr indent="0" marL="0">
              <a:lnSpc>
                <a:spcPct val="130000"/>
              </a:lnSpc>
              <a:buNone/>
            </a:pPr>
            <a:r>
              <a:rPr lang="en-US" sz="1250" dirty="0">
                <a:solidFill>
                  <a:srgbClr val="CFE3ED"/>
                </a:solidFill>
                <a:latin typeface="Calibri" pitchFamily="34" charset="0"/>
                <a:ea typeface="Calibri" pitchFamily="34" charset="-122"/>
                <a:cs typeface="Calibri" pitchFamily="34" charset="-120"/>
              </a:rPr>
              <a:t>가상 문서엔 사실과 다른 내용(환각)이 있을 수 있지만, 인코더가 문서 전체를 고정 크기 벡터로 압축하는 과정에서 세부 오류보다 전반적 주제·관련성 패턴이 더 강하게 반영된다. 그래서 검색 대상 이웃 지점 자체는 비교적 정확하게 유지된다.</a:t>
            </a:r>
            <a:endParaRPr lang="en-US" sz="1250" dirty="0"/>
          </a:p>
        </p:txBody>
      </p:sp>
      <p:sp>
        <p:nvSpPr>
          <p:cNvPr id="29" name="Text 22"/>
          <p:cNvSpPr/>
          <p:nvPr/>
        </p:nvSpPr>
        <p:spPr>
          <a:xfrm>
            <a:off x="640080" y="4572000"/>
            <a:ext cx="36576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실험 결과</a:t>
            </a:r>
            <a:endParaRPr lang="en-US" sz="1400" dirty="0"/>
          </a:p>
        </p:txBody>
      </p:sp>
      <p:sp>
        <p:nvSpPr>
          <p:cNvPr id="30" name="Shape 23"/>
          <p:cNvSpPr/>
          <p:nvPr/>
        </p:nvSpPr>
        <p:spPr>
          <a:xfrm>
            <a:off x="868680" y="5001768"/>
            <a:ext cx="91440" cy="91440"/>
          </a:xfrm>
          <a:prstGeom prst="ellipse">
            <a:avLst/>
          </a:prstGeom>
          <a:solidFill>
            <a:srgbClr val="1C7293"/>
          </a:solidFill>
          <a:ln/>
        </p:spPr>
      </p:sp>
      <p:sp>
        <p:nvSpPr>
          <p:cNvPr id="31" name="Text 24"/>
          <p:cNvSpPr/>
          <p:nvPr/>
        </p:nvSpPr>
        <p:spPr>
          <a:xfrm>
            <a:off x="1097280" y="4892040"/>
            <a:ext cx="9875520" cy="320040"/>
          </a:xfrm>
          <a:prstGeom prst="rect">
            <a:avLst/>
          </a:prstGeom>
          <a:noFill/>
          <a:ln/>
        </p:spPr>
        <p:txBody>
          <a:bodyPr wrap="square" lIns="0" tIns="0" rIns="0" bIns="0" rtlCol="0" anchor="ctr"/>
          <a:lstStyle/>
          <a:p>
            <a:pPr indent="0" marL="0">
              <a:buNone/>
            </a:pPr>
            <a:r>
              <a:rPr lang="en-US" sz="1350" dirty="0">
                <a:solidFill>
                  <a:srgbClr val="18213D"/>
                </a:solidFill>
                <a:latin typeface="Calibri" pitchFamily="34" charset="0"/>
                <a:ea typeface="Calibri" pitchFamily="34" charset="-122"/>
                <a:cs typeface="Calibri" pitchFamily="34" charset="-120"/>
              </a:rPr>
              <a:t>비지도 검색기 Contriever를 유의미하게 능가</a:t>
            </a:r>
            <a:endParaRPr lang="en-US" sz="1350" dirty="0"/>
          </a:p>
        </p:txBody>
      </p:sp>
      <p:sp>
        <p:nvSpPr>
          <p:cNvPr id="32" name="Shape 25"/>
          <p:cNvSpPr/>
          <p:nvPr/>
        </p:nvSpPr>
        <p:spPr>
          <a:xfrm>
            <a:off x="868680" y="5367528"/>
            <a:ext cx="91440" cy="91440"/>
          </a:xfrm>
          <a:prstGeom prst="ellipse">
            <a:avLst/>
          </a:prstGeom>
          <a:solidFill>
            <a:srgbClr val="1C7293"/>
          </a:solidFill>
          <a:ln/>
        </p:spPr>
      </p:sp>
      <p:sp>
        <p:nvSpPr>
          <p:cNvPr id="33" name="Text 26"/>
          <p:cNvSpPr/>
          <p:nvPr/>
        </p:nvSpPr>
        <p:spPr>
          <a:xfrm>
            <a:off x="1097280" y="5257800"/>
            <a:ext cx="9875520" cy="320040"/>
          </a:xfrm>
          <a:prstGeom prst="rect">
            <a:avLst/>
          </a:prstGeom>
          <a:noFill/>
          <a:ln/>
        </p:spPr>
        <p:txBody>
          <a:bodyPr wrap="square" lIns="0" tIns="0" rIns="0" bIns="0" rtlCol="0" anchor="ctr"/>
          <a:lstStyle/>
          <a:p>
            <a:pPr indent="0" marL="0">
              <a:buNone/>
            </a:pPr>
            <a:r>
              <a:rPr lang="en-US" sz="1350" dirty="0">
                <a:solidFill>
                  <a:srgbClr val="18213D"/>
                </a:solidFill>
                <a:latin typeface="Calibri" pitchFamily="34" charset="0"/>
                <a:ea typeface="Calibri" pitchFamily="34" charset="-122"/>
                <a:cs typeface="Calibri" pitchFamily="34" charset="-120"/>
              </a:rPr>
              <a:t>한국어·일본어 등 비영어권 언어도 파인튜닝 검색기급 성능</a:t>
            </a:r>
            <a:endParaRPr lang="en-US" sz="1350" dirty="0"/>
          </a:p>
        </p:txBody>
      </p:sp>
      <p:sp>
        <p:nvSpPr>
          <p:cNvPr id="34" name="Shape 27"/>
          <p:cNvSpPr/>
          <p:nvPr/>
        </p:nvSpPr>
        <p:spPr>
          <a:xfrm>
            <a:off x="868680" y="5733288"/>
            <a:ext cx="91440" cy="91440"/>
          </a:xfrm>
          <a:prstGeom prst="ellipse">
            <a:avLst/>
          </a:prstGeom>
          <a:solidFill>
            <a:srgbClr val="1C7293"/>
          </a:solidFill>
          <a:ln/>
        </p:spPr>
      </p:sp>
      <p:sp>
        <p:nvSpPr>
          <p:cNvPr id="35" name="Text 28"/>
          <p:cNvSpPr/>
          <p:nvPr/>
        </p:nvSpPr>
        <p:spPr>
          <a:xfrm>
            <a:off x="1097280" y="5623560"/>
            <a:ext cx="9875520" cy="320040"/>
          </a:xfrm>
          <a:prstGeom prst="rect">
            <a:avLst/>
          </a:prstGeom>
          <a:noFill/>
          <a:ln/>
        </p:spPr>
        <p:txBody>
          <a:bodyPr wrap="square" lIns="0" tIns="0" rIns="0" bIns="0" rtlCol="0" anchor="ctr"/>
          <a:lstStyle/>
          <a:p>
            <a:pPr indent="0" marL="0">
              <a:buNone/>
            </a:pPr>
            <a:r>
              <a:rPr lang="en-US" sz="1350" dirty="0">
                <a:solidFill>
                  <a:srgbClr val="18213D"/>
                </a:solidFill>
                <a:latin typeface="Calibri" pitchFamily="34" charset="0"/>
                <a:ea typeface="Calibri" pitchFamily="34" charset="-122"/>
                <a:cs typeface="Calibri" pitchFamily="34" charset="-120"/>
              </a:rPr>
              <a:t>관련성 레이블 전혀 없이 제로샷 문제를 실질적으로 해결</a:t>
            </a:r>
            <a:endParaRPr lang="en-US" sz="1350" dirty="0"/>
          </a:p>
        </p:txBody>
      </p:sp>
      <p:sp>
        <p:nvSpPr>
          <p:cNvPr id="36" name="Shape 29"/>
          <p:cNvSpPr/>
          <p:nvPr/>
        </p:nvSpPr>
        <p:spPr>
          <a:xfrm>
            <a:off x="640080" y="6172200"/>
            <a:ext cx="10881360" cy="502920"/>
          </a:xfrm>
          <a:prstGeom prst="roundRect">
            <a:avLst>
              <a:gd name="adj" fmla="val 50909"/>
            </a:avLst>
          </a:prstGeom>
          <a:solidFill>
            <a:srgbClr val="F4F7FA"/>
          </a:solidFill>
          <a:ln/>
        </p:spPr>
      </p:sp>
      <p:sp>
        <p:nvSpPr>
          <p:cNvPr id="37" name="Text 30"/>
          <p:cNvSpPr/>
          <p:nvPr/>
        </p:nvSpPr>
        <p:spPr>
          <a:xfrm>
            <a:off x="640080" y="6172200"/>
            <a:ext cx="10881360" cy="502920"/>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학과 챗봇 적용: 짧은 학생 질문 → LLM이 학사 안내문처럼 가상 답변 생성 → 그걸로 검색</a:t>
            </a:r>
            <a:endParaRPr lang="en-US" sz="1300" dirty="0"/>
          </a:p>
        </p:txBody>
      </p:sp>
      <p:sp>
        <p:nvSpPr>
          <p:cNvPr id="38" name="Text 31"/>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04 · ADAPTIVE RAG</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5" name="Shape 3"/>
          <p:cNvSpPr/>
          <p:nvPr/>
        </p:nvSpPr>
        <p:spPr>
          <a:xfrm>
            <a:off x="9326880" y="365760"/>
            <a:ext cx="2194560" cy="329184"/>
          </a:xfrm>
          <a:prstGeom prst="roundRect">
            <a:avLst>
              <a:gd name="adj" fmla="val 50000"/>
            </a:avLst>
          </a:prstGeom>
          <a:solidFill>
            <a:srgbClr val="F4F7FA"/>
          </a:solidFill>
          <a:ln w="12700">
            <a:solidFill>
              <a:srgbClr val="E1E8ED"/>
            </a:solidFill>
            <a:prstDash val="solid"/>
          </a:ln>
        </p:spPr>
      </p:sp>
      <p:sp>
        <p:nvSpPr>
          <p:cNvPr id="6" name="Text 4"/>
          <p:cNvSpPr/>
          <p:nvPr/>
        </p:nvSpPr>
        <p:spPr>
          <a:xfrm>
            <a:off x="9326880" y="365760"/>
            <a:ext cx="2194560" cy="329184"/>
          </a:xfrm>
          <a:prstGeom prst="rect">
            <a:avLst/>
          </a:prstGeom>
          <a:noFill/>
          <a:ln/>
        </p:spPr>
        <p:txBody>
          <a:bodyPr wrap="square" lIns="0" tIns="0" rIns="0" bIns="0" rtlCol="0" anchor="ctr"/>
          <a:lstStyle/>
          <a:p>
            <a:pPr algn="ctr" indent="0" marL="0">
              <a:buNone/>
            </a:pPr>
            <a:r>
              <a:rPr lang="en-US" sz="1250" dirty="0">
                <a:solidFill>
                  <a:srgbClr val="45506B"/>
                </a:solidFill>
                <a:latin typeface="Calibri" pitchFamily="34" charset="0"/>
                <a:ea typeface="Calibri" pitchFamily="34" charset="-122"/>
                <a:cs typeface="Calibri" pitchFamily="34" charset="-120"/>
              </a:rPr>
              <a:t>발표  홍길동</a:t>
            </a:r>
            <a:endParaRPr lang="en-US" sz="1250" dirty="0"/>
          </a:p>
        </p:txBody>
      </p:sp>
      <p:sp>
        <p:nvSpPr>
          <p:cNvPr id="7" name="Text 5"/>
          <p:cNvSpPr/>
          <p:nvPr/>
        </p:nvSpPr>
        <p:spPr>
          <a:xfrm>
            <a:off x="640080" y="658368"/>
            <a:ext cx="85039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Self-RAG — 스스로 판단하고 검토하기</a:t>
            </a:r>
            <a:endParaRPr lang="en-US" sz="2300" dirty="0"/>
          </a:p>
        </p:txBody>
      </p:sp>
      <p:sp>
        <p:nvSpPr>
          <p:cNvPr id="8" name="Shape 6"/>
          <p:cNvSpPr/>
          <p:nvPr/>
        </p:nvSpPr>
        <p:spPr>
          <a:xfrm>
            <a:off x="640080" y="1298448"/>
            <a:ext cx="10881360" cy="713232"/>
          </a:xfrm>
          <a:prstGeom prst="roundRect">
            <a:avLst>
              <a:gd name="adj" fmla="val 7692"/>
            </a:avLst>
          </a:prstGeom>
          <a:solidFill>
            <a:srgbClr val="F4F7FA"/>
          </a:solidFill>
          <a:ln/>
        </p:spPr>
      </p:sp>
      <p:sp>
        <p:nvSpPr>
          <p:cNvPr id="9" name="Text 7"/>
          <p:cNvSpPr/>
          <p:nvPr/>
        </p:nvSpPr>
        <p:spPr>
          <a:xfrm>
            <a:off x="868680" y="1353312"/>
            <a:ext cx="10424160" cy="384048"/>
          </a:xfrm>
          <a:prstGeom prst="rect">
            <a:avLst/>
          </a:prstGeom>
          <a:noFill/>
          <a:ln/>
        </p:spPr>
        <p:txBody>
          <a:bodyPr wrap="square" lIns="0" tIns="0" rIns="0" bIns="0" rtlCol="0" anchor="ctr"/>
          <a:lstStyle/>
          <a:p>
            <a:pPr indent="0" marL="0">
              <a:lnSpc>
                <a:spcPct val="102000"/>
              </a:lnSpc>
              <a:buNone/>
            </a:pPr>
            <a:r>
              <a:rPr lang="en-US" sz="1250" b="1" dirty="0">
                <a:solidFill>
                  <a:srgbClr val="21295C"/>
                </a:solidFill>
                <a:latin typeface="Cambria" pitchFamily="34" charset="0"/>
                <a:ea typeface="Cambria" pitchFamily="34" charset="-122"/>
                <a:cs typeface="Cambria" pitchFamily="34" charset="-120"/>
              </a:rPr>
              <a:t>Self-RAG: Learning to Retrieve, Generate, and Critique through Self-Reflection</a:t>
            </a:r>
            <a:endParaRPr lang="en-US" sz="1250" dirty="0"/>
          </a:p>
        </p:txBody>
      </p:sp>
      <p:sp>
        <p:nvSpPr>
          <p:cNvPr id="10" name="Text 8"/>
          <p:cNvSpPr/>
          <p:nvPr/>
        </p:nvSpPr>
        <p:spPr>
          <a:xfrm>
            <a:off x="868680" y="1737360"/>
            <a:ext cx="10424160" cy="228600"/>
          </a:xfrm>
          <a:prstGeom prst="rect">
            <a:avLst/>
          </a:prstGeom>
          <a:noFill/>
          <a:ln/>
        </p:spPr>
        <p:txBody>
          <a:bodyPr wrap="square" lIns="0" tIns="0" rIns="0" bIns="0" rtlCol="0" anchor="ctr"/>
          <a:lstStyle/>
          <a:p>
            <a:pPr indent="0" marL="0">
              <a:buNone/>
            </a:pPr>
            <a:r>
              <a:rPr lang="en-US" sz="1100" dirty="0">
                <a:solidFill>
                  <a:srgbClr val="45506B"/>
                </a:solidFill>
                <a:latin typeface="Calibri" pitchFamily="34" charset="0"/>
                <a:ea typeface="Calibri" pitchFamily="34" charset="-122"/>
                <a:cs typeface="Calibri" pitchFamily="34" charset="-120"/>
              </a:rPr>
              <a:t>Asai, A. et al.  ·  ICLR 2024 (Oral, 상위 1%)  ·  arXiv:2310.11511</a:t>
            </a:r>
            <a:endParaRPr lang="en-US" sz="1100" dirty="0"/>
          </a:p>
        </p:txBody>
      </p:sp>
      <p:sp>
        <p:nvSpPr>
          <p:cNvPr id="11" name="Text 9"/>
          <p:cNvSpPr/>
          <p:nvPr/>
        </p:nvSpPr>
        <p:spPr>
          <a:xfrm>
            <a:off x="640080" y="2103120"/>
            <a:ext cx="10058400" cy="32004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기존 RAG: 질문 → 무조건 검색 → 문서 넣기 → 답변 생성</a:t>
            </a:r>
            <a:endParaRPr lang="en-US" sz="1400" dirty="0"/>
          </a:p>
        </p:txBody>
      </p:sp>
      <p:sp>
        <p:nvSpPr>
          <p:cNvPr id="12" name="Shape 10"/>
          <p:cNvSpPr/>
          <p:nvPr/>
        </p:nvSpPr>
        <p:spPr>
          <a:xfrm>
            <a:off x="640080" y="2468880"/>
            <a:ext cx="10881360" cy="1051560"/>
          </a:xfrm>
          <a:prstGeom prst="roundRect">
            <a:avLst>
              <a:gd name="adj" fmla="val 7826"/>
            </a:avLst>
          </a:prstGeom>
          <a:solidFill>
            <a:srgbClr val="FBEFE0"/>
          </a:solidFill>
          <a:ln/>
        </p:spPr>
      </p:sp>
      <p:sp>
        <p:nvSpPr>
          <p:cNvPr id="13" name="Text 11"/>
          <p:cNvSpPr/>
          <p:nvPr/>
        </p:nvSpPr>
        <p:spPr>
          <a:xfrm>
            <a:off x="868680" y="2587752"/>
            <a:ext cx="5029200" cy="320040"/>
          </a:xfrm>
          <a:prstGeom prst="rect">
            <a:avLst/>
          </a:prstGeom>
          <a:noFill/>
          <a:ln/>
        </p:spPr>
        <p:txBody>
          <a:bodyPr wrap="square" lIns="0" tIns="0" rIns="0" bIns="0" rtlCol="0" anchor="ctr"/>
          <a:lstStyle/>
          <a:p>
            <a:pPr indent="0" marL="0">
              <a:buNone/>
            </a:pPr>
            <a:r>
              <a:rPr lang="en-US" sz="1350" b="1" dirty="0">
                <a:solidFill>
                  <a:srgbClr val="9C6B00"/>
                </a:solidFill>
                <a:latin typeface="Calibri" pitchFamily="34" charset="0"/>
                <a:ea typeface="Calibri" pitchFamily="34" charset="-122"/>
                <a:cs typeface="Calibri" pitchFamily="34" charset="-120"/>
              </a:rPr>
              <a:t>이런 질문에도 검색이 꼭 필요할까?</a:t>
            </a:r>
            <a:endParaRPr lang="en-US" sz="1350" dirty="0"/>
          </a:p>
        </p:txBody>
      </p:sp>
      <p:sp>
        <p:nvSpPr>
          <p:cNvPr id="14" name="Text 12"/>
          <p:cNvSpPr/>
          <p:nvPr/>
        </p:nvSpPr>
        <p:spPr>
          <a:xfrm>
            <a:off x="868680" y="2926080"/>
            <a:ext cx="4937760" cy="548640"/>
          </a:xfrm>
          <a:prstGeom prst="rect">
            <a:avLst/>
          </a:prstGeom>
          <a:noFill/>
          <a:ln/>
        </p:spPr>
        <p:txBody>
          <a:bodyPr wrap="square" lIns="0" tIns="0" rIns="0" bIns="0" rtlCol="0" anchor="ctr"/>
          <a:lstStyle/>
          <a:p>
            <a:pPr indent="0" marL="0">
              <a:lnSpc>
                <a:spcPct val="120000"/>
              </a:lnSpc>
              <a:buNone/>
            </a:pPr>
            <a:r>
              <a:rPr lang="en-US" sz="1350" dirty="0">
                <a:solidFill>
                  <a:srgbClr val="6B4A1A"/>
                </a:solidFill>
                <a:latin typeface="Cambria" pitchFamily="34" charset="0"/>
                <a:ea typeface="Cambria" pitchFamily="34" charset="-122"/>
                <a:cs typeface="Cambria" pitchFamily="34" charset="-120"/>
              </a:rPr>
              <a:t>“여름방학 때 가장 좋았던 여행에 대한</a:t>
            </a:r>
            <a:endParaRPr lang="en-US" sz="1350" dirty="0"/>
          </a:p>
          <a:p>
            <a:pPr indent="0" marL="0">
              <a:lnSpc>
                <a:spcPct val="120000"/>
              </a:lnSpc>
              <a:buNone/>
            </a:pPr>
            <a:r>
              <a:rPr lang="en-US" sz="1350" dirty="0">
                <a:solidFill>
                  <a:srgbClr val="6B4A1A"/>
                </a:solidFill>
                <a:latin typeface="Cambria" pitchFamily="34" charset="0"/>
                <a:ea typeface="Cambria" pitchFamily="34" charset="-122"/>
                <a:cs typeface="Cambria" pitchFamily="34" charset="-120"/>
              </a:rPr>
              <a:t>에세이를 써줘.”</a:t>
            </a:r>
            <a:endParaRPr lang="en-US" sz="1350" dirty="0"/>
          </a:p>
        </p:txBody>
      </p:sp>
      <p:sp>
        <p:nvSpPr>
          <p:cNvPr id="15" name="Shape 13"/>
          <p:cNvSpPr/>
          <p:nvPr/>
        </p:nvSpPr>
        <p:spPr>
          <a:xfrm>
            <a:off x="5943600" y="2606040"/>
            <a:ext cx="0" cy="822960"/>
          </a:xfrm>
          <a:prstGeom prst="line">
            <a:avLst/>
          </a:prstGeom>
          <a:noFill/>
          <a:ln w="19050">
            <a:solidFill>
              <a:srgbClr val="E8C88A"/>
            </a:solidFill>
            <a:prstDash val="solid"/>
          </a:ln>
        </p:spPr>
      </p:sp>
      <p:sp>
        <p:nvSpPr>
          <p:cNvPr id="16" name="Text 14"/>
          <p:cNvSpPr/>
          <p:nvPr/>
        </p:nvSpPr>
        <p:spPr>
          <a:xfrm>
            <a:off x="6172200" y="2606040"/>
            <a:ext cx="5166360" cy="868680"/>
          </a:xfrm>
          <a:prstGeom prst="rect">
            <a:avLst/>
          </a:prstGeom>
          <a:noFill/>
          <a:ln/>
        </p:spPr>
        <p:txBody>
          <a:bodyPr wrap="square" lIns="0" tIns="0" rIns="0" bIns="0" rtlCol="0" anchor="ctr"/>
          <a:lstStyle/>
          <a:p>
            <a:pPr indent="0" marL="0">
              <a:lnSpc>
                <a:spcPct val="130000"/>
              </a:lnSpc>
              <a:buNone/>
            </a:pPr>
            <a:r>
              <a:rPr lang="en-US" sz="1350" dirty="0">
                <a:solidFill>
                  <a:srgbClr val="6B4A1A"/>
                </a:solidFill>
                <a:latin typeface="Calibri" pitchFamily="34" charset="0"/>
                <a:ea typeface="Calibri" pitchFamily="34" charset="-122"/>
                <a:cs typeface="Calibri" pitchFamily="34" charset="-120"/>
              </a:rPr>
              <a:t>개인 경험 글쓰기 — 외부 검색이 필요 없다. 그런데 기존 RAG는 이런 질문에도 무조건 문서를 검색한다.</a:t>
            </a:r>
            <a:endParaRPr lang="en-US" sz="1350" dirty="0"/>
          </a:p>
        </p:txBody>
      </p:sp>
      <p:sp>
        <p:nvSpPr>
          <p:cNvPr id="17" name="Text 15"/>
          <p:cNvSpPr/>
          <p:nvPr/>
        </p:nvSpPr>
        <p:spPr>
          <a:xfrm>
            <a:off x="640080" y="3703320"/>
            <a:ext cx="7315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Self-RAG의 4가지 반성 토큰 (Reflection Token)</a:t>
            </a:r>
            <a:endParaRPr lang="en-US" sz="1400" dirty="0"/>
          </a:p>
        </p:txBody>
      </p:sp>
      <p:sp>
        <p:nvSpPr>
          <p:cNvPr id="18" name="Shape 16"/>
          <p:cNvSpPr/>
          <p:nvPr/>
        </p:nvSpPr>
        <p:spPr>
          <a:xfrm>
            <a:off x="640080" y="4069080"/>
            <a:ext cx="1371600" cy="365760"/>
          </a:xfrm>
          <a:prstGeom prst="rect">
            <a:avLst/>
          </a:prstGeom>
          <a:solidFill>
            <a:srgbClr val="21295C"/>
          </a:solidFill>
          <a:ln/>
        </p:spPr>
      </p:sp>
      <p:sp>
        <p:nvSpPr>
          <p:cNvPr id="19" name="Text 17"/>
          <p:cNvSpPr/>
          <p:nvPr/>
        </p:nvSpPr>
        <p:spPr>
          <a:xfrm>
            <a:off x="640080" y="4069080"/>
            <a:ext cx="13716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토큰</a:t>
            </a:r>
            <a:endParaRPr lang="en-US" sz="1300" dirty="0"/>
          </a:p>
        </p:txBody>
      </p:sp>
      <p:sp>
        <p:nvSpPr>
          <p:cNvPr id="20" name="Shape 18"/>
          <p:cNvSpPr/>
          <p:nvPr/>
        </p:nvSpPr>
        <p:spPr>
          <a:xfrm>
            <a:off x="2011680" y="4069080"/>
            <a:ext cx="2103120" cy="365760"/>
          </a:xfrm>
          <a:prstGeom prst="rect">
            <a:avLst/>
          </a:prstGeom>
          <a:solidFill>
            <a:srgbClr val="21295C"/>
          </a:solidFill>
          <a:ln/>
        </p:spPr>
      </p:sp>
      <p:sp>
        <p:nvSpPr>
          <p:cNvPr id="21" name="Text 19"/>
          <p:cNvSpPr/>
          <p:nvPr/>
        </p:nvSpPr>
        <p:spPr>
          <a:xfrm>
            <a:off x="2011680" y="406908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의미</a:t>
            </a:r>
            <a:endParaRPr lang="en-US" sz="1300" dirty="0"/>
          </a:p>
        </p:txBody>
      </p:sp>
      <p:sp>
        <p:nvSpPr>
          <p:cNvPr id="22" name="Shape 20"/>
          <p:cNvSpPr/>
          <p:nvPr/>
        </p:nvSpPr>
        <p:spPr>
          <a:xfrm>
            <a:off x="4114800" y="4069080"/>
            <a:ext cx="7406640" cy="365760"/>
          </a:xfrm>
          <a:prstGeom prst="rect">
            <a:avLst/>
          </a:prstGeom>
          <a:solidFill>
            <a:srgbClr val="21295C"/>
          </a:solidFill>
          <a:ln/>
        </p:spPr>
      </p:sp>
      <p:sp>
        <p:nvSpPr>
          <p:cNvPr id="23" name="Text 21"/>
          <p:cNvSpPr/>
          <p:nvPr/>
        </p:nvSpPr>
        <p:spPr>
          <a:xfrm>
            <a:off x="4114800" y="4069080"/>
            <a:ext cx="7406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쉬운 설명</a:t>
            </a:r>
            <a:endParaRPr lang="en-US" sz="1300" dirty="0"/>
          </a:p>
        </p:txBody>
      </p:sp>
      <p:sp>
        <p:nvSpPr>
          <p:cNvPr id="24" name="Shape 22"/>
          <p:cNvSpPr/>
          <p:nvPr/>
        </p:nvSpPr>
        <p:spPr>
          <a:xfrm>
            <a:off x="640080" y="4434840"/>
            <a:ext cx="1371600" cy="438912"/>
          </a:xfrm>
          <a:prstGeom prst="rect">
            <a:avLst/>
          </a:prstGeom>
          <a:solidFill>
            <a:srgbClr val="F4F7FA"/>
          </a:solidFill>
          <a:ln w="6350">
            <a:solidFill>
              <a:srgbClr val="E1E8ED"/>
            </a:solidFill>
            <a:prstDash val="solid"/>
          </a:ln>
        </p:spPr>
      </p:sp>
      <p:sp>
        <p:nvSpPr>
          <p:cNvPr id="25" name="Text 23"/>
          <p:cNvSpPr/>
          <p:nvPr/>
        </p:nvSpPr>
        <p:spPr>
          <a:xfrm>
            <a:off x="749808" y="4434840"/>
            <a:ext cx="1152144" cy="438912"/>
          </a:xfrm>
          <a:prstGeom prst="rect">
            <a:avLst/>
          </a:prstGeom>
          <a:noFill/>
          <a:ln/>
        </p:spPr>
        <p:txBody>
          <a:bodyPr wrap="square" lIns="0" tIns="0" rIns="0" bIns="0" rtlCol="0" anchor="ctr"/>
          <a:lstStyle/>
          <a:p>
            <a:pPr indent="0" marL="0">
              <a:buNone/>
            </a:pPr>
            <a:r>
              <a:rPr lang="en-US" sz="1100" b="1" dirty="0">
                <a:solidFill>
                  <a:srgbClr val="21295C"/>
                </a:solidFill>
                <a:latin typeface="Cambria" pitchFamily="34" charset="0"/>
                <a:ea typeface="Cambria" pitchFamily="34" charset="-122"/>
                <a:cs typeface="Cambria" pitchFamily="34" charset="-120"/>
              </a:rPr>
              <a:t>Retrieve</a:t>
            </a:r>
            <a:endParaRPr lang="en-US" sz="1100" dirty="0"/>
          </a:p>
        </p:txBody>
      </p:sp>
      <p:sp>
        <p:nvSpPr>
          <p:cNvPr id="26" name="Shape 24"/>
          <p:cNvSpPr/>
          <p:nvPr/>
        </p:nvSpPr>
        <p:spPr>
          <a:xfrm>
            <a:off x="2011680" y="4434840"/>
            <a:ext cx="2103120" cy="438912"/>
          </a:xfrm>
          <a:prstGeom prst="rect">
            <a:avLst/>
          </a:prstGeom>
          <a:solidFill>
            <a:srgbClr val="F4F7FA"/>
          </a:solidFill>
          <a:ln w="6350">
            <a:solidFill>
              <a:srgbClr val="E1E8ED"/>
            </a:solidFill>
            <a:prstDash val="solid"/>
          </a:ln>
        </p:spPr>
      </p:sp>
      <p:sp>
        <p:nvSpPr>
          <p:cNvPr id="27" name="Text 25"/>
          <p:cNvSpPr/>
          <p:nvPr/>
        </p:nvSpPr>
        <p:spPr>
          <a:xfrm>
            <a:off x="2121408" y="4434840"/>
            <a:ext cx="188366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검색 필요 여부</a:t>
            </a:r>
            <a:endParaRPr lang="en-US" sz="1000" dirty="0"/>
          </a:p>
        </p:txBody>
      </p:sp>
      <p:sp>
        <p:nvSpPr>
          <p:cNvPr id="28" name="Shape 26"/>
          <p:cNvSpPr/>
          <p:nvPr/>
        </p:nvSpPr>
        <p:spPr>
          <a:xfrm>
            <a:off x="4114800" y="4434840"/>
            <a:ext cx="7406640" cy="438912"/>
          </a:xfrm>
          <a:prstGeom prst="rect">
            <a:avLst/>
          </a:prstGeom>
          <a:solidFill>
            <a:srgbClr val="F4F7FA"/>
          </a:solidFill>
          <a:ln w="6350">
            <a:solidFill>
              <a:srgbClr val="E1E8ED"/>
            </a:solidFill>
            <a:prstDash val="solid"/>
          </a:ln>
        </p:spPr>
      </p:sp>
      <p:sp>
        <p:nvSpPr>
          <p:cNvPr id="29" name="Text 27"/>
          <p:cNvSpPr/>
          <p:nvPr/>
        </p:nvSpPr>
        <p:spPr>
          <a:xfrm>
            <a:off x="4224528" y="4434840"/>
            <a:ext cx="718718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지금 외부 문서 검색이 필요한가?</a:t>
            </a:r>
            <a:endParaRPr lang="en-US" sz="1000" dirty="0"/>
          </a:p>
        </p:txBody>
      </p:sp>
      <p:sp>
        <p:nvSpPr>
          <p:cNvPr id="30" name="Shape 28"/>
          <p:cNvSpPr/>
          <p:nvPr/>
        </p:nvSpPr>
        <p:spPr>
          <a:xfrm>
            <a:off x="640080" y="4873752"/>
            <a:ext cx="1371600" cy="438912"/>
          </a:xfrm>
          <a:prstGeom prst="rect">
            <a:avLst/>
          </a:prstGeom>
          <a:solidFill>
            <a:srgbClr val="FFFFFF"/>
          </a:solidFill>
          <a:ln w="6350">
            <a:solidFill>
              <a:srgbClr val="E1E8ED"/>
            </a:solidFill>
            <a:prstDash val="solid"/>
          </a:ln>
        </p:spPr>
      </p:sp>
      <p:sp>
        <p:nvSpPr>
          <p:cNvPr id="31" name="Text 29"/>
          <p:cNvSpPr/>
          <p:nvPr/>
        </p:nvSpPr>
        <p:spPr>
          <a:xfrm>
            <a:off x="749808" y="4873752"/>
            <a:ext cx="1152144" cy="438912"/>
          </a:xfrm>
          <a:prstGeom prst="rect">
            <a:avLst/>
          </a:prstGeom>
          <a:noFill/>
          <a:ln/>
        </p:spPr>
        <p:txBody>
          <a:bodyPr wrap="square" lIns="0" tIns="0" rIns="0" bIns="0" rtlCol="0" anchor="ctr"/>
          <a:lstStyle/>
          <a:p>
            <a:pPr indent="0" marL="0">
              <a:buNone/>
            </a:pPr>
            <a:r>
              <a:rPr lang="en-US" sz="1100" b="1" dirty="0">
                <a:solidFill>
                  <a:srgbClr val="21295C"/>
                </a:solidFill>
                <a:latin typeface="Cambria" pitchFamily="34" charset="0"/>
                <a:ea typeface="Cambria" pitchFamily="34" charset="-122"/>
                <a:cs typeface="Cambria" pitchFamily="34" charset="-120"/>
              </a:rPr>
              <a:t>ISREL</a:t>
            </a:r>
            <a:endParaRPr lang="en-US" sz="1100" dirty="0"/>
          </a:p>
        </p:txBody>
      </p:sp>
      <p:sp>
        <p:nvSpPr>
          <p:cNvPr id="32" name="Shape 30"/>
          <p:cNvSpPr/>
          <p:nvPr/>
        </p:nvSpPr>
        <p:spPr>
          <a:xfrm>
            <a:off x="2011680" y="4873752"/>
            <a:ext cx="2103120" cy="438912"/>
          </a:xfrm>
          <a:prstGeom prst="rect">
            <a:avLst/>
          </a:prstGeom>
          <a:solidFill>
            <a:srgbClr val="FFFFFF"/>
          </a:solidFill>
          <a:ln w="6350">
            <a:solidFill>
              <a:srgbClr val="E1E8ED"/>
            </a:solidFill>
            <a:prstDash val="solid"/>
          </a:ln>
        </p:spPr>
      </p:sp>
      <p:sp>
        <p:nvSpPr>
          <p:cNvPr id="33" name="Text 31"/>
          <p:cNvSpPr/>
          <p:nvPr/>
        </p:nvSpPr>
        <p:spPr>
          <a:xfrm>
            <a:off x="2121408" y="4873752"/>
            <a:ext cx="188366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문서 관련성</a:t>
            </a:r>
            <a:endParaRPr lang="en-US" sz="1000" dirty="0"/>
          </a:p>
        </p:txBody>
      </p:sp>
      <p:sp>
        <p:nvSpPr>
          <p:cNvPr id="34" name="Shape 32"/>
          <p:cNvSpPr/>
          <p:nvPr/>
        </p:nvSpPr>
        <p:spPr>
          <a:xfrm>
            <a:off x="4114800" y="4873752"/>
            <a:ext cx="7406640" cy="438912"/>
          </a:xfrm>
          <a:prstGeom prst="rect">
            <a:avLst/>
          </a:prstGeom>
          <a:solidFill>
            <a:srgbClr val="FFFFFF"/>
          </a:solidFill>
          <a:ln w="6350">
            <a:solidFill>
              <a:srgbClr val="E1E8ED"/>
            </a:solidFill>
            <a:prstDash val="solid"/>
          </a:ln>
        </p:spPr>
      </p:sp>
      <p:sp>
        <p:nvSpPr>
          <p:cNvPr id="35" name="Text 33"/>
          <p:cNvSpPr/>
          <p:nvPr/>
        </p:nvSpPr>
        <p:spPr>
          <a:xfrm>
            <a:off x="4224528" y="4873752"/>
            <a:ext cx="718718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검색된 문서가 질문 해결에 도움이 되는가?</a:t>
            </a:r>
            <a:endParaRPr lang="en-US" sz="1000" dirty="0"/>
          </a:p>
        </p:txBody>
      </p:sp>
      <p:sp>
        <p:nvSpPr>
          <p:cNvPr id="36" name="Shape 34"/>
          <p:cNvSpPr/>
          <p:nvPr/>
        </p:nvSpPr>
        <p:spPr>
          <a:xfrm>
            <a:off x="640080" y="5312664"/>
            <a:ext cx="1371600" cy="438912"/>
          </a:xfrm>
          <a:prstGeom prst="rect">
            <a:avLst/>
          </a:prstGeom>
          <a:solidFill>
            <a:srgbClr val="F4F7FA"/>
          </a:solidFill>
          <a:ln w="6350">
            <a:solidFill>
              <a:srgbClr val="E1E8ED"/>
            </a:solidFill>
            <a:prstDash val="solid"/>
          </a:ln>
        </p:spPr>
      </p:sp>
      <p:sp>
        <p:nvSpPr>
          <p:cNvPr id="37" name="Text 35"/>
          <p:cNvSpPr/>
          <p:nvPr/>
        </p:nvSpPr>
        <p:spPr>
          <a:xfrm>
            <a:off x="749808" y="5312664"/>
            <a:ext cx="1152144" cy="438912"/>
          </a:xfrm>
          <a:prstGeom prst="rect">
            <a:avLst/>
          </a:prstGeom>
          <a:noFill/>
          <a:ln/>
        </p:spPr>
        <p:txBody>
          <a:bodyPr wrap="square" lIns="0" tIns="0" rIns="0" bIns="0" rtlCol="0" anchor="ctr"/>
          <a:lstStyle/>
          <a:p>
            <a:pPr indent="0" marL="0">
              <a:buNone/>
            </a:pPr>
            <a:r>
              <a:rPr lang="en-US" sz="1100" b="1" dirty="0">
                <a:solidFill>
                  <a:srgbClr val="21295C"/>
                </a:solidFill>
                <a:latin typeface="Cambria" pitchFamily="34" charset="0"/>
                <a:ea typeface="Cambria" pitchFamily="34" charset="-122"/>
                <a:cs typeface="Cambria" pitchFamily="34" charset="-120"/>
              </a:rPr>
              <a:t>ISSUP</a:t>
            </a:r>
            <a:endParaRPr lang="en-US" sz="1100" dirty="0"/>
          </a:p>
        </p:txBody>
      </p:sp>
      <p:sp>
        <p:nvSpPr>
          <p:cNvPr id="38" name="Shape 36"/>
          <p:cNvSpPr/>
          <p:nvPr/>
        </p:nvSpPr>
        <p:spPr>
          <a:xfrm>
            <a:off x="2011680" y="5312664"/>
            <a:ext cx="2103120" cy="438912"/>
          </a:xfrm>
          <a:prstGeom prst="rect">
            <a:avLst/>
          </a:prstGeom>
          <a:solidFill>
            <a:srgbClr val="F4F7FA"/>
          </a:solidFill>
          <a:ln w="6350">
            <a:solidFill>
              <a:srgbClr val="E1E8ED"/>
            </a:solidFill>
            <a:prstDash val="solid"/>
          </a:ln>
        </p:spPr>
      </p:sp>
      <p:sp>
        <p:nvSpPr>
          <p:cNvPr id="39" name="Text 37"/>
          <p:cNvSpPr/>
          <p:nvPr/>
        </p:nvSpPr>
        <p:spPr>
          <a:xfrm>
            <a:off x="2121408" y="5312664"/>
            <a:ext cx="188366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답변 근거성</a:t>
            </a:r>
            <a:endParaRPr lang="en-US" sz="1000" dirty="0"/>
          </a:p>
        </p:txBody>
      </p:sp>
      <p:sp>
        <p:nvSpPr>
          <p:cNvPr id="40" name="Shape 38"/>
          <p:cNvSpPr/>
          <p:nvPr/>
        </p:nvSpPr>
        <p:spPr>
          <a:xfrm>
            <a:off x="4114800" y="5312664"/>
            <a:ext cx="7406640" cy="438912"/>
          </a:xfrm>
          <a:prstGeom prst="rect">
            <a:avLst/>
          </a:prstGeom>
          <a:solidFill>
            <a:srgbClr val="F4F7FA"/>
          </a:solidFill>
          <a:ln w="6350">
            <a:solidFill>
              <a:srgbClr val="E1E8ED"/>
            </a:solidFill>
            <a:prstDash val="solid"/>
          </a:ln>
        </p:spPr>
      </p:sp>
      <p:sp>
        <p:nvSpPr>
          <p:cNvPr id="41" name="Text 39"/>
          <p:cNvSpPr/>
          <p:nvPr/>
        </p:nvSpPr>
        <p:spPr>
          <a:xfrm>
            <a:off x="4224528" y="5312664"/>
            <a:ext cx="718718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생성한 답변이 문서에 의해 뒷받침되는가?</a:t>
            </a:r>
            <a:endParaRPr lang="en-US" sz="1000" dirty="0"/>
          </a:p>
        </p:txBody>
      </p:sp>
      <p:sp>
        <p:nvSpPr>
          <p:cNvPr id="42" name="Shape 40"/>
          <p:cNvSpPr/>
          <p:nvPr/>
        </p:nvSpPr>
        <p:spPr>
          <a:xfrm>
            <a:off x="640080" y="5751576"/>
            <a:ext cx="1371600" cy="438912"/>
          </a:xfrm>
          <a:prstGeom prst="rect">
            <a:avLst/>
          </a:prstGeom>
          <a:solidFill>
            <a:srgbClr val="FFFFFF"/>
          </a:solidFill>
          <a:ln w="6350">
            <a:solidFill>
              <a:srgbClr val="E1E8ED"/>
            </a:solidFill>
            <a:prstDash val="solid"/>
          </a:ln>
        </p:spPr>
      </p:sp>
      <p:sp>
        <p:nvSpPr>
          <p:cNvPr id="43" name="Text 41"/>
          <p:cNvSpPr/>
          <p:nvPr/>
        </p:nvSpPr>
        <p:spPr>
          <a:xfrm>
            <a:off x="749808" y="5751576"/>
            <a:ext cx="1152144" cy="438912"/>
          </a:xfrm>
          <a:prstGeom prst="rect">
            <a:avLst/>
          </a:prstGeom>
          <a:noFill/>
          <a:ln/>
        </p:spPr>
        <p:txBody>
          <a:bodyPr wrap="square" lIns="0" tIns="0" rIns="0" bIns="0" rtlCol="0" anchor="ctr"/>
          <a:lstStyle/>
          <a:p>
            <a:pPr indent="0" marL="0">
              <a:buNone/>
            </a:pPr>
            <a:r>
              <a:rPr lang="en-US" sz="1100" b="1" dirty="0">
                <a:solidFill>
                  <a:srgbClr val="21295C"/>
                </a:solidFill>
                <a:latin typeface="Cambria" pitchFamily="34" charset="0"/>
                <a:ea typeface="Cambria" pitchFamily="34" charset="-122"/>
                <a:cs typeface="Cambria" pitchFamily="34" charset="-120"/>
              </a:rPr>
              <a:t>ISUSE</a:t>
            </a:r>
            <a:endParaRPr lang="en-US" sz="1100" dirty="0"/>
          </a:p>
        </p:txBody>
      </p:sp>
      <p:sp>
        <p:nvSpPr>
          <p:cNvPr id="44" name="Shape 42"/>
          <p:cNvSpPr/>
          <p:nvPr/>
        </p:nvSpPr>
        <p:spPr>
          <a:xfrm>
            <a:off x="2011680" y="5751576"/>
            <a:ext cx="2103120" cy="438912"/>
          </a:xfrm>
          <a:prstGeom prst="rect">
            <a:avLst/>
          </a:prstGeom>
          <a:solidFill>
            <a:srgbClr val="FFFFFF"/>
          </a:solidFill>
          <a:ln w="6350">
            <a:solidFill>
              <a:srgbClr val="E1E8ED"/>
            </a:solidFill>
            <a:prstDash val="solid"/>
          </a:ln>
        </p:spPr>
      </p:sp>
      <p:sp>
        <p:nvSpPr>
          <p:cNvPr id="45" name="Text 43"/>
          <p:cNvSpPr/>
          <p:nvPr/>
        </p:nvSpPr>
        <p:spPr>
          <a:xfrm>
            <a:off x="2121408" y="5751576"/>
            <a:ext cx="188366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답변 유용성</a:t>
            </a:r>
            <a:endParaRPr lang="en-US" sz="1000" dirty="0"/>
          </a:p>
        </p:txBody>
      </p:sp>
      <p:sp>
        <p:nvSpPr>
          <p:cNvPr id="46" name="Shape 44"/>
          <p:cNvSpPr/>
          <p:nvPr/>
        </p:nvSpPr>
        <p:spPr>
          <a:xfrm>
            <a:off x="4114800" y="5751576"/>
            <a:ext cx="7406640" cy="438912"/>
          </a:xfrm>
          <a:prstGeom prst="rect">
            <a:avLst/>
          </a:prstGeom>
          <a:solidFill>
            <a:srgbClr val="FFFFFF"/>
          </a:solidFill>
          <a:ln w="6350">
            <a:solidFill>
              <a:srgbClr val="E1E8ED"/>
            </a:solidFill>
            <a:prstDash val="solid"/>
          </a:ln>
        </p:spPr>
      </p:sp>
      <p:sp>
        <p:nvSpPr>
          <p:cNvPr id="47" name="Text 45"/>
          <p:cNvSpPr/>
          <p:nvPr/>
        </p:nvSpPr>
        <p:spPr>
          <a:xfrm>
            <a:off x="4224528" y="5751576"/>
            <a:ext cx="7187184" cy="438912"/>
          </a:xfrm>
          <a:prstGeom prst="rect">
            <a:avLst/>
          </a:prstGeom>
          <a:noFill/>
          <a:ln/>
        </p:spPr>
        <p:txBody>
          <a:bodyPr wrap="square" lIns="0" tIns="0" rIns="0" bIns="0" rtlCol="0" anchor="ctr"/>
          <a:lstStyle/>
          <a:p>
            <a:pPr indent="0" marL="0">
              <a:buNone/>
            </a:pPr>
            <a:r>
              <a:rPr lang="en-US" sz="1000" dirty="0">
                <a:solidFill>
                  <a:srgbClr val="18213D"/>
                </a:solidFill>
                <a:latin typeface="Calibri" pitchFamily="34" charset="0"/>
                <a:ea typeface="Calibri" pitchFamily="34" charset="-122"/>
                <a:cs typeface="Calibri" pitchFamily="34" charset="-120"/>
              </a:rPr>
              <a:t>이 답변이 사용자 질문에 유용한가?</a:t>
            </a:r>
            <a:endParaRPr lang="en-US" sz="1000" dirty="0"/>
          </a:p>
        </p:txBody>
      </p:sp>
      <p:sp>
        <p:nvSpPr>
          <p:cNvPr id="48" name="Text 46"/>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04 · ADAPTIVE RAG</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5" name="Shape 3"/>
          <p:cNvSpPr/>
          <p:nvPr/>
        </p:nvSpPr>
        <p:spPr>
          <a:xfrm>
            <a:off x="9326880" y="365760"/>
            <a:ext cx="2194560" cy="329184"/>
          </a:xfrm>
          <a:prstGeom prst="roundRect">
            <a:avLst>
              <a:gd name="adj" fmla="val 50000"/>
            </a:avLst>
          </a:prstGeom>
          <a:solidFill>
            <a:srgbClr val="F4F7FA"/>
          </a:solidFill>
          <a:ln w="12700">
            <a:solidFill>
              <a:srgbClr val="E1E8ED"/>
            </a:solidFill>
            <a:prstDash val="solid"/>
          </a:ln>
        </p:spPr>
      </p:sp>
      <p:sp>
        <p:nvSpPr>
          <p:cNvPr id="6" name="Text 4"/>
          <p:cNvSpPr/>
          <p:nvPr/>
        </p:nvSpPr>
        <p:spPr>
          <a:xfrm>
            <a:off x="9326880" y="365760"/>
            <a:ext cx="2194560" cy="329184"/>
          </a:xfrm>
          <a:prstGeom prst="rect">
            <a:avLst/>
          </a:prstGeom>
          <a:noFill/>
          <a:ln/>
        </p:spPr>
        <p:txBody>
          <a:bodyPr wrap="square" lIns="0" tIns="0" rIns="0" bIns="0" rtlCol="0" anchor="ctr"/>
          <a:lstStyle/>
          <a:p>
            <a:pPr algn="ctr" indent="0" marL="0">
              <a:buNone/>
            </a:pPr>
            <a:r>
              <a:rPr lang="en-US" sz="1250" dirty="0">
                <a:solidFill>
                  <a:srgbClr val="45506B"/>
                </a:solidFill>
                <a:latin typeface="Calibri" pitchFamily="34" charset="0"/>
                <a:ea typeface="Calibri" pitchFamily="34" charset="-122"/>
                <a:cs typeface="Calibri" pitchFamily="34" charset="-120"/>
              </a:rPr>
              <a:t>발표  홍길동</a:t>
            </a:r>
            <a:endParaRPr lang="en-US" sz="1250" dirty="0"/>
          </a:p>
        </p:txBody>
      </p:sp>
      <p:sp>
        <p:nvSpPr>
          <p:cNvPr id="7" name="Text 5"/>
          <p:cNvSpPr/>
          <p:nvPr/>
        </p:nvSpPr>
        <p:spPr>
          <a:xfrm>
            <a:off x="640080" y="658368"/>
            <a:ext cx="85039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실제 예시로 보는 반성 토큰</a:t>
            </a:r>
            <a:endParaRPr lang="en-US" sz="2300" dirty="0"/>
          </a:p>
        </p:txBody>
      </p:sp>
      <p:sp>
        <p:nvSpPr>
          <p:cNvPr id="8" name="Shape 6"/>
          <p:cNvSpPr/>
          <p:nvPr/>
        </p:nvSpPr>
        <p:spPr>
          <a:xfrm>
            <a:off x="640080" y="1371600"/>
            <a:ext cx="10881360" cy="1965960"/>
          </a:xfrm>
          <a:prstGeom prst="roundRect">
            <a:avLst>
              <a:gd name="adj" fmla="val 4651"/>
            </a:avLst>
          </a:prstGeom>
          <a:solidFill>
            <a:srgbClr val="F4F7FA"/>
          </a:solidFill>
          <a:ln/>
        </p:spPr>
      </p:sp>
      <p:sp>
        <p:nvSpPr>
          <p:cNvPr id="9" name="Text 7"/>
          <p:cNvSpPr/>
          <p:nvPr/>
        </p:nvSpPr>
        <p:spPr>
          <a:xfrm>
            <a:off x="868680" y="1508760"/>
            <a:ext cx="10424160" cy="36576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“미국 주 이름은 어떻게 생겼나요?”</a:t>
            </a:r>
            <a:endParaRPr lang="en-US" sz="1500" dirty="0"/>
          </a:p>
        </p:txBody>
      </p:sp>
      <p:sp>
        <p:nvSpPr>
          <p:cNvPr id="10" name="Text 8"/>
          <p:cNvSpPr/>
          <p:nvPr/>
        </p:nvSpPr>
        <p:spPr>
          <a:xfrm>
            <a:off x="868680" y="1920240"/>
            <a:ext cx="502920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Retrieve = Yes  →  문서 3개 검색됨</a:t>
            </a:r>
            <a:endParaRPr lang="en-US" sz="1300" dirty="0"/>
          </a:p>
        </p:txBody>
      </p:sp>
      <p:sp>
        <p:nvSpPr>
          <p:cNvPr id="11" name="Text 9"/>
          <p:cNvSpPr/>
          <p:nvPr/>
        </p:nvSpPr>
        <p:spPr>
          <a:xfrm>
            <a:off x="868680" y="2240280"/>
            <a:ext cx="1005840" cy="292608"/>
          </a:xfrm>
          <a:prstGeom prst="rect">
            <a:avLst/>
          </a:prstGeom>
          <a:noFill/>
          <a:ln/>
        </p:spPr>
        <p:txBody>
          <a:bodyPr wrap="square" lIns="0" tIns="0" rIns="0" bIns="0" rtlCol="0" anchor="ctr"/>
          <a:lstStyle/>
          <a:p>
            <a:pPr indent="0" marL="0">
              <a:buNone/>
            </a:pPr>
            <a:r>
              <a:rPr lang="en-US" sz="1200" b="1" dirty="0">
                <a:solidFill>
                  <a:srgbClr val="18213D"/>
                </a:solidFill>
                <a:latin typeface="Calibri" pitchFamily="34" charset="0"/>
                <a:ea typeface="Calibri" pitchFamily="34" charset="-122"/>
                <a:cs typeface="Calibri" pitchFamily="34" charset="-120"/>
              </a:rPr>
              <a:t>문서 1:</a:t>
            </a:r>
            <a:endParaRPr lang="en-US" sz="1200" dirty="0"/>
          </a:p>
        </p:txBody>
      </p:sp>
      <p:sp>
        <p:nvSpPr>
          <p:cNvPr id="12" name="Text 10"/>
          <p:cNvSpPr/>
          <p:nvPr/>
        </p:nvSpPr>
        <p:spPr>
          <a:xfrm>
            <a:off x="1828800" y="2240280"/>
            <a:ext cx="6400800" cy="292608"/>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미국 50개 주 중 11개는 사람 이름에서 유래했다</a:t>
            </a:r>
            <a:endParaRPr lang="en-US" sz="1200" dirty="0"/>
          </a:p>
        </p:txBody>
      </p:sp>
      <p:sp>
        <p:nvSpPr>
          <p:cNvPr id="13" name="Shape 11"/>
          <p:cNvSpPr/>
          <p:nvPr/>
        </p:nvSpPr>
        <p:spPr>
          <a:xfrm>
            <a:off x="8412480" y="2240280"/>
            <a:ext cx="1371600" cy="274320"/>
          </a:xfrm>
          <a:prstGeom prst="roundRect">
            <a:avLst>
              <a:gd name="adj" fmla="val 50000"/>
            </a:avLst>
          </a:prstGeom>
          <a:solidFill>
            <a:srgbClr val="D9F0E2"/>
          </a:solidFill>
          <a:ln/>
        </p:spPr>
      </p:sp>
      <p:sp>
        <p:nvSpPr>
          <p:cNvPr id="14" name="Text 12"/>
          <p:cNvSpPr/>
          <p:nvPr/>
        </p:nvSpPr>
        <p:spPr>
          <a:xfrm>
            <a:off x="8412480" y="2240280"/>
            <a:ext cx="1371600" cy="274320"/>
          </a:xfrm>
          <a:prstGeom prst="rect">
            <a:avLst/>
          </a:prstGeom>
          <a:noFill/>
          <a:ln/>
        </p:spPr>
        <p:txBody>
          <a:bodyPr wrap="square" lIns="0" tIns="0" rIns="0" bIns="0" rtlCol="0" anchor="ctr"/>
          <a:lstStyle/>
          <a:p>
            <a:pPr algn="ctr" indent="0" marL="0">
              <a:buNone/>
            </a:pPr>
            <a:r>
              <a:rPr lang="en-US" sz="1200" b="1" dirty="0">
                <a:solidFill>
                  <a:srgbClr val="1E7A46"/>
                </a:solidFill>
                <a:latin typeface="Calibri" pitchFamily="34" charset="0"/>
                <a:ea typeface="Calibri" pitchFamily="34" charset="-122"/>
                <a:cs typeface="Calibri" pitchFamily="34" charset="-120"/>
              </a:rPr>
              <a:t>Relevant</a:t>
            </a:r>
            <a:endParaRPr lang="en-US" sz="1200" dirty="0"/>
          </a:p>
        </p:txBody>
      </p:sp>
      <p:sp>
        <p:nvSpPr>
          <p:cNvPr id="15" name="Text 13"/>
          <p:cNvSpPr/>
          <p:nvPr/>
        </p:nvSpPr>
        <p:spPr>
          <a:xfrm>
            <a:off x="868680" y="2587752"/>
            <a:ext cx="1005840" cy="292608"/>
          </a:xfrm>
          <a:prstGeom prst="rect">
            <a:avLst/>
          </a:prstGeom>
          <a:noFill/>
          <a:ln/>
        </p:spPr>
        <p:txBody>
          <a:bodyPr wrap="square" lIns="0" tIns="0" rIns="0" bIns="0" rtlCol="0" anchor="ctr"/>
          <a:lstStyle/>
          <a:p>
            <a:pPr indent="0" marL="0">
              <a:buNone/>
            </a:pPr>
            <a:r>
              <a:rPr lang="en-US" sz="1200" b="1" dirty="0">
                <a:solidFill>
                  <a:srgbClr val="18213D"/>
                </a:solidFill>
                <a:latin typeface="Calibri" pitchFamily="34" charset="0"/>
                <a:ea typeface="Calibri" pitchFamily="34" charset="-122"/>
                <a:cs typeface="Calibri" pitchFamily="34" charset="-120"/>
              </a:rPr>
              <a:t>문서 2:</a:t>
            </a:r>
            <a:endParaRPr lang="en-US" sz="1200" dirty="0"/>
          </a:p>
        </p:txBody>
      </p:sp>
      <p:sp>
        <p:nvSpPr>
          <p:cNvPr id="16" name="Text 14"/>
          <p:cNvSpPr/>
          <p:nvPr/>
        </p:nvSpPr>
        <p:spPr>
          <a:xfrm>
            <a:off x="1828800" y="2587752"/>
            <a:ext cx="6400800" cy="292608"/>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텍사스의 인기 아기 이름은 Emma다</a:t>
            </a:r>
            <a:endParaRPr lang="en-US" sz="1200" dirty="0"/>
          </a:p>
        </p:txBody>
      </p:sp>
      <p:sp>
        <p:nvSpPr>
          <p:cNvPr id="17" name="Shape 15"/>
          <p:cNvSpPr/>
          <p:nvPr/>
        </p:nvSpPr>
        <p:spPr>
          <a:xfrm>
            <a:off x="8412480" y="2587752"/>
            <a:ext cx="1371600" cy="274320"/>
          </a:xfrm>
          <a:prstGeom prst="roundRect">
            <a:avLst>
              <a:gd name="adj" fmla="val 50000"/>
            </a:avLst>
          </a:prstGeom>
          <a:solidFill>
            <a:srgbClr val="FBEAEA"/>
          </a:solidFill>
          <a:ln/>
        </p:spPr>
      </p:sp>
      <p:sp>
        <p:nvSpPr>
          <p:cNvPr id="18" name="Text 16"/>
          <p:cNvSpPr/>
          <p:nvPr/>
        </p:nvSpPr>
        <p:spPr>
          <a:xfrm>
            <a:off x="8412480" y="2587752"/>
            <a:ext cx="1371600" cy="274320"/>
          </a:xfrm>
          <a:prstGeom prst="rect">
            <a:avLst/>
          </a:prstGeom>
          <a:noFill/>
          <a:ln/>
        </p:spPr>
        <p:txBody>
          <a:bodyPr wrap="square" lIns="0" tIns="0" rIns="0" bIns="0" rtlCol="0" anchor="ctr"/>
          <a:lstStyle/>
          <a:p>
            <a:pPr algn="ctr" indent="0" marL="0">
              <a:buNone/>
            </a:pPr>
            <a:r>
              <a:rPr lang="en-US" sz="1200" b="1" dirty="0">
                <a:solidFill>
                  <a:srgbClr val="B23A3A"/>
                </a:solidFill>
                <a:latin typeface="Calibri" pitchFamily="34" charset="0"/>
                <a:ea typeface="Calibri" pitchFamily="34" charset="-122"/>
                <a:cs typeface="Calibri" pitchFamily="34" charset="-120"/>
              </a:rPr>
              <a:t>Irrelevant</a:t>
            </a:r>
            <a:endParaRPr lang="en-US" sz="1200" dirty="0"/>
          </a:p>
        </p:txBody>
      </p:sp>
      <p:sp>
        <p:nvSpPr>
          <p:cNvPr id="19" name="Text 17"/>
          <p:cNvSpPr/>
          <p:nvPr/>
        </p:nvSpPr>
        <p:spPr>
          <a:xfrm>
            <a:off x="868680" y="2935224"/>
            <a:ext cx="1005840" cy="292608"/>
          </a:xfrm>
          <a:prstGeom prst="rect">
            <a:avLst/>
          </a:prstGeom>
          <a:noFill/>
          <a:ln/>
        </p:spPr>
        <p:txBody>
          <a:bodyPr wrap="square" lIns="0" tIns="0" rIns="0" bIns="0" rtlCol="0" anchor="ctr"/>
          <a:lstStyle/>
          <a:p>
            <a:pPr indent="0" marL="0">
              <a:buNone/>
            </a:pPr>
            <a:r>
              <a:rPr lang="en-US" sz="1200" b="1" dirty="0">
                <a:solidFill>
                  <a:srgbClr val="18213D"/>
                </a:solidFill>
                <a:latin typeface="Calibri" pitchFamily="34" charset="0"/>
                <a:ea typeface="Calibri" pitchFamily="34" charset="-122"/>
                <a:cs typeface="Calibri" pitchFamily="34" charset="-120"/>
              </a:rPr>
              <a:t>문서 3:</a:t>
            </a:r>
            <a:endParaRPr lang="en-US" sz="1200" dirty="0"/>
          </a:p>
        </p:txBody>
      </p:sp>
      <p:sp>
        <p:nvSpPr>
          <p:cNvPr id="20" name="Text 18"/>
          <p:cNvSpPr/>
          <p:nvPr/>
        </p:nvSpPr>
        <p:spPr>
          <a:xfrm>
            <a:off x="1828800" y="2935224"/>
            <a:ext cx="6400800" cy="292608"/>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캘리포니아 이름은 스페인 소설 속 섬에서 유래했다</a:t>
            </a:r>
            <a:endParaRPr lang="en-US" sz="1200" dirty="0"/>
          </a:p>
        </p:txBody>
      </p:sp>
      <p:sp>
        <p:nvSpPr>
          <p:cNvPr id="21" name="Shape 19"/>
          <p:cNvSpPr/>
          <p:nvPr/>
        </p:nvSpPr>
        <p:spPr>
          <a:xfrm>
            <a:off x="8412480" y="2935224"/>
            <a:ext cx="1371600" cy="274320"/>
          </a:xfrm>
          <a:prstGeom prst="roundRect">
            <a:avLst>
              <a:gd name="adj" fmla="val 50000"/>
            </a:avLst>
          </a:prstGeom>
          <a:solidFill>
            <a:srgbClr val="D9F0E2"/>
          </a:solidFill>
          <a:ln/>
        </p:spPr>
      </p:sp>
      <p:sp>
        <p:nvSpPr>
          <p:cNvPr id="22" name="Text 20"/>
          <p:cNvSpPr/>
          <p:nvPr/>
        </p:nvSpPr>
        <p:spPr>
          <a:xfrm>
            <a:off x="8412480" y="2935224"/>
            <a:ext cx="1371600" cy="274320"/>
          </a:xfrm>
          <a:prstGeom prst="rect">
            <a:avLst/>
          </a:prstGeom>
          <a:noFill/>
          <a:ln/>
        </p:spPr>
        <p:txBody>
          <a:bodyPr wrap="square" lIns="0" tIns="0" rIns="0" bIns="0" rtlCol="0" anchor="ctr"/>
          <a:lstStyle/>
          <a:p>
            <a:pPr algn="ctr" indent="0" marL="0">
              <a:buNone/>
            </a:pPr>
            <a:r>
              <a:rPr lang="en-US" sz="1200" b="1" dirty="0">
                <a:solidFill>
                  <a:srgbClr val="1E7A46"/>
                </a:solidFill>
                <a:latin typeface="Calibri" pitchFamily="34" charset="0"/>
                <a:ea typeface="Calibri" pitchFamily="34" charset="-122"/>
                <a:cs typeface="Calibri" pitchFamily="34" charset="-120"/>
              </a:rPr>
              <a:t>Relevant</a:t>
            </a:r>
            <a:endParaRPr lang="en-US" sz="1200" dirty="0"/>
          </a:p>
        </p:txBody>
      </p:sp>
      <p:sp>
        <p:nvSpPr>
          <p:cNvPr id="23" name="Text 21"/>
          <p:cNvSpPr/>
          <p:nvPr/>
        </p:nvSpPr>
        <p:spPr>
          <a:xfrm>
            <a:off x="868680" y="3429000"/>
            <a:ext cx="10058400" cy="274320"/>
          </a:xfrm>
          <a:prstGeom prst="rect">
            <a:avLst/>
          </a:prstGeom>
          <a:noFill/>
          <a:ln/>
        </p:spPr>
        <p:txBody>
          <a:bodyPr wrap="square" lIns="0" tIns="0" rIns="0" bIns="0" rtlCol="0" anchor="ctr"/>
          <a:lstStyle/>
          <a:p>
            <a:pPr indent="0" marL="0">
              <a:buNone/>
            </a:pPr>
            <a:r>
              <a:rPr lang="en-US" sz="1250" dirty="0">
                <a:solidFill>
                  <a:srgbClr val="065A82"/>
                </a:solidFill>
                <a:latin typeface="Calibri" pitchFamily="34" charset="0"/>
                <a:ea typeface="Calibri" pitchFamily="34" charset="-122"/>
                <a:cs typeface="Calibri" pitchFamily="34" charset="-120"/>
              </a:rPr>
              <a:t>답변: “11개 주 이름은 사람 이름에서 유래했다.”  →  ISSUP = Fully Supported</a:t>
            </a:r>
            <a:endParaRPr lang="en-US" sz="1250" dirty="0"/>
          </a:p>
        </p:txBody>
      </p:sp>
      <p:sp>
        <p:nvSpPr>
          <p:cNvPr id="24" name="Text 22"/>
          <p:cNvSpPr/>
          <p:nvPr/>
        </p:nvSpPr>
        <p:spPr>
          <a:xfrm>
            <a:off x="640080" y="3566160"/>
            <a:ext cx="7315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Self-RAG 작동 순서 (8단계)</a:t>
            </a:r>
            <a:endParaRPr lang="en-US" sz="1400" dirty="0"/>
          </a:p>
        </p:txBody>
      </p:sp>
      <p:sp>
        <p:nvSpPr>
          <p:cNvPr id="25" name="Shape 23"/>
          <p:cNvSpPr/>
          <p:nvPr/>
        </p:nvSpPr>
        <p:spPr>
          <a:xfrm>
            <a:off x="640080" y="3931920"/>
            <a:ext cx="1298448" cy="914400"/>
          </a:xfrm>
          <a:prstGeom prst="roundRect">
            <a:avLst>
              <a:gd name="adj" fmla="val 7000"/>
            </a:avLst>
          </a:prstGeom>
          <a:solidFill>
            <a:srgbClr val="1C7293"/>
          </a:solidFill>
          <a:ln/>
        </p:spPr>
      </p:sp>
      <p:sp>
        <p:nvSpPr>
          <p:cNvPr id="26" name="Text 24"/>
          <p:cNvSpPr/>
          <p:nvPr/>
        </p:nvSpPr>
        <p:spPr>
          <a:xfrm>
            <a:off x="6949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1</a:t>
            </a:r>
            <a:endParaRPr lang="en-US" sz="1200" dirty="0"/>
          </a:p>
        </p:txBody>
      </p:sp>
      <p:sp>
        <p:nvSpPr>
          <p:cNvPr id="27" name="Text 25"/>
          <p:cNvSpPr/>
          <p:nvPr/>
        </p:nvSpPr>
        <p:spPr>
          <a:xfrm>
            <a:off x="6949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질문 입력</a:t>
            </a:r>
            <a:endParaRPr lang="en-US" sz="1050" dirty="0"/>
          </a:p>
        </p:txBody>
      </p:sp>
      <p:sp>
        <p:nvSpPr>
          <p:cNvPr id="28" name="Shape 26"/>
          <p:cNvSpPr/>
          <p:nvPr/>
        </p:nvSpPr>
        <p:spPr>
          <a:xfrm>
            <a:off x="1938528" y="4389120"/>
            <a:ext cx="73152" cy="0"/>
          </a:xfrm>
          <a:prstGeom prst="line">
            <a:avLst/>
          </a:prstGeom>
          <a:noFill/>
          <a:ln w="12700">
            <a:solidFill>
              <a:srgbClr val="45506B"/>
            </a:solidFill>
            <a:prstDash val="solid"/>
            <a:tailEnd type="triangle"/>
          </a:ln>
        </p:spPr>
      </p:sp>
      <p:sp>
        <p:nvSpPr>
          <p:cNvPr id="29" name="Shape 27"/>
          <p:cNvSpPr/>
          <p:nvPr/>
        </p:nvSpPr>
        <p:spPr>
          <a:xfrm>
            <a:off x="2011680" y="3931920"/>
            <a:ext cx="1298448" cy="914400"/>
          </a:xfrm>
          <a:prstGeom prst="roundRect">
            <a:avLst>
              <a:gd name="adj" fmla="val 7000"/>
            </a:avLst>
          </a:prstGeom>
          <a:solidFill>
            <a:srgbClr val="065A82"/>
          </a:solidFill>
          <a:ln/>
        </p:spPr>
      </p:sp>
      <p:sp>
        <p:nvSpPr>
          <p:cNvPr id="30" name="Text 28"/>
          <p:cNvSpPr/>
          <p:nvPr/>
        </p:nvSpPr>
        <p:spPr>
          <a:xfrm>
            <a:off x="20665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2</a:t>
            </a:r>
            <a:endParaRPr lang="en-US" sz="1200" dirty="0"/>
          </a:p>
        </p:txBody>
      </p:sp>
      <p:sp>
        <p:nvSpPr>
          <p:cNvPr id="31" name="Text 29"/>
          <p:cNvSpPr/>
          <p:nvPr/>
        </p:nvSpPr>
        <p:spPr>
          <a:xfrm>
            <a:off x="20665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검색 필요?</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판단</a:t>
            </a:r>
            <a:endParaRPr lang="en-US" sz="1050" dirty="0"/>
          </a:p>
        </p:txBody>
      </p:sp>
      <p:sp>
        <p:nvSpPr>
          <p:cNvPr id="32" name="Shape 30"/>
          <p:cNvSpPr/>
          <p:nvPr/>
        </p:nvSpPr>
        <p:spPr>
          <a:xfrm>
            <a:off x="3310128" y="4389120"/>
            <a:ext cx="73152" cy="0"/>
          </a:xfrm>
          <a:prstGeom prst="line">
            <a:avLst/>
          </a:prstGeom>
          <a:noFill/>
          <a:ln w="12700">
            <a:solidFill>
              <a:srgbClr val="45506B"/>
            </a:solidFill>
            <a:prstDash val="solid"/>
            <a:tailEnd type="triangle"/>
          </a:ln>
        </p:spPr>
      </p:sp>
      <p:sp>
        <p:nvSpPr>
          <p:cNvPr id="33" name="Shape 31"/>
          <p:cNvSpPr/>
          <p:nvPr/>
        </p:nvSpPr>
        <p:spPr>
          <a:xfrm>
            <a:off x="3383280" y="3931920"/>
            <a:ext cx="1298448" cy="914400"/>
          </a:xfrm>
          <a:prstGeom prst="roundRect">
            <a:avLst>
              <a:gd name="adj" fmla="val 7000"/>
            </a:avLst>
          </a:prstGeom>
          <a:solidFill>
            <a:srgbClr val="1C7293"/>
          </a:solidFill>
          <a:ln/>
        </p:spPr>
      </p:sp>
      <p:sp>
        <p:nvSpPr>
          <p:cNvPr id="34" name="Text 32"/>
          <p:cNvSpPr/>
          <p:nvPr/>
        </p:nvSpPr>
        <p:spPr>
          <a:xfrm>
            <a:off x="34381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3</a:t>
            </a:r>
            <a:endParaRPr lang="en-US" sz="1200" dirty="0"/>
          </a:p>
        </p:txBody>
      </p:sp>
      <p:sp>
        <p:nvSpPr>
          <p:cNvPr id="35" name="Text 33"/>
          <p:cNvSpPr/>
          <p:nvPr/>
        </p:nvSpPr>
        <p:spPr>
          <a:xfrm>
            <a:off x="34381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필요시</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문서 검색</a:t>
            </a:r>
            <a:endParaRPr lang="en-US" sz="1050" dirty="0"/>
          </a:p>
        </p:txBody>
      </p:sp>
      <p:sp>
        <p:nvSpPr>
          <p:cNvPr id="36" name="Shape 34"/>
          <p:cNvSpPr/>
          <p:nvPr/>
        </p:nvSpPr>
        <p:spPr>
          <a:xfrm>
            <a:off x="4681728" y="4389120"/>
            <a:ext cx="73152" cy="0"/>
          </a:xfrm>
          <a:prstGeom prst="line">
            <a:avLst/>
          </a:prstGeom>
          <a:noFill/>
          <a:ln w="12700">
            <a:solidFill>
              <a:srgbClr val="45506B"/>
            </a:solidFill>
            <a:prstDash val="solid"/>
            <a:tailEnd type="triangle"/>
          </a:ln>
        </p:spPr>
      </p:sp>
      <p:sp>
        <p:nvSpPr>
          <p:cNvPr id="37" name="Shape 35"/>
          <p:cNvSpPr/>
          <p:nvPr/>
        </p:nvSpPr>
        <p:spPr>
          <a:xfrm>
            <a:off x="4754880" y="3931920"/>
            <a:ext cx="1298448" cy="914400"/>
          </a:xfrm>
          <a:prstGeom prst="roundRect">
            <a:avLst>
              <a:gd name="adj" fmla="val 7000"/>
            </a:avLst>
          </a:prstGeom>
          <a:solidFill>
            <a:srgbClr val="065A82"/>
          </a:solidFill>
          <a:ln/>
        </p:spPr>
      </p:sp>
      <p:sp>
        <p:nvSpPr>
          <p:cNvPr id="38" name="Text 36"/>
          <p:cNvSpPr/>
          <p:nvPr/>
        </p:nvSpPr>
        <p:spPr>
          <a:xfrm>
            <a:off x="48097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4</a:t>
            </a:r>
            <a:endParaRPr lang="en-US" sz="1200" dirty="0"/>
          </a:p>
        </p:txBody>
      </p:sp>
      <p:sp>
        <p:nvSpPr>
          <p:cNvPr id="39" name="Text 37"/>
          <p:cNvSpPr/>
          <p:nvPr/>
        </p:nvSpPr>
        <p:spPr>
          <a:xfrm>
            <a:off x="48097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문서 관련성</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평가</a:t>
            </a:r>
            <a:endParaRPr lang="en-US" sz="1050" dirty="0"/>
          </a:p>
        </p:txBody>
      </p:sp>
      <p:sp>
        <p:nvSpPr>
          <p:cNvPr id="40" name="Shape 38"/>
          <p:cNvSpPr/>
          <p:nvPr/>
        </p:nvSpPr>
        <p:spPr>
          <a:xfrm>
            <a:off x="6053328" y="4389120"/>
            <a:ext cx="73152" cy="0"/>
          </a:xfrm>
          <a:prstGeom prst="line">
            <a:avLst/>
          </a:prstGeom>
          <a:noFill/>
          <a:ln w="12700">
            <a:solidFill>
              <a:srgbClr val="45506B"/>
            </a:solidFill>
            <a:prstDash val="solid"/>
            <a:tailEnd type="triangle"/>
          </a:ln>
        </p:spPr>
      </p:sp>
      <p:sp>
        <p:nvSpPr>
          <p:cNvPr id="41" name="Shape 39"/>
          <p:cNvSpPr/>
          <p:nvPr/>
        </p:nvSpPr>
        <p:spPr>
          <a:xfrm>
            <a:off x="6126480" y="3931920"/>
            <a:ext cx="1298448" cy="914400"/>
          </a:xfrm>
          <a:prstGeom prst="roundRect">
            <a:avLst>
              <a:gd name="adj" fmla="val 7000"/>
            </a:avLst>
          </a:prstGeom>
          <a:solidFill>
            <a:srgbClr val="1C7293"/>
          </a:solidFill>
          <a:ln/>
        </p:spPr>
      </p:sp>
      <p:sp>
        <p:nvSpPr>
          <p:cNvPr id="42" name="Text 40"/>
          <p:cNvSpPr/>
          <p:nvPr/>
        </p:nvSpPr>
        <p:spPr>
          <a:xfrm>
            <a:off x="61813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5</a:t>
            </a:r>
            <a:endParaRPr lang="en-US" sz="1200" dirty="0"/>
          </a:p>
        </p:txBody>
      </p:sp>
      <p:sp>
        <p:nvSpPr>
          <p:cNvPr id="43" name="Text 41"/>
          <p:cNvSpPr/>
          <p:nvPr/>
        </p:nvSpPr>
        <p:spPr>
          <a:xfrm>
            <a:off x="61813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답변 후보</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생성</a:t>
            </a:r>
            <a:endParaRPr lang="en-US" sz="1050" dirty="0"/>
          </a:p>
        </p:txBody>
      </p:sp>
      <p:sp>
        <p:nvSpPr>
          <p:cNvPr id="44" name="Shape 42"/>
          <p:cNvSpPr/>
          <p:nvPr/>
        </p:nvSpPr>
        <p:spPr>
          <a:xfrm>
            <a:off x="7424928" y="4389120"/>
            <a:ext cx="73152" cy="0"/>
          </a:xfrm>
          <a:prstGeom prst="line">
            <a:avLst/>
          </a:prstGeom>
          <a:noFill/>
          <a:ln w="12700">
            <a:solidFill>
              <a:srgbClr val="45506B"/>
            </a:solidFill>
            <a:prstDash val="solid"/>
            <a:tailEnd type="triangle"/>
          </a:ln>
        </p:spPr>
      </p:sp>
      <p:sp>
        <p:nvSpPr>
          <p:cNvPr id="45" name="Shape 43"/>
          <p:cNvSpPr/>
          <p:nvPr/>
        </p:nvSpPr>
        <p:spPr>
          <a:xfrm>
            <a:off x="7498080" y="3931920"/>
            <a:ext cx="1298448" cy="914400"/>
          </a:xfrm>
          <a:prstGeom prst="roundRect">
            <a:avLst>
              <a:gd name="adj" fmla="val 7000"/>
            </a:avLst>
          </a:prstGeom>
          <a:solidFill>
            <a:srgbClr val="065A82"/>
          </a:solidFill>
          <a:ln/>
        </p:spPr>
      </p:sp>
      <p:sp>
        <p:nvSpPr>
          <p:cNvPr id="46" name="Text 44"/>
          <p:cNvSpPr/>
          <p:nvPr/>
        </p:nvSpPr>
        <p:spPr>
          <a:xfrm>
            <a:off x="75529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6</a:t>
            </a:r>
            <a:endParaRPr lang="en-US" sz="1200" dirty="0"/>
          </a:p>
        </p:txBody>
      </p:sp>
      <p:sp>
        <p:nvSpPr>
          <p:cNvPr id="47" name="Text 45"/>
          <p:cNvSpPr/>
          <p:nvPr/>
        </p:nvSpPr>
        <p:spPr>
          <a:xfrm>
            <a:off x="75529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답변 근거성</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평가</a:t>
            </a:r>
            <a:endParaRPr lang="en-US" sz="1050" dirty="0"/>
          </a:p>
        </p:txBody>
      </p:sp>
      <p:sp>
        <p:nvSpPr>
          <p:cNvPr id="48" name="Shape 46"/>
          <p:cNvSpPr/>
          <p:nvPr/>
        </p:nvSpPr>
        <p:spPr>
          <a:xfrm>
            <a:off x="8796528" y="4389120"/>
            <a:ext cx="73152" cy="0"/>
          </a:xfrm>
          <a:prstGeom prst="line">
            <a:avLst/>
          </a:prstGeom>
          <a:noFill/>
          <a:ln w="12700">
            <a:solidFill>
              <a:srgbClr val="45506B"/>
            </a:solidFill>
            <a:prstDash val="solid"/>
            <a:tailEnd type="triangle"/>
          </a:ln>
        </p:spPr>
      </p:sp>
      <p:sp>
        <p:nvSpPr>
          <p:cNvPr id="49" name="Shape 47"/>
          <p:cNvSpPr/>
          <p:nvPr/>
        </p:nvSpPr>
        <p:spPr>
          <a:xfrm>
            <a:off x="8869680" y="3931920"/>
            <a:ext cx="1298448" cy="914400"/>
          </a:xfrm>
          <a:prstGeom prst="roundRect">
            <a:avLst>
              <a:gd name="adj" fmla="val 7000"/>
            </a:avLst>
          </a:prstGeom>
          <a:solidFill>
            <a:srgbClr val="1C7293"/>
          </a:solidFill>
          <a:ln/>
        </p:spPr>
      </p:sp>
      <p:sp>
        <p:nvSpPr>
          <p:cNvPr id="50" name="Text 48"/>
          <p:cNvSpPr/>
          <p:nvPr/>
        </p:nvSpPr>
        <p:spPr>
          <a:xfrm>
            <a:off x="89245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7</a:t>
            </a:r>
            <a:endParaRPr lang="en-US" sz="1200" dirty="0"/>
          </a:p>
        </p:txBody>
      </p:sp>
      <p:sp>
        <p:nvSpPr>
          <p:cNvPr id="51" name="Text 49"/>
          <p:cNvSpPr/>
          <p:nvPr/>
        </p:nvSpPr>
        <p:spPr>
          <a:xfrm>
            <a:off x="89245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유용성</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평가</a:t>
            </a:r>
            <a:endParaRPr lang="en-US" sz="1050" dirty="0"/>
          </a:p>
        </p:txBody>
      </p:sp>
      <p:sp>
        <p:nvSpPr>
          <p:cNvPr id="52" name="Shape 50"/>
          <p:cNvSpPr/>
          <p:nvPr/>
        </p:nvSpPr>
        <p:spPr>
          <a:xfrm>
            <a:off x="10168128" y="4389120"/>
            <a:ext cx="73152" cy="0"/>
          </a:xfrm>
          <a:prstGeom prst="line">
            <a:avLst/>
          </a:prstGeom>
          <a:noFill/>
          <a:ln w="12700">
            <a:solidFill>
              <a:srgbClr val="45506B"/>
            </a:solidFill>
            <a:prstDash val="solid"/>
            <a:tailEnd type="triangle"/>
          </a:ln>
        </p:spPr>
      </p:sp>
      <p:sp>
        <p:nvSpPr>
          <p:cNvPr id="53" name="Shape 51"/>
          <p:cNvSpPr/>
          <p:nvPr/>
        </p:nvSpPr>
        <p:spPr>
          <a:xfrm>
            <a:off x="10241280" y="3931920"/>
            <a:ext cx="1298448" cy="914400"/>
          </a:xfrm>
          <a:prstGeom prst="roundRect">
            <a:avLst>
              <a:gd name="adj" fmla="val 7000"/>
            </a:avLst>
          </a:prstGeom>
          <a:solidFill>
            <a:srgbClr val="065A82"/>
          </a:solidFill>
          <a:ln/>
        </p:spPr>
      </p:sp>
      <p:sp>
        <p:nvSpPr>
          <p:cNvPr id="54" name="Text 52"/>
          <p:cNvSpPr/>
          <p:nvPr/>
        </p:nvSpPr>
        <p:spPr>
          <a:xfrm>
            <a:off x="10296144" y="3977640"/>
            <a:ext cx="365760" cy="274320"/>
          </a:xfrm>
          <a:prstGeom prst="rect">
            <a:avLst/>
          </a:prstGeom>
          <a:noFill/>
          <a:ln/>
        </p:spPr>
        <p:txBody>
          <a:bodyPr wrap="square" lIns="0" tIns="0" rIns="0" bIns="0" rtlCol="0" anchor="ctr"/>
          <a:lstStyle/>
          <a:p>
            <a:pPr indent="0" marL="0">
              <a:buNone/>
            </a:pPr>
            <a:r>
              <a:rPr lang="en-US" sz="1200" b="1" dirty="0">
                <a:solidFill>
                  <a:srgbClr val="C98A2C"/>
                </a:solidFill>
                <a:latin typeface="Cambria" pitchFamily="34" charset="0"/>
                <a:ea typeface="Cambria" pitchFamily="34" charset="-122"/>
                <a:cs typeface="Cambria" pitchFamily="34" charset="-120"/>
              </a:rPr>
              <a:t>8</a:t>
            </a:r>
            <a:endParaRPr lang="en-US" sz="1200" dirty="0"/>
          </a:p>
        </p:txBody>
      </p:sp>
      <p:sp>
        <p:nvSpPr>
          <p:cNvPr id="55" name="Text 53"/>
          <p:cNvSpPr/>
          <p:nvPr/>
        </p:nvSpPr>
        <p:spPr>
          <a:xfrm>
            <a:off x="10296144" y="4224528"/>
            <a:ext cx="1188720" cy="566928"/>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최선 답변</a:t>
            </a:r>
            <a:endParaRPr lang="en-US" sz="1050" dirty="0"/>
          </a:p>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선택</a:t>
            </a:r>
            <a:endParaRPr lang="en-US" sz="1050" dirty="0"/>
          </a:p>
        </p:txBody>
      </p:sp>
      <p:sp>
        <p:nvSpPr>
          <p:cNvPr id="56" name="Shape 54"/>
          <p:cNvSpPr/>
          <p:nvPr/>
        </p:nvSpPr>
        <p:spPr>
          <a:xfrm>
            <a:off x="640080" y="5029200"/>
            <a:ext cx="10881360" cy="1234440"/>
          </a:xfrm>
          <a:prstGeom prst="roundRect">
            <a:avLst>
              <a:gd name="adj" fmla="val 7407"/>
            </a:avLst>
          </a:prstGeom>
          <a:solidFill>
            <a:srgbClr val="21295C"/>
          </a:solidFill>
          <a:ln/>
        </p:spPr>
      </p:sp>
      <p:sp>
        <p:nvSpPr>
          <p:cNvPr id="57" name="Text 55"/>
          <p:cNvSpPr/>
          <p:nvPr/>
        </p:nvSpPr>
        <p:spPr>
          <a:xfrm>
            <a:off x="868680" y="5148072"/>
            <a:ext cx="10058400" cy="274320"/>
          </a:xfrm>
          <a:prstGeom prst="rect">
            <a:avLst/>
          </a:prstGeom>
          <a:noFill/>
          <a:ln/>
        </p:spPr>
        <p:txBody>
          <a:bodyPr wrap="square" lIns="0" tIns="0" rIns="0" bIns="0" rtlCol="0" anchor="ctr"/>
          <a:lstStyle/>
          <a:p>
            <a:pPr indent="0" marL="0">
              <a:buNone/>
            </a:pPr>
            <a:r>
              <a:rPr lang="en-US" sz="1350" b="1" dirty="0">
                <a:solidFill>
                  <a:srgbClr val="C98A2C"/>
                </a:solidFill>
                <a:latin typeface="Cambria" pitchFamily="34" charset="0"/>
                <a:ea typeface="Cambria" pitchFamily="34" charset="-122"/>
                <a:cs typeface="Cambria" pitchFamily="34" charset="-120"/>
              </a:rPr>
              <a:t>학습 구조 — Critic Model과 Generator Model</a:t>
            </a:r>
            <a:endParaRPr lang="en-US" sz="1350" dirty="0"/>
          </a:p>
        </p:txBody>
      </p:sp>
      <p:sp>
        <p:nvSpPr>
          <p:cNvPr id="58" name="Text 56"/>
          <p:cNvSpPr/>
          <p:nvPr/>
        </p:nvSpPr>
        <p:spPr>
          <a:xfrm>
            <a:off x="868680" y="5440680"/>
            <a:ext cx="10424160" cy="777240"/>
          </a:xfrm>
          <a:prstGeom prst="rect">
            <a:avLst/>
          </a:prstGeom>
          <a:noFill/>
          <a:ln/>
        </p:spPr>
        <p:txBody>
          <a:bodyPr wrap="square" lIns="0" tIns="0" rIns="0" bIns="0" rtlCol="0" anchor="ctr"/>
          <a:lstStyle/>
          <a:p>
            <a:pPr indent="0" marL="0">
              <a:lnSpc>
                <a:spcPct val="130000"/>
              </a:lnSpc>
              <a:buNone/>
            </a:pPr>
            <a:r>
              <a:rPr lang="en-US" sz="1300" dirty="0">
                <a:solidFill>
                  <a:srgbClr val="CFE3ED"/>
                </a:solidFill>
                <a:latin typeface="Calibri" pitchFamily="34" charset="0"/>
                <a:ea typeface="Calibri" pitchFamily="34" charset="-122"/>
                <a:cs typeface="Calibri" pitchFamily="34" charset="-120"/>
              </a:rPr>
              <a:t>Critic Model이 평가 토큰을 자동 생성하고, 이 데이터로 Generator Model을 훈련시킨다. 훈련이 끝나면 Generator 하나가 답변과 반성 토큰을 동시에 생성하므로, 추론 시점엔 별도 평가 모델이 필요 없다.</a:t>
            </a:r>
            <a:endParaRPr lang="en-US" sz="1300" dirty="0"/>
          </a:p>
        </p:txBody>
      </p:sp>
      <p:sp>
        <p:nvSpPr>
          <p:cNvPr id="59" name="Text 57"/>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05 · SELF-CORRECTION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5" name="Text 3"/>
          <p:cNvSpPr/>
          <p:nvPr/>
        </p:nvSpPr>
        <p:spPr>
          <a:xfrm>
            <a:off x="640080" y="658368"/>
            <a:ext cx="89611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CRAG — 검색 결과를 검증하고 고치기</a:t>
            </a:r>
            <a:endParaRPr lang="en-US" sz="2300" dirty="0"/>
          </a:p>
        </p:txBody>
      </p:sp>
      <p:sp>
        <p:nvSpPr>
          <p:cNvPr id="6" name="Shape 4"/>
          <p:cNvSpPr/>
          <p:nvPr/>
        </p:nvSpPr>
        <p:spPr>
          <a:xfrm>
            <a:off x="640080" y="1298448"/>
            <a:ext cx="10881360" cy="713232"/>
          </a:xfrm>
          <a:prstGeom prst="roundRect">
            <a:avLst>
              <a:gd name="adj" fmla="val 7692"/>
            </a:avLst>
          </a:prstGeom>
          <a:solidFill>
            <a:srgbClr val="F4F7FA"/>
          </a:solidFill>
          <a:ln/>
        </p:spPr>
      </p:sp>
      <p:sp>
        <p:nvSpPr>
          <p:cNvPr id="7" name="Text 5"/>
          <p:cNvSpPr/>
          <p:nvPr/>
        </p:nvSpPr>
        <p:spPr>
          <a:xfrm>
            <a:off x="868680" y="1353312"/>
            <a:ext cx="10424160" cy="384048"/>
          </a:xfrm>
          <a:prstGeom prst="rect">
            <a:avLst/>
          </a:prstGeom>
          <a:noFill/>
          <a:ln/>
        </p:spPr>
        <p:txBody>
          <a:bodyPr wrap="square" lIns="0" tIns="0" rIns="0" bIns="0" rtlCol="0" anchor="ctr"/>
          <a:lstStyle/>
          <a:p>
            <a:pPr indent="0" marL="0">
              <a:lnSpc>
                <a:spcPct val="102000"/>
              </a:lnSpc>
              <a:buNone/>
            </a:pPr>
            <a:r>
              <a:rPr lang="en-US" sz="1250" b="1" dirty="0">
                <a:solidFill>
                  <a:srgbClr val="21295C"/>
                </a:solidFill>
                <a:latin typeface="Cambria" pitchFamily="34" charset="0"/>
                <a:ea typeface="Cambria" pitchFamily="34" charset="-122"/>
                <a:cs typeface="Cambria" pitchFamily="34" charset="-120"/>
              </a:rPr>
              <a:t>CRAG: Corrective Retrieval-Augmented Generation</a:t>
            </a:r>
            <a:endParaRPr lang="en-US" sz="1250" dirty="0"/>
          </a:p>
        </p:txBody>
      </p:sp>
      <p:sp>
        <p:nvSpPr>
          <p:cNvPr id="8" name="Text 6"/>
          <p:cNvSpPr/>
          <p:nvPr/>
        </p:nvSpPr>
        <p:spPr>
          <a:xfrm>
            <a:off x="868680" y="1737360"/>
            <a:ext cx="10424160" cy="228600"/>
          </a:xfrm>
          <a:prstGeom prst="rect">
            <a:avLst/>
          </a:prstGeom>
          <a:noFill/>
          <a:ln/>
        </p:spPr>
        <p:txBody>
          <a:bodyPr wrap="square" lIns="0" tIns="0" rIns="0" bIns="0" rtlCol="0" anchor="ctr"/>
          <a:lstStyle/>
          <a:p>
            <a:pPr indent="0" marL="0">
              <a:buNone/>
            </a:pPr>
            <a:r>
              <a:rPr lang="en-US" sz="1100" dirty="0">
                <a:solidFill>
                  <a:srgbClr val="45506B"/>
                </a:solidFill>
                <a:latin typeface="Calibri" pitchFamily="34" charset="0"/>
                <a:ea typeface="Calibri" pitchFamily="34" charset="-122"/>
                <a:cs typeface="Calibri" pitchFamily="34" charset="-120"/>
              </a:rPr>
              <a:t>Yan, S. et al.  ·  arXiv 2024  ·  arXiv:2401.15884</a:t>
            </a:r>
            <a:endParaRPr lang="en-US" sz="1100" dirty="0"/>
          </a:p>
        </p:txBody>
      </p:sp>
      <p:sp>
        <p:nvSpPr>
          <p:cNvPr id="9" name="Text 7"/>
          <p:cNvSpPr/>
          <p:nvPr/>
        </p:nvSpPr>
        <p:spPr>
          <a:xfrm>
            <a:off x="640080" y="2084832"/>
            <a:ext cx="10515600" cy="365760"/>
          </a:xfrm>
          <a:prstGeom prst="rect">
            <a:avLst/>
          </a:prstGeom>
          <a:noFill/>
          <a:ln/>
        </p:spPr>
        <p:txBody>
          <a:bodyPr wrap="square" lIns="0" tIns="0" rIns="0" bIns="0" rtlCol="0" anchor="ctr"/>
          <a:lstStyle/>
          <a:p>
            <a:pPr indent="0" marL="0">
              <a:buNone/>
            </a:pPr>
            <a:r>
              <a:rPr lang="en-US" sz="1450" dirty="0">
                <a:solidFill>
                  <a:srgbClr val="18213D"/>
                </a:solidFill>
                <a:latin typeface="Cambria" pitchFamily="34" charset="0"/>
                <a:ea typeface="Cambria" pitchFamily="34" charset="-122"/>
                <a:cs typeface="Cambria" pitchFamily="34" charset="-120"/>
              </a:rPr>
              <a:t>문제: 검색된 문서가 틀렸어도 그대로 믿고 답변에 쓴다</a:t>
            </a:r>
            <a:endParaRPr lang="en-US" sz="1450" dirty="0"/>
          </a:p>
        </p:txBody>
      </p:sp>
      <p:sp>
        <p:nvSpPr>
          <p:cNvPr id="10" name="Text 8"/>
          <p:cNvSpPr/>
          <p:nvPr/>
        </p:nvSpPr>
        <p:spPr>
          <a:xfrm>
            <a:off x="640080" y="2514600"/>
            <a:ext cx="100584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해법: 경량 평가 모델(T5-large)이 검색 문서 품질을 채점한다</a:t>
            </a:r>
            <a:endParaRPr lang="en-US" sz="1400" dirty="0"/>
          </a:p>
        </p:txBody>
      </p:sp>
      <p:sp>
        <p:nvSpPr>
          <p:cNvPr id="11" name="Shape 9"/>
          <p:cNvSpPr/>
          <p:nvPr/>
        </p:nvSpPr>
        <p:spPr>
          <a:xfrm>
            <a:off x="640080" y="2926080"/>
            <a:ext cx="10881360" cy="1417320"/>
          </a:xfrm>
          <a:prstGeom prst="roundRect">
            <a:avLst>
              <a:gd name="adj" fmla="val 6452"/>
            </a:avLst>
          </a:prstGeom>
          <a:solidFill>
            <a:srgbClr val="F4F7FA"/>
          </a:solidFill>
          <a:ln/>
        </p:spPr>
      </p:sp>
      <p:sp>
        <p:nvSpPr>
          <p:cNvPr id="12" name="Text 10"/>
          <p:cNvSpPr/>
          <p:nvPr/>
        </p:nvSpPr>
        <p:spPr>
          <a:xfrm>
            <a:off x="868680" y="3090672"/>
            <a:ext cx="1042416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질문 + 문서 10개  →  T5-large 평가기  →  각 문서에 -1~1 점수 부여</a:t>
            </a:r>
            <a:endParaRPr lang="en-US" sz="1400" dirty="0"/>
          </a:p>
        </p:txBody>
      </p:sp>
      <p:sp>
        <p:nvSpPr>
          <p:cNvPr id="13" name="Text 11"/>
          <p:cNvSpPr/>
          <p:nvPr/>
        </p:nvSpPr>
        <p:spPr>
          <a:xfrm>
            <a:off x="868680" y="3520440"/>
            <a:ext cx="10424160" cy="777240"/>
          </a:xfrm>
          <a:prstGeom prst="rect">
            <a:avLst/>
          </a:prstGeom>
          <a:noFill/>
          <a:ln/>
        </p:spPr>
        <p:txBody>
          <a:bodyPr wrap="square" lIns="0" tIns="0" rIns="0" bIns="0" rtlCol="0" anchor="ctr"/>
          <a:lstStyle/>
          <a:p>
            <a:pPr indent="0" marL="0">
              <a:lnSpc>
                <a:spcPct val="130000"/>
              </a:lnSpc>
              <a:buNone/>
            </a:pPr>
            <a:r>
              <a:rPr lang="en-US" sz="1350" dirty="0">
                <a:solidFill>
                  <a:srgbClr val="18213D"/>
                </a:solidFill>
                <a:latin typeface="Calibri" pitchFamily="34" charset="0"/>
                <a:ea typeface="Calibri" pitchFamily="34" charset="-122"/>
                <a:cs typeface="Calibri" pitchFamily="34" charset="-120"/>
              </a:rPr>
              <a:t>파인튜닝 시 정답 문서엔 라벨 1, 오답 문서엔 라벨 -1을 부여해 학습한다. T5-large는 최신 LLM 대비 파라미터 수가 훨씬 작아 '경량(lightweight)' 평가기로 불린다.</a:t>
            </a:r>
            <a:endParaRPr lang="en-US" sz="1350" dirty="0"/>
          </a:p>
        </p:txBody>
      </p:sp>
      <p:sp>
        <p:nvSpPr>
          <p:cNvPr id="14" name="Shape 12"/>
          <p:cNvSpPr/>
          <p:nvPr/>
        </p:nvSpPr>
        <p:spPr>
          <a:xfrm>
            <a:off x="914400" y="4846320"/>
            <a:ext cx="10332720" cy="0"/>
          </a:xfrm>
          <a:prstGeom prst="line">
            <a:avLst/>
          </a:prstGeom>
          <a:noFill/>
          <a:ln w="25400">
            <a:solidFill>
              <a:srgbClr val="E1E8ED"/>
            </a:solidFill>
            <a:prstDash val="solid"/>
          </a:ln>
        </p:spPr>
      </p:sp>
      <p:sp>
        <p:nvSpPr>
          <p:cNvPr id="15" name="Shape 13"/>
          <p:cNvSpPr/>
          <p:nvPr/>
        </p:nvSpPr>
        <p:spPr>
          <a:xfrm>
            <a:off x="877824" y="4809744"/>
            <a:ext cx="73152" cy="73152"/>
          </a:xfrm>
          <a:prstGeom prst="ellipse">
            <a:avLst/>
          </a:prstGeom>
          <a:solidFill>
            <a:srgbClr val="1C7293"/>
          </a:solidFill>
          <a:ln/>
        </p:spPr>
      </p:sp>
      <p:sp>
        <p:nvSpPr>
          <p:cNvPr id="16" name="Text 14"/>
          <p:cNvSpPr/>
          <p:nvPr/>
        </p:nvSpPr>
        <p:spPr>
          <a:xfrm>
            <a:off x="457200" y="4956048"/>
            <a:ext cx="914400" cy="274320"/>
          </a:xfrm>
          <a:prstGeom prst="rect">
            <a:avLst/>
          </a:prstGeom>
          <a:noFill/>
          <a:ln/>
        </p:spPr>
        <p:txBody>
          <a:bodyPr wrap="square" lIns="0" tIns="0" rIns="0" bIns="0" rtlCol="0" anchor="ctr"/>
          <a:lstStyle/>
          <a:p>
            <a:pPr algn="ctr" indent="0" marL="0">
              <a:buNone/>
            </a:pPr>
            <a:r>
              <a:rPr lang="en-US" sz="1200" dirty="0">
                <a:solidFill>
                  <a:srgbClr val="45506B"/>
                </a:solidFill>
                <a:latin typeface="Calibri" pitchFamily="34" charset="0"/>
                <a:ea typeface="Calibri" pitchFamily="34" charset="-122"/>
                <a:cs typeface="Calibri" pitchFamily="34" charset="-120"/>
              </a:rPr>
              <a:t>-1</a:t>
            </a:r>
            <a:endParaRPr lang="en-US" sz="1200" dirty="0"/>
          </a:p>
        </p:txBody>
      </p:sp>
      <p:sp>
        <p:nvSpPr>
          <p:cNvPr id="17" name="Shape 15"/>
          <p:cNvSpPr/>
          <p:nvPr/>
        </p:nvSpPr>
        <p:spPr>
          <a:xfrm>
            <a:off x="3895344" y="4809744"/>
            <a:ext cx="73152" cy="73152"/>
          </a:xfrm>
          <a:prstGeom prst="ellipse">
            <a:avLst/>
          </a:prstGeom>
          <a:solidFill>
            <a:srgbClr val="1C7293"/>
          </a:solidFill>
          <a:ln/>
        </p:spPr>
      </p:sp>
      <p:sp>
        <p:nvSpPr>
          <p:cNvPr id="18" name="Text 16"/>
          <p:cNvSpPr/>
          <p:nvPr/>
        </p:nvSpPr>
        <p:spPr>
          <a:xfrm>
            <a:off x="3474720" y="4956048"/>
            <a:ext cx="914400" cy="274320"/>
          </a:xfrm>
          <a:prstGeom prst="rect">
            <a:avLst/>
          </a:prstGeom>
          <a:noFill/>
          <a:ln/>
        </p:spPr>
        <p:txBody>
          <a:bodyPr wrap="square" lIns="0" tIns="0" rIns="0" bIns="0" rtlCol="0" anchor="ctr"/>
          <a:lstStyle/>
          <a:p>
            <a:pPr algn="ctr" indent="0" marL="0">
              <a:buNone/>
            </a:pPr>
            <a:r>
              <a:rPr lang="en-US" sz="1200" dirty="0">
                <a:solidFill>
                  <a:srgbClr val="45506B"/>
                </a:solidFill>
                <a:latin typeface="Calibri" pitchFamily="34" charset="0"/>
                <a:ea typeface="Calibri" pitchFamily="34" charset="-122"/>
                <a:cs typeface="Calibri" pitchFamily="34" charset="-120"/>
              </a:rPr>
              <a:t>하한 임계값</a:t>
            </a:r>
            <a:endParaRPr lang="en-US" sz="1200" dirty="0"/>
          </a:p>
        </p:txBody>
      </p:sp>
      <p:sp>
        <p:nvSpPr>
          <p:cNvPr id="19" name="Shape 17"/>
          <p:cNvSpPr/>
          <p:nvPr/>
        </p:nvSpPr>
        <p:spPr>
          <a:xfrm>
            <a:off x="7552944" y="4809744"/>
            <a:ext cx="73152" cy="73152"/>
          </a:xfrm>
          <a:prstGeom prst="ellipse">
            <a:avLst/>
          </a:prstGeom>
          <a:solidFill>
            <a:srgbClr val="1C7293"/>
          </a:solidFill>
          <a:ln/>
        </p:spPr>
      </p:sp>
      <p:sp>
        <p:nvSpPr>
          <p:cNvPr id="20" name="Text 18"/>
          <p:cNvSpPr/>
          <p:nvPr/>
        </p:nvSpPr>
        <p:spPr>
          <a:xfrm>
            <a:off x="7132320" y="4956048"/>
            <a:ext cx="914400" cy="274320"/>
          </a:xfrm>
          <a:prstGeom prst="rect">
            <a:avLst/>
          </a:prstGeom>
          <a:noFill/>
          <a:ln/>
        </p:spPr>
        <p:txBody>
          <a:bodyPr wrap="square" lIns="0" tIns="0" rIns="0" bIns="0" rtlCol="0" anchor="ctr"/>
          <a:lstStyle/>
          <a:p>
            <a:pPr algn="ctr" indent="0" marL="0">
              <a:buNone/>
            </a:pPr>
            <a:r>
              <a:rPr lang="en-US" sz="1200" dirty="0">
                <a:solidFill>
                  <a:srgbClr val="45506B"/>
                </a:solidFill>
                <a:latin typeface="Calibri" pitchFamily="34" charset="0"/>
                <a:ea typeface="Calibri" pitchFamily="34" charset="-122"/>
                <a:cs typeface="Calibri" pitchFamily="34" charset="-120"/>
              </a:rPr>
              <a:t>상한 임계값</a:t>
            </a:r>
            <a:endParaRPr lang="en-US" sz="1200" dirty="0"/>
          </a:p>
        </p:txBody>
      </p:sp>
      <p:sp>
        <p:nvSpPr>
          <p:cNvPr id="21" name="Shape 19"/>
          <p:cNvSpPr/>
          <p:nvPr/>
        </p:nvSpPr>
        <p:spPr>
          <a:xfrm>
            <a:off x="11210544" y="4809744"/>
            <a:ext cx="73152" cy="73152"/>
          </a:xfrm>
          <a:prstGeom prst="ellipse">
            <a:avLst/>
          </a:prstGeom>
          <a:solidFill>
            <a:srgbClr val="1C7293"/>
          </a:solidFill>
          <a:ln/>
        </p:spPr>
      </p:sp>
      <p:sp>
        <p:nvSpPr>
          <p:cNvPr id="22" name="Text 20"/>
          <p:cNvSpPr/>
          <p:nvPr/>
        </p:nvSpPr>
        <p:spPr>
          <a:xfrm>
            <a:off x="10789920" y="4956048"/>
            <a:ext cx="914400" cy="274320"/>
          </a:xfrm>
          <a:prstGeom prst="rect">
            <a:avLst/>
          </a:prstGeom>
          <a:noFill/>
          <a:ln/>
        </p:spPr>
        <p:txBody>
          <a:bodyPr wrap="square" lIns="0" tIns="0" rIns="0" bIns="0" rtlCol="0" anchor="ctr"/>
          <a:lstStyle/>
          <a:p>
            <a:pPr algn="ctr" indent="0" marL="0">
              <a:buNone/>
            </a:pPr>
            <a:r>
              <a:rPr lang="en-US" sz="1200" dirty="0">
                <a:solidFill>
                  <a:srgbClr val="45506B"/>
                </a:solidFill>
                <a:latin typeface="Calibri" pitchFamily="34" charset="0"/>
                <a:ea typeface="Calibri" pitchFamily="34" charset="-122"/>
                <a:cs typeface="Calibri" pitchFamily="34" charset="-120"/>
              </a:rPr>
              <a:t>+1</a:t>
            </a:r>
            <a:endParaRPr lang="en-US" sz="1200" dirty="0"/>
          </a:p>
        </p:txBody>
      </p:sp>
      <p:sp>
        <p:nvSpPr>
          <p:cNvPr id="23" name="Shape 21"/>
          <p:cNvSpPr/>
          <p:nvPr/>
        </p:nvSpPr>
        <p:spPr>
          <a:xfrm>
            <a:off x="914400" y="4809744"/>
            <a:ext cx="3017520" cy="73152"/>
          </a:xfrm>
          <a:prstGeom prst="rect">
            <a:avLst/>
          </a:prstGeom>
          <a:solidFill>
            <a:srgbClr val="B23A3A"/>
          </a:solidFill>
          <a:ln/>
        </p:spPr>
      </p:sp>
      <p:sp>
        <p:nvSpPr>
          <p:cNvPr id="24" name="Shape 22"/>
          <p:cNvSpPr/>
          <p:nvPr/>
        </p:nvSpPr>
        <p:spPr>
          <a:xfrm>
            <a:off x="3931920" y="4809744"/>
            <a:ext cx="3657600" cy="73152"/>
          </a:xfrm>
          <a:prstGeom prst="rect">
            <a:avLst/>
          </a:prstGeom>
          <a:solidFill>
            <a:srgbClr val="9C6B00"/>
          </a:solidFill>
          <a:ln/>
        </p:spPr>
      </p:sp>
      <p:sp>
        <p:nvSpPr>
          <p:cNvPr id="25" name="Shape 23"/>
          <p:cNvSpPr/>
          <p:nvPr/>
        </p:nvSpPr>
        <p:spPr>
          <a:xfrm>
            <a:off x="7589520" y="4809744"/>
            <a:ext cx="3657600" cy="73152"/>
          </a:xfrm>
          <a:prstGeom prst="rect">
            <a:avLst/>
          </a:prstGeom>
          <a:solidFill>
            <a:srgbClr val="1E7A46"/>
          </a:solidFill>
          <a:ln/>
        </p:spPr>
      </p:sp>
      <p:sp>
        <p:nvSpPr>
          <p:cNvPr id="26" name="Text 24"/>
          <p:cNvSpPr/>
          <p:nvPr/>
        </p:nvSpPr>
        <p:spPr>
          <a:xfrm>
            <a:off x="640080" y="5349240"/>
            <a:ext cx="10881360" cy="365760"/>
          </a:xfrm>
          <a:prstGeom prst="rect">
            <a:avLst/>
          </a:prstGeom>
          <a:noFill/>
          <a:ln/>
        </p:spPr>
        <p:txBody>
          <a:bodyPr wrap="square" lIns="0" tIns="0" rIns="0" bIns="0" rtlCol="0" anchor="ctr"/>
          <a:lstStyle/>
          <a:p>
            <a:pPr indent="0" marL="0">
              <a:buNone/>
            </a:pPr>
            <a:r>
              <a:rPr lang="en-US" sz="1350" dirty="0">
                <a:solidFill>
                  <a:srgbClr val="45506B"/>
                </a:solidFill>
                <a:latin typeface="Calibri" pitchFamily="34" charset="0"/>
                <a:ea typeface="Calibri" pitchFamily="34" charset="-122"/>
                <a:cs typeface="Calibri" pitchFamily="34" charset="-120"/>
              </a:rPr>
              <a:t>학과 챗봇 적용: 문서의 게시 날짜·유형·유사도를 기준으로 이 평가를 수행할 수 있다</a:t>
            </a:r>
            <a:endParaRPr lang="en-US" sz="1350" dirty="0"/>
          </a:p>
        </p:txBody>
      </p:sp>
      <p:sp>
        <p:nvSpPr>
          <p:cNvPr id="27" name="Shape 25"/>
          <p:cNvSpPr/>
          <p:nvPr/>
        </p:nvSpPr>
        <p:spPr>
          <a:xfrm>
            <a:off x="640080" y="5806440"/>
            <a:ext cx="10881360" cy="640080"/>
          </a:xfrm>
          <a:prstGeom prst="roundRect">
            <a:avLst>
              <a:gd name="adj" fmla="val 50000"/>
            </a:avLst>
          </a:prstGeom>
          <a:solidFill>
            <a:srgbClr val="21295C"/>
          </a:solidFill>
          <a:ln/>
        </p:spPr>
      </p:sp>
      <p:sp>
        <p:nvSpPr>
          <p:cNvPr id="28" name="Text 26"/>
          <p:cNvSpPr/>
          <p:nvPr/>
        </p:nvSpPr>
        <p:spPr>
          <a:xfrm>
            <a:off x="640080" y="5806440"/>
            <a:ext cx="10881360" cy="640080"/>
          </a:xfrm>
          <a:prstGeom prst="rect">
            <a:avLst/>
          </a:prstGeom>
          <a:noFill/>
          <a:ln/>
        </p:spPr>
        <p:txBody>
          <a:bodyPr wrap="square" lIns="0" tIns="0" rIns="0" bIns="0" rtlCol="0" anchor="ctr"/>
          <a:lstStyle/>
          <a:p>
            <a:pPr algn="ctr" indent="0" marL="0">
              <a:buNone/>
            </a:pPr>
            <a:r>
              <a:rPr lang="en-US" sz="1350" b="1" dirty="0">
                <a:solidFill>
                  <a:srgbClr val="C98A2C"/>
                </a:solidFill>
                <a:latin typeface="Calibri" pitchFamily="34" charset="0"/>
                <a:ea typeface="Calibri" pitchFamily="34" charset="-122"/>
                <a:cs typeface="Calibri" pitchFamily="34" charset="-120"/>
              </a:rPr>
              <a:t>이 경량 T5 평가기가 훨씬 큰 ChatGPT 기반 평가보다도 검색 품질 판정에서 더 우수했다</a:t>
            </a:r>
            <a:endParaRPr lang="en-US" sz="1350" dirty="0"/>
          </a:p>
        </p:txBody>
      </p:sp>
      <p:sp>
        <p:nvSpPr>
          <p:cNvPr id="29" name="Text 27"/>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05 · SELF-CORRECTION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5" name="Text 3"/>
          <p:cNvSpPr/>
          <p:nvPr/>
        </p:nvSpPr>
        <p:spPr>
          <a:xfrm>
            <a:off x="640080" y="658368"/>
            <a:ext cx="89611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세 가지 판정과 대응 행동</a:t>
            </a:r>
            <a:endParaRPr lang="en-US" sz="2300" dirty="0"/>
          </a:p>
        </p:txBody>
      </p:sp>
      <p:sp>
        <p:nvSpPr>
          <p:cNvPr id="6" name="Shape 4"/>
          <p:cNvSpPr/>
          <p:nvPr/>
        </p:nvSpPr>
        <p:spPr>
          <a:xfrm>
            <a:off x="640080" y="1417320"/>
            <a:ext cx="3429000" cy="1737360"/>
          </a:xfrm>
          <a:prstGeom prst="roundRect">
            <a:avLst>
              <a:gd name="adj" fmla="val 5263"/>
            </a:avLst>
          </a:prstGeom>
          <a:solidFill>
            <a:srgbClr val="D9F0E2"/>
          </a:solidFill>
          <a:ln/>
        </p:spPr>
      </p:sp>
      <p:sp>
        <p:nvSpPr>
          <p:cNvPr id="7" name="Shape 5"/>
          <p:cNvSpPr/>
          <p:nvPr/>
        </p:nvSpPr>
        <p:spPr>
          <a:xfrm>
            <a:off x="2098548" y="1581912"/>
            <a:ext cx="512064" cy="512064"/>
          </a:xfrm>
          <a:prstGeom prst="ellipse">
            <a:avLst/>
          </a:prstGeom>
          <a:solidFill>
            <a:srgbClr val="1E7A46"/>
          </a:solidFill>
          <a:ln/>
        </p:spPr>
      </p:sp>
      <p:pic>
        <p:nvPicPr>
          <p:cNvPr id="8" name="Image 0" descr="/home/claude/rag_deck/icon_check_white.png">    </p:cNvPr>
          <p:cNvPicPr>
            <a:picLocks noChangeAspect="1"/>
          </p:cNvPicPr>
          <p:nvPr/>
        </p:nvPicPr>
        <p:blipFill>
          <a:blip r:embed="rId1"/>
          <a:stretch>
            <a:fillRect/>
          </a:stretch>
        </p:blipFill>
        <p:spPr>
          <a:xfrm>
            <a:off x="2226564" y="1709928"/>
            <a:ext cx="256032" cy="256032"/>
          </a:xfrm>
          <a:prstGeom prst="rect">
            <a:avLst/>
          </a:prstGeom>
        </p:spPr>
      </p:pic>
      <p:sp>
        <p:nvSpPr>
          <p:cNvPr id="9" name="Text 6"/>
          <p:cNvSpPr/>
          <p:nvPr/>
        </p:nvSpPr>
        <p:spPr>
          <a:xfrm>
            <a:off x="822960" y="2194560"/>
            <a:ext cx="3063240" cy="320040"/>
          </a:xfrm>
          <a:prstGeom prst="rect">
            <a:avLst/>
          </a:prstGeom>
          <a:noFill/>
          <a:ln/>
        </p:spPr>
        <p:txBody>
          <a:bodyPr wrap="square" lIns="0" tIns="0" rIns="0" bIns="0" rtlCol="0" anchor="ctr"/>
          <a:lstStyle/>
          <a:p>
            <a:pPr algn="ctr" indent="0" marL="0">
              <a:buNone/>
            </a:pPr>
            <a:r>
              <a:rPr lang="en-US" sz="1550" b="1" dirty="0">
                <a:solidFill>
                  <a:srgbClr val="1E7A46"/>
                </a:solidFill>
                <a:latin typeface="Cambria" pitchFamily="34" charset="0"/>
                <a:ea typeface="Cambria" pitchFamily="34" charset="-122"/>
                <a:cs typeface="Cambria" pitchFamily="34" charset="-120"/>
              </a:rPr>
              <a:t>Correct</a:t>
            </a:r>
            <a:endParaRPr lang="en-US" sz="1550" dirty="0"/>
          </a:p>
        </p:txBody>
      </p:sp>
      <p:sp>
        <p:nvSpPr>
          <p:cNvPr id="10" name="Text 7"/>
          <p:cNvSpPr/>
          <p:nvPr/>
        </p:nvSpPr>
        <p:spPr>
          <a:xfrm>
            <a:off x="822960" y="2514600"/>
            <a:ext cx="3063240" cy="365760"/>
          </a:xfrm>
          <a:prstGeom prst="rect">
            <a:avLst/>
          </a:prstGeom>
          <a:noFill/>
          <a:ln/>
        </p:spPr>
        <p:txBody>
          <a:bodyPr wrap="square" lIns="0" tIns="0" rIns="0" bIns="0" rtlCol="0" anchor="ctr"/>
          <a:lstStyle/>
          <a:p>
            <a:pPr algn="ctr" indent="0" marL="0">
              <a:lnSpc>
                <a:spcPct val="120000"/>
              </a:lnSpc>
              <a:buNone/>
            </a:pPr>
            <a:r>
              <a:rPr lang="en-US" sz="1200" dirty="0">
                <a:solidFill>
                  <a:srgbClr val="18213D"/>
                </a:solidFill>
                <a:latin typeface="Calibri" pitchFamily="34" charset="0"/>
                <a:ea typeface="Calibri" pitchFamily="34" charset="-122"/>
                <a:cs typeface="Calibri" pitchFamily="34" charset="-120"/>
              </a:rPr>
              <a:t>적어도 하나의 문서가</a:t>
            </a:r>
            <a:endParaRPr lang="en-US" sz="1200" dirty="0"/>
          </a:p>
          <a:p>
            <a:pPr algn="ctr" indent="0" marL="0">
              <a:lnSpc>
                <a:spcPct val="120000"/>
              </a:lnSpc>
              <a:buNone/>
            </a:pPr>
            <a:r>
              <a:rPr lang="en-US" sz="1200" dirty="0">
                <a:solidFill>
                  <a:srgbClr val="18213D"/>
                </a:solidFill>
                <a:latin typeface="Calibri" pitchFamily="34" charset="0"/>
                <a:ea typeface="Calibri" pitchFamily="34" charset="-122"/>
                <a:cs typeface="Calibri" pitchFamily="34" charset="-120"/>
              </a:rPr>
              <a:t>상한 임계값 이상</a:t>
            </a:r>
            <a:endParaRPr lang="en-US" sz="1200" dirty="0"/>
          </a:p>
        </p:txBody>
      </p:sp>
      <p:sp>
        <p:nvSpPr>
          <p:cNvPr id="11" name="Text 8"/>
          <p:cNvSpPr/>
          <p:nvPr/>
        </p:nvSpPr>
        <p:spPr>
          <a:xfrm>
            <a:off x="822960" y="2880360"/>
            <a:ext cx="3063240" cy="274320"/>
          </a:xfrm>
          <a:prstGeom prst="rect">
            <a:avLst/>
          </a:prstGeom>
          <a:noFill/>
          <a:ln/>
        </p:spPr>
        <p:txBody>
          <a:bodyPr wrap="square" lIns="0" tIns="0" rIns="0" bIns="0" rtlCol="0" anchor="ctr"/>
          <a:lstStyle/>
          <a:p>
            <a:pPr algn="ctr" indent="0" marL="0">
              <a:buNone/>
            </a:pPr>
            <a:r>
              <a:rPr lang="en-US" sz="1200" b="1" dirty="0">
                <a:solidFill>
                  <a:srgbClr val="1E7A46"/>
                </a:solidFill>
                <a:latin typeface="Calibri" pitchFamily="34" charset="0"/>
                <a:ea typeface="Calibri" pitchFamily="34" charset="-122"/>
                <a:cs typeface="Calibri" pitchFamily="34" charset="-120"/>
              </a:rPr>
              <a:t>→ 지식 정제 후 사용</a:t>
            </a:r>
            <a:endParaRPr lang="en-US" sz="1200" dirty="0"/>
          </a:p>
        </p:txBody>
      </p:sp>
      <p:sp>
        <p:nvSpPr>
          <p:cNvPr id="12" name="Shape 9"/>
          <p:cNvSpPr/>
          <p:nvPr/>
        </p:nvSpPr>
        <p:spPr>
          <a:xfrm>
            <a:off x="4343400" y="1417320"/>
            <a:ext cx="3429000" cy="1737360"/>
          </a:xfrm>
          <a:prstGeom prst="roundRect">
            <a:avLst>
              <a:gd name="adj" fmla="val 5263"/>
            </a:avLst>
          </a:prstGeom>
          <a:solidFill>
            <a:srgbClr val="FBF3E4"/>
          </a:solidFill>
          <a:ln/>
        </p:spPr>
      </p:sp>
      <p:sp>
        <p:nvSpPr>
          <p:cNvPr id="13" name="Shape 10"/>
          <p:cNvSpPr/>
          <p:nvPr/>
        </p:nvSpPr>
        <p:spPr>
          <a:xfrm>
            <a:off x="5801868" y="1581912"/>
            <a:ext cx="512064" cy="512064"/>
          </a:xfrm>
          <a:prstGeom prst="ellipse">
            <a:avLst/>
          </a:prstGeom>
          <a:solidFill>
            <a:srgbClr val="9C6B00"/>
          </a:solidFill>
          <a:ln/>
        </p:spPr>
      </p:sp>
      <p:pic>
        <p:nvPicPr>
          <p:cNvPr id="14" name="Image 1" descr="/home/claude/rag_deck/icon_exclaim_white.png">    </p:cNvPr>
          <p:cNvPicPr>
            <a:picLocks noChangeAspect="1"/>
          </p:cNvPicPr>
          <p:nvPr/>
        </p:nvPicPr>
        <p:blipFill>
          <a:blip r:embed="rId2"/>
          <a:stretch>
            <a:fillRect/>
          </a:stretch>
        </p:blipFill>
        <p:spPr>
          <a:xfrm>
            <a:off x="5929884" y="1709928"/>
            <a:ext cx="256032" cy="256032"/>
          </a:xfrm>
          <a:prstGeom prst="rect">
            <a:avLst/>
          </a:prstGeom>
        </p:spPr>
      </p:pic>
      <p:sp>
        <p:nvSpPr>
          <p:cNvPr id="15" name="Text 11"/>
          <p:cNvSpPr/>
          <p:nvPr/>
        </p:nvSpPr>
        <p:spPr>
          <a:xfrm>
            <a:off x="4526280" y="2194560"/>
            <a:ext cx="3063240" cy="320040"/>
          </a:xfrm>
          <a:prstGeom prst="rect">
            <a:avLst/>
          </a:prstGeom>
          <a:noFill/>
          <a:ln/>
        </p:spPr>
        <p:txBody>
          <a:bodyPr wrap="square" lIns="0" tIns="0" rIns="0" bIns="0" rtlCol="0" anchor="ctr"/>
          <a:lstStyle/>
          <a:p>
            <a:pPr algn="ctr" indent="0" marL="0">
              <a:buNone/>
            </a:pPr>
            <a:r>
              <a:rPr lang="en-US" sz="1550" b="1" dirty="0">
                <a:solidFill>
                  <a:srgbClr val="9C6B00"/>
                </a:solidFill>
                <a:latin typeface="Cambria" pitchFamily="34" charset="0"/>
                <a:ea typeface="Cambria" pitchFamily="34" charset="-122"/>
                <a:cs typeface="Cambria" pitchFamily="34" charset="-120"/>
              </a:rPr>
              <a:t>Ambiguous</a:t>
            </a:r>
            <a:endParaRPr lang="en-US" sz="1550" dirty="0"/>
          </a:p>
        </p:txBody>
      </p:sp>
      <p:sp>
        <p:nvSpPr>
          <p:cNvPr id="16" name="Text 12"/>
          <p:cNvSpPr/>
          <p:nvPr/>
        </p:nvSpPr>
        <p:spPr>
          <a:xfrm>
            <a:off x="4526280" y="2514600"/>
            <a:ext cx="3063240" cy="365760"/>
          </a:xfrm>
          <a:prstGeom prst="rect">
            <a:avLst/>
          </a:prstGeom>
          <a:noFill/>
          <a:ln/>
        </p:spPr>
        <p:txBody>
          <a:bodyPr wrap="square" lIns="0" tIns="0" rIns="0" bIns="0" rtlCol="0" anchor="ctr"/>
          <a:lstStyle/>
          <a:p>
            <a:pPr algn="ctr" indent="0" marL="0">
              <a:lnSpc>
                <a:spcPct val="120000"/>
              </a:lnSpc>
              <a:buNone/>
            </a:pPr>
            <a:r>
              <a:rPr lang="en-US" sz="1200" dirty="0">
                <a:solidFill>
                  <a:srgbClr val="18213D"/>
                </a:solidFill>
                <a:latin typeface="Calibri" pitchFamily="34" charset="0"/>
                <a:ea typeface="Calibri" pitchFamily="34" charset="-122"/>
                <a:cs typeface="Calibri" pitchFamily="34" charset="-120"/>
              </a:rPr>
              <a:t>점수가 두 임계값</a:t>
            </a:r>
            <a:endParaRPr lang="en-US" sz="1200" dirty="0"/>
          </a:p>
          <a:p>
            <a:pPr algn="ctr" indent="0" marL="0">
              <a:lnSpc>
                <a:spcPct val="120000"/>
              </a:lnSpc>
              <a:buNone/>
            </a:pPr>
            <a:r>
              <a:rPr lang="en-US" sz="1200" dirty="0">
                <a:solidFill>
                  <a:srgbClr val="18213D"/>
                </a:solidFill>
                <a:latin typeface="Calibri" pitchFamily="34" charset="0"/>
                <a:ea typeface="Calibri" pitchFamily="34" charset="-122"/>
                <a:cs typeface="Calibri" pitchFamily="34" charset="-120"/>
              </a:rPr>
              <a:t>사이 (애매함)</a:t>
            </a:r>
            <a:endParaRPr lang="en-US" sz="1200" dirty="0"/>
          </a:p>
        </p:txBody>
      </p:sp>
      <p:sp>
        <p:nvSpPr>
          <p:cNvPr id="17" name="Text 13"/>
          <p:cNvSpPr/>
          <p:nvPr/>
        </p:nvSpPr>
        <p:spPr>
          <a:xfrm>
            <a:off x="4526280" y="2880360"/>
            <a:ext cx="3063240" cy="274320"/>
          </a:xfrm>
          <a:prstGeom prst="rect">
            <a:avLst/>
          </a:prstGeom>
          <a:noFill/>
          <a:ln/>
        </p:spPr>
        <p:txBody>
          <a:bodyPr wrap="square" lIns="0" tIns="0" rIns="0" bIns="0" rtlCol="0" anchor="ctr"/>
          <a:lstStyle/>
          <a:p>
            <a:pPr algn="ctr" indent="0" marL="0">
              <a:buNone/>
            </a:pPr>
            <a:r>
              <a:rPr lang="en-US" sz="1200" b="1" dirty="0">
                <a:solidFill>
                  <a:srgbClr val="9C6B00"/>
                </a:solidFill>
                <a:latin typeface="Calibri" pitchFamily="34" charset="0"/>
                <a:ea typeface="Calibri" pitchFamily="34" charset="-122"/>
                <a:cs typeface="Calibri" pitchFamily="34" charset="-120"/>
              </a:rPr>
              <a:t>→ 내부 결과 + 웹 검색 결합</a:t>
            </a:r>
            <a:endParaRPr lang="en-US" sz="1200" dirty="0"/>
          </a:p>
        </p:txBody>
      </p:sp>
      <p:sp>
        <p:nvSpPr>
          <p:cNvPr id="18" name="Shape 14"/>
          <p:cNvSpPr/>
          <p:nvPr/>
        </p:nvSpPr>
        <p:spPr>
          <a:xfrm>
            <a:off x="8046720" y="1417320"/>
            <a:ext cx="3429000" cy="1737360"/>
          </a:xfrm>
          <a:prstGeom prst="roundRect">
            <a:avLst>
              <a:gd name="adj" fmla="val 5263"/>
            </a:avLst>
          </a:prstGeom>
          <a:solidFill>
            <a:srgbClr val="FBEAEA"/>
          </a:solidFill>
          <a:ln/>
        </p:spPr>
      </p:sp>
      <p:sp>
        <p:nvSpPr>
          <p:cNvPr id="19" name="Shape 15"/>
          <p:cNvSpPr/>
          <p:nvPr/>
        </p:nvSpPr>
        <p:spPr>
          <a:xfrm>
            <a:off x="9505188" y="1581912"/>
            <a:ext cx="512064" cy="512064"/>
          </a:xfrm>
          <a:prstGeom prst="ellipse">
            <a:avLst/>
          </a:prstGeom>
          <a:solidFill>
            <a:srgbClr val="B23A3A"/>
          </a:solidFill>
          <a:ln/>
        </p:spPr>
      </p:sp>
      <p:pic>
        <p:nvPicPr>
          <p:cNvPr id="20" name="Image 2" descr="/home/claude/rag_deck/icon_warn_white.png">    </p:cNvPr>
          <p:cNvPicPr>
            <a:picLocks noChangeAspect="1"/>
          </p:cNvPicPr>
          <p:nvPr/>
        </p:nvPicPr>
        <p:blipFill>
          <a:blip r:embed="rId3"/>
          <a:stretch>
            <a:fillRect/>
          </a:stretch>
        </p:blipFill>
        <p:spPr>
          <a:xfrm>
            <a:off x="9633204" y="1709928"/>
            <a:ext cx="256032" cy="256032"/>
          </a:xfrm>
          <a:prstGeom prst="rect">
            <a:avLst/>
          </a:prstGeom>
        </p:spPr>
      </p:pic>
      <p:sp>
        <p:nvSpPr>
          <p:cNvPr id="21" name="Text 16"/>
          <p:cNvSpPr/>
          <p:nvPr/>
        </p:nvSpPr>
        <p:spPr>
          <a:xfrm>
            <a:off x="8229600" y="2194560"/>
            <a:ext cx="3063240" cy="320040"/>
          </a:xfrm>
          <a:prstGeom prst="rect">
            <a:avLst/>
          </a:prstGeom>
          <a:noFill/>
          <a:ln/>
        </p:spPr>
        <p:txBody>
          <a:bodyPr wrap="square" lIns="0" tIns="0" rIns="0" bIns="0" rtlCol="0" anchor="ctr"/>
          <a:lstStyle/>
          <a:p>
            <a:pPr algn="ctr" indent="0" marL="0">
              <a:buNone/>
            </a:pPr>
            <a:r>
              <a:rPr lang="en-US" sz="1550" b="1" dirty="0">
                <a:solidFill>
                  <a:srgbClr val="B23A3A"/>
                </a:solidFill>
                <a:latin typeface="Cambria" pitchFamily="34" charset="0"/>
                <a:ea typeface="Cambria" pitchFamily="34" charset="-122"/>
                <a:cs typeface="Cambria" pitchFamily="34" charset="-120"/>
              </a:rPr>
              <a:t>Incorrect</a:t>
            </a:r>
            <a:endParaRPr lang="en-US" sz="1550" dirty="0"/>
          </a:p>
        </p:txBody>
      </p:sp>
      <p:sp>
        <p:nvSpPr>
          <p:cNvPr id="22" name="Text 17"/>
          <p:cNvSpPr/>
          <p:nvPr/>
        </p:nvSpPr>
        <p:spPr>
          <a:xfrm>
            <a:off x="8229600" y="2514600"/>
            <a:ext cx="3063240" cy="365760"/>
          </a:xfrm>
          <a:prstGeom prst="rect">
            <a:avLst/>
          </a:prstGeom>
          <a:noFill/>
          <a:ln/>
        </p:spPr>
        <p:txBody>
          <a:bodyPr wrap="square" lIns="0" tIns="0" rIns="0" bIns="0" rtlCol="0" anchor="ctr"/>
          <a:lstStyle/>
          <a:p>
            <a:pPr algn="ctr" indent="0" marL="0">
              <a:lnSpc>
                <a:spcPct val="120000"/>
              </a:lnSpc>
              <a:buNone/>
            </a:pPr>
            <a:r>
              <a:rPr lang="en-US" sz="1200" dirty="0">
                <a:solidFill>
                  <a:srgbClr val="18213D"/>
                </a:solidFill>
                <a:latin typeface="Calibri" pitchFamily="34" charset="0"/>
                <a:ea typeface="Calibri" pitchFamily="34" charset="-122"/>
                <a:cs typeface="Calibri" pitchFamily="34" charset="-120"/>
              </a:rPr>
              <a:t>모든 문서가</a:t>
            </a:r>
            <a:endParaRPr lang="en-US" sz="1200" dirty="0"/>
          </a:p>
          <a:p>
            <a:pPr algn="ctr" indent="0" marL="0">
              <a:lnSpc>
                <a:spcPct val="120000"/>
              </a:lnSpc>
              <a:buNone/>
            </a:pPr>
            <a:r>
              <a:rPr lang="en-US" sz="1200" dirty="0">
                <a:solidFill>
                  <a:srgbClr val="18213D"/>
                </a:solidFill>
                <a:latin typeface="Calibri" pitchFamily="34" charset="0"/>
                <a:ea typeface="Calibri" pitchFamily="34" charset="-122"/>
                <a:cs typeface="Calibri" pitchFamily="34" charset="-120"/>
              </a:rPr>
              <a:t>하한 임계값 미만</a:t>
            </a:r>
            <a:endParaRPr lang="en-US" sz="1200" dirty="0"/>
          </a:p>
        </p:txBody>
      </p:sp>
      <p:sp>
        <p:nvSpPr>
          <p:cNvPr id="23" name="Text 18"/>
          <p:cNvSpPr/>
          <p:nvPr/>
        </p:nvSpPr>
        <p:spPr>
          <a:xfrm>
            <a:off x="8229600" y="2880360"/>
            <a:ext cx="3063240" cy="274320"/>
          </a:xfrm>
          <a:prstGeom prst="rect">
            <a:avLst/>
          </a:prstGeom>
          <a:noFill/>
          <a:ln/>
        </p:spPr>
        <p:txBody>
          <a:bodyPr wrap="square" lIns="0" tIns="0" rIns="0" bIns="0" rtlCol="0" anchor="ctr"/>
          <a:lstStyle/>
          <a:p>
            <a:pPr algn="ctr" indent="0" marL="0">
              <a:buNone/>
            </a:pPr>
            <a:r>
              <a:rPr lang="en-US" sz="1200" b="1" dirty="0">
                <a:solidFill>
                  <a:srgbClr val="B23A3A"/>
                </a:solidFill>
                <a:latin typeface="Calibri" pitchFamily="34" charset="0"/>
                <a:ea typeface="Calibri" pitchFamily="34" charset="-122"/>
                <a:cs typeface="Calibri" pitchFamily="34" charset="-120"/>
              </a:rPr>
              <a:t>→ 폐기 후 웹 검색으로 대체</a:t>
            </a:r>
            <a:endParaRPr lang="en-US" sz="1200" dirty="0"/>
          </a:p>
        </p:txBody>
      </p:sp>
      <p:sp>
        <p:nvSpPr>
          <p:cNvPr id="24" name="Text 19"/>
          <p:cNvSpPr/>
          <p:nvPr/>
        </p:nvSpPr>
        <p:spPr>
          <a:xfrm>
            <a:off x="640080" y="3383280"/>
            <a:ext cx="91440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Decompose-then-Recompose 알고리즘 (Correct 판정 시)</a:t>
            </a:r>
            <a:endParaRPr lang="en-US" sz="1400" dirty="0"/>
          </a:p>
        </p:txBody>
      </p:sp>
      <p:sp>
        <p:nvSpPr>
          <p:cNvPr id="25" name="Shape 20"/>
          <p:cNvSpPr/>
          <p:nvPr/>
        </p:nvSpPr>
        <p:spPr>
          <a:xfrm>
            <a:off x="640080" y="3794760"/>
            <a:ext cx="3520440" cy="1417320"/>
          </a:xfrm>
          <a:prstGeom prst="roundRect">
            <a:avLst>
              <a:gd name="adj" fmla="val 5161"/>
            </a:avLst>
          </a:prstGeom>
          <a:solidFill>
            <a:srgbClr val="F4F7FA"/>
          </a:solidFill>
          <a:ln/>
        </p:spPr>
      </p:sp>
      <p:pic>
        <p:nvPicPr>
          <p:cNvPr id="26" name="Image 3" descr="/home/claude/rag_deck/icon_scissors_navy.png">    </p:cNvPr>
          <p:cNvPicPr>
            <a:picLocks noChangeAspect="1"/>
          </p:cNvPicPr>
          <p:nvPr/>
        </p:nvPicPr>
        <p:blipFill>
          <a:blip r:embed="rId4"/>
          <a:stretch>
            <a:fillRect/>
          </a:stretch>
        </p:blipFill>
        <p:spPr>
          <a:xfrm>
            <a:off x="822960" y="3959352"/>
            <a:ext cx="329184" cy="329184"/>
          </a:xfrm>
          <a:prstGeom prst="rect">
            <a:avLst/>
          </a:prstGeom>
        </p:spPr>
      </p:pic>
      <p:sp>
        <p:nvSpPr>
          <p:cNvPr id="27" name="Text 21"/>
          <p:cNvSpPr/>
          <p:nvPr/>
        </p:nvSpPr>
        <p:spPr>
          <a:xfrm>
            <a:off x="1261872" y="3995928"/>
            <a:ext cx="2743200" cy="32004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① 분해 (Decompose)</a:t>
            </a:r>
            <a:endParaRPr lang="en-US" sz="1350" dirty="0"/>
          </a:p>
        </p:txBody>
      </p:sp>
      <p:sp>
        <p:nvSpPr>
          <p:cNvPr id="28" name="Text 22"/>
          <p:cNvSpPr/>
          <p:nvPr/>
        </p:nvSpPr>
        <p:spPr>
          <a:xfrm>
            <a:off x="822960" y="4416552"/>
            <a:ext cx="3154680" cy="731520"/>
          </a:xfrm>
          <a:prstGeom prst="rect">
            <a:avLst/>
          </a:prstGeom>
          <a:noFill/>
          <a:ln/>
        </p:spPr>
        <p:txBody>
          <a:bodyPr wrap="square" lIns="0" tIns="0" rIns="0" bIns="0" rtlCol="0" anchor="ctr"/>
          <a:lstStyle/>
          <a:p>
            <a:pPr indent="0" marL="0">
              <a:lnSpc>
                <a:spcPct val="125000"/>
              </a:lnSpc>
              <a:buNone/>
            </a:pPr>
            <a:r>
              <a:rPr lang="en-US" sz="1200" dirty="0">
                <a:solidFill>
                  <a:srgbClr val="18213D"/>
                </a:solidFill>
                <a:latin typeface="Calibri" pitchFamily="34" charset="0"/>
                <a:ea typeface="Calibri" pitchFamily="34" charset="-122"/>
                <a:cs typeface="Calibri" pitchFamily="34" charset="-120"/>
              </a:rPr>
              <a:t>문서를 '지식 스트립'이라는 작은 단위로 쪼갠다</a:t>
            </a:r>
            <a:endParaRPr lang="en-US" sz="1200" dirty="0"/>
          </a:p>
        </p:txBody>
      </p:sp>
      <p:sp>
        <p:nvSpPr>
          <p:cNvPr id="29" name="Shape 23"/>
          <p:cNvSpPr/>
          <p:nvPr/>
        </p:nvSpPr>
        <p:spPr>
          <a:xfrm>
            <a:off x="4160520" y="4498848"/>
            <a:ext cx="256032" cy="0"/>
          </a:xfrm>
          <a:prstGeom prst="line">
            <a:avLst/>
          </a:prstGeom>
          <a:noFill/>
          <a:ln w="15240">
            <a:solidFill>
              <a:srgbClr val="45506B"/>
            </a:solidFill>
            <a:prstDash val="solid"/>
            <a:tailEnd type="triangle"/>
          </a:ln>
        </p:spPr>
      </p:sp>
      <p:sp>
        <p:nvSpPr>
          <p:cNvPr id="30" name="Shape 24"/>
          <p:cNvSpPr/>
          <p:nvPr/>
        </p:nvSpPr>
        <p:spPr>
          <a:xfrm>
            <a:off x="4416552" y="3794760"/>
            <a:ext cx="3520440" cy="1417320"/>
          </a:xfrm>
          <a:prstGeom prst="roundRect">
            <a:avLst>
              <a:gd name="adj" fmla="val 5161"/>
            </a:avLst>
          </a:prstGeom>
          <a:solidFill>
            <a:srgbClr val="F4F7FA"/>
          </a:solidFill>
          <a:ln/>
        </p:spPr>
      </p:sp>
      <p:pic>
        <p:nvPicPr>
          <p:cNvPr id="31" name="Image 4" descr="/home/claude/rag_deck/icon_filter_navy.png">    </p:cNvPr>
          <p:cNvPicPr>
            <a:picLocks noChangeAspect="1"/>
          </p:cNvPicPr>
          <p:nvPr/>
        </p:nvPicPr>
        <p:blipFill>
          <a:blip r:embed="rId5"/>
          <a:stretch>
            <a:fillRect/>
          </a:stretch>
        </p:blipFill>
        <p:spPr>
          <a:xfrm>
            <a:off x="4599432" y="3959352"/>
            <a:ext cx="329184" cy="329184"/>
          </a:xfrm>
          <a:prstGeom prst="rect">
            <a:avLst/>
          </a:prstGeom>
        </p:spPr>
      </p:pic>
      <p:sp>
        <p:nvSpPr>
          <p:cNvPr id="32" name="Text 25"/>
          <p:cNvSpPr/>
          <p:nvPr/>
        </p:nvSpPr>
        <p:spPr>
          <a:xfrm>
            <a:off x="5038344" y="3995928"/>
            <a:ext cx="2743200" cy="32004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② 필터 (Filter)</a:t>
            </a:r>
            <a:endParaRPr lang="en-US" sz="1350" dirty="0"/>
          </a:p>
        </p:txBody>
      </p:sp>
      <p:sp>
        <p:nvSpPr>
          <p:cNvPr id="33" name="Text 26"/>
          <p:cNvSpPr/>
          <p:nvPr/>
        </p:nvSpPr>
        <p:spPr>
          <a:xfrm>
            <a:off x="4599432" y="4416552"/>
            <a:ext cx="3154680" cy="731520"/>
          </a:xfrm>
          <a:prstGeom prst="rect">
            <a:avLst/>
          </a:prstGeom>
          <a:noFill/>
          <a:ln/>
        </p:spPr>
        <p:txBody>
          <a:bodyPr wrap="square" lIns="0" tIns="0" rIns="0" bIns="0" rtlCol="0" anchor="ctr"/>
          <a:lstStyle/>
          <a:p>
            <a:pPr indent="0" marL="0">
              <a:lnSpc>
                <a:spcPct val="125000"/>
              </a:lnSpc>
              <a:buNone/>
            </a:pPr>
            <a:r>
              <a:rPr lang="en-US" sz="1200" dirty="0">
                <a:solidFill>
                  <a:srgbClr val="18213D"/>
                </a:solidFill>
                <a:latin typeface="Calibri" pitchFamily="34" charset="0"/>
                <a:ea typeface="Calibri" pitchFamily="34" charset="-122"/>
                <a:cs typeface="Calibri" pitchFamily="34" charset="-120"/>
              </a:rPr>
              <a:t>평가기가 각 스트립의 관련성을 다시 채점</a:t>
            </a:r>
            <a:endParaRPr lang="en-US" sz="1200" dirty="0"/>
          </a:p>
        </p:txBody>
      </p:sp>
      <p:sp>
        <p:nvSpPr>
          <p:cNvPr id="34" name="Shape 27"/>
          <p:cNvSpPr/>
          <p:nvPr/>
        </p:nvSpPr>
        <p:spPr>
          <a:xfrm>
            <a:off x="7936992" y="4498848"/>
            <a:ext cx="256032" cy="0"/>
          </a:xfrm>
          <a:prstGeom prst="line">
            <a:avLst/>
          </a:prstGeom>
          <a:noFill/>
          <a:ln w="15240">
            <a:solidFill>
              <a:srgbClr val="45506B"/>
            </a:solidFill>
            <a:prstDash val="solid"/>
            <a:tailEnd type="triangle"/>
          </a:ln>
        </p:spPr>
      </p:sp>
      <p:sp>
        <p:nvSpPr>
          <p:cNvPr id="35" name="Shape 28"/>
          <p:cNvSpPr/>
          <p:nvPr/>
        </p:nvSpPr>
        <p:spPr>
          <a:xfrm>
            <a:off x="8193024" y="3794760"/>
            <a:ext cx="3520440" cy="1417320"/>
          </a:xfrm>
          <a:prstGeom prst="roundRect">
            <a:avLst>
              <a:gd name="adj" fmla="val 5161"/>
            </a:avLst>
          </a:prstGeom>
          <a:solidFill>
            <a:srgbClr val="F4F7FA"/>
          </a:solidFill>
          <a:ln/>
        </p:spPr>
      </p:sp>
      <p:pic>
        <p:nvPicPr>
          <p:cNvPr id="36" name="Image 5" descr="/home/claude/rag_deck/icon_cubes_navy.png">    </p:cNvPr>
          <p:cNvPicPr>
            <a:picLocks noChangeAspect="1"/>
          </p:cNvPicPr>
          <p:nvPr/>
        </p:nvPicPr>
        <p:blipFill>
          <a:blip r:embed="rId6"/>
          <a:stretch>
            <a:fillRect/>
          </a:stretch>
        </p:blipFill>
        <p:spPr>
          <a:xfrm>
            <a:off x="8375904" y="3959352"/>
            <a:ext cx="329184" cy="329184"/>
          </a:xfrm>
          <a:prstGeom prst="rect">
            <a:avLst/>
          </a:prstGeom>
        </p:spPr>
      </p:pic>
      <p:sp>
        <p:nvSpPr>
          <p:cNvPr id="37" name="Text 29"/>
          <p:cNvSpPr/>
          <p:nvPr/>
        </p:nvSpPr>
        <p:spPr>
          <a:xfrm>
            <a:off x="8814816" y="3995928"/>
            <a:ext cx="2743200" cy="32004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③ 재구성 (Recompose)</a:t>
            </a:r>
            <a:endParaRPr lang="en-US" sz="1350" dirty="0"/>
          </a:p>
        </p:txBody>
      </p:sp>
      <p:sp>
        <p:nvSpPr>
          <p:cNvPr id="38" name="Text 30"/>
          <p:cNvSpPr/>
          <p:nvPr/>
        </p:nvSpPr>
        <p:spPr>
          <a:xfrm>
            <a:off x="8375904" y="4416552"/>
            <a:ext cx="3154680" cy="731520"/>
          </a:xfrm>
          <a:prstGeom prst="rect">
            <a:avLst/>
          </a:prstGeom>
          <a:noFill/>
          <a:ln/>
        </p:spPr>
        <p:txBody>
          <a:bodyPr wrap="square" lIns="0" tIns="0" rIns="0" bIns="0" rtlCol="0" anchor="ctr"/>
          <a:lstStyle/>
          <a:p>
            <a:pPr indent="0" marL="0">
              <a:lnSpc>
                <a:spcPct val="125000"/>
              </a:lnSpc>
              <a:buNone/>
            </a:pPr>
            <a:r>
              <a:rPr lang="en-US" sz="1200" dirty="0">
                <a:solidFill>
                  <a:srgbClr val="18213D"/>
                </a:solidFill>
                <a:latin typeface="Calibri" pitchFamily="34" charset="0"/>
                <a:ea typeface="Calibri" pitchFamily="34" charset="-122"/>
                <a:cs typeface="Calibri" pitchFamily="34" charset="-120"/>
              </a:rPr>
              <a:t>관련성 높은 스트립만 남겨 재구성</a:t>
            </a:r>
            <a:endParaRPr lang="en-US" sz="1200" dirty="0"/>
          </a:p>
        </p:txBody>
      </p:sp>
      <p:sp>
        <p:nvSpPr>
          <p:cNvPr id="39" name="Shape 31"/>
          <p:cNvSpPr/>
          <p:nvPr/>
        </p:nvSpPr>
        <p:spPr>
          <a:xfrm>
            <a:off x="640080" y="5486400"/>
            <a:ext cx="10881360" cy="822960"/>
          </a:xfrm>
          <a:prstGeom prst="roundRect">
            <a:avLst>
              <a:gd name="adj" fmla="val 6667"/>
            </a:avLst>
          </a:prstGeom>
          <a:solidFill>
            <a:srgbClr val="FBF3E4"/>
          </a:solidFill>
          <a:ln/>
        </p:spPr>
      </p:sp>
      <p:sp>
        <p:nvSpPr>
          <p:cNvPr id="40" name="Text 32"/>
          <p:cNvSpPr/>
          <p:nvPr/>
        </p:nvSpPr>
        <p:spPr>
          <a:xfrm>
            <a:off x="868680" y="5486400"/>
            <a:ext cx="10424160" cy="822960"/>
          </a:xfrm>
          <a:prstGeom prst="rect">
            <a:avLst/>
          </a:prstGeom>
          <a:noFill/>
          <a:ln/>
        </p:spPr>
        <p:txBody>
          <a:bodyPr wrap="square" lIns="0" tIns="0" rIns="0" bIns="0" rtlCol="0" anchor="ctr"/>
          <a:lstStyle/>
          <a:p>
            <a:pPr indent="0" marL="0">
              <a:buNone/>
            </a:pPr>
            <a:r>
              <a:rPr lang="en-US" sz="1250" dirty="0">
                <a:solidFill>
                  <a:srgbClr val="9C6B00"/>
                </a:solidFill>
                <a:latin typeface="Calibri" pitchFamily="34" charset="0"/>
                <a:ea typeface="Calibri" pitchFamily="34" charset="-122"/>
                <a:cs typeface="Calibri" pitchFamily="34" charset="-120"/>
              </a:rPr>
              <a:t>⚠ 서지정보: CRAG는 OpenReview 기록상 ICLR 2025 제출 후 철회(Withdrawn)되어, 현재 arXiv 프리프린트로만 존재한다</a:t>
            </a:r>
            <a:endParaRPr lang="en-US" sz="1250" dirty="0"/>
          </a:p>
        </p:txBody>
      </p:sp>
      <p:sp>
        <p:nvSpPr>
          <p:cNvPr id="41" name="Text 33"/>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05 · SELF-CORRECTION</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5" name="Text 3"/>
          <p:cNvSpPr/>
          <p:nvPr/>
        </p:nvSpPr>
        <p:spPr>
          <a:xfrm>
            <a:off x="640080" y="658368"/>
            <a:ext cx="89611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실험 결과와 실무 적용</a:t>
            </a:r>
            <a:endParaRPr lang="en-US" sz="2300" dirty="0"/>
          </a:p>
        </p:txBody>
      </p:sp>
      <p:sp>
        <p:nvSpPr>
          <p:cNvPr id="6" name="Text 4"/>
          <p:cNvSpPr/>
          <p:nvPr/>
        </p:nvSpPr>
        <p:spPr>
          <a:xfrm>
            <a:off x="640080" y="1371600"/>
            <a:ext cx="10515600" cy="457200"/>
          </a:xfrm>
          <a:prstGeom prst="rect">
            <a:avLst/>
          </a:prstGeom>
          <a:noFill/>
          <a:ln/>
        </p:spPr>
        <p:txBody>
          <a:bodyPr wrap="square" lIns="0" tIns="0" rIns="0" bIns="0" rtlCol="0" anchor="ctr"/>
          <a:lstStyle/>
          <a:p>
            <a:pPr indent="0" marL="0">
              <a:lnSpc>
                <a:spcPct val="125000"/>
              </a:lnSpc>
              <a:buNone/>
            </a:pPr>
            <a:r>
              <a:rPr lang="en-US" sz="1400" dirty="0">
                <a:solidFill>
                  <a:srgbClr val="18213D"/>
                </a:solidFill>
                <a:latin typeface="Cambria" pitchFamily="34" charset="0"/>
                <a:ea typeface="Cambria" pitchFamily="34" charset="-122"/>
                <a:cs typeface="Cambria" pitchFamily="34" charset="-120"/>
              </a:rPr>
              <a:t>4개 데이터셋(PopQA·Biography·PubHealth·ARC-Challenge)에서 표준 RAG 및 Self-RAG 대비 유의미한 성능 향상</a:t>
            </a:r>
            <a:endParaRPr lang="en-US" sz="1400" dirty="0"/>
          </a:p>
        </p:txBody>
      </p:sp>
      <p:sp>
        <p:nvSpPr>
          <p:cNvPr id="7" name="Shape 5"/>
          <p:cNvSpPr/>
          <p:nvPr/>
        </p:nvSpPr>
        <p:spPr>
          <a:xfrm>
            <a:off x="640080" y="1965960"/>
            <a:ext cx="10881360" cy="1188720"/>
          </a:xfrm>
          <a:prstGeom prst="roundRect">
            <a:avLst>
              <a:gd name="adj" fmla="val 7692"/>
            </a:avLst>
          </a:prstGeom>
          <a:solidFill>
            <a:srgbClr val="F4F7FA"/>
          </a:solidFill>
          <a:ln/>
        </p:spPr>
      </p:sp>
      <p:sp>
        <p:nvSpPr>
          <p:cNvPr id="8" name="Text 6"/>
          <p:cNvSpPr/>
          <p:nvPr/>
        </p:nvSpPr>
        <p:spPr>
          <a:xfrm>
            <a:off x="868680" y="1965960"/>
            <a:ext cx="10424160" cy="1188720"/>
          </a:xfrm>
          <a:prstGeom prst="rect">
            <a:avLst/>
          </a:prstGeom>
          <a:noFill/>
          <a:ln/>
        </p:spPr>
        <p:txBody>
          <a:bodyPr wrap="square" lIns="0" tIns="0" rIns="0" bIns="0" rtlCol="0" anchor="ctr"/>
          <a:lstStyle/>
          <a:p>
            <a:pPr indent="0" marL="0">
              <a:lnSpc>
                <a:spcPct val="130000"/>
              </a:lnSpc>
              <a:buNone/>
            </a:pPr>
            <a:r>
              <a:rPr lang="en-US" sz="1400" dirty="0">
                <a:solidFill>
                  <a:srgbClr val="18213D"/>
                </a:solidFill>
                <a:latin typeface="Cambria" pitchFamily="34" charset="0"/>
                <a:ea typeface="Cambria" pitchFamily="34" charset="-122"/>
                <a:cs typeface="Cambria" pitchFamily="34" charset="-120"/>
              </a:rPr>
              <a:t>CRAG는 표준 RAG뿐 아니라 Self-RAG와 결합한 실험(Self-CRAG)에서도 일관된 성능 개선을 보였다 — 플러그 앤 플레이 방식으로 다른 RAG 기법과 조합 가능하다는 뜻이다.</a:t>
            </a:r>
            <a:endParaRPr lang="en-US" sz="1400" dirty="0"/>
          </a:p>
        </p:txBody>
      </p:sp>
      <p:sp>
        <p:nvSpPr>
          <p:cNvPr id="9" name="Shape 7"/>
          <p:cNvSpPr/>
          <p:nvPr/>
        </p:nvSpPr>
        <p:spPr>
          <a:xfrm>
            <a:off x="640080" y="3383280"/>
            <a:ext cx="10881360" cy="1600200"/>
          </a:xfrm>
          <a:prstGeom prst="roundRect">
            <a:avLst>
              <a:gd name="adj" fmla="val 5714"/>
            </a:avLst>
          </a:prstGeom>
          <a:solidFill>
            <a:srgbClr val="FBEAEA"/>
          </a:solidFill>
          <a:ln/>
        </p:spPr>
      </p:sp>
      <p:pic>
        <p:nvPicPr>
          <p:cNvPr id="10" name="Image 0" descr="/home/claude/rag_deck/icon_globe_navy.png">    </p:cNvPr>
          <p:cNvPicPr>
            <a:picLocks noChangeAspect="1"/>
          </p:cNvPicPr>
          <p:nvPr/>
        </p:nvPicPr>
        <p:blipFill>
          <a:blip r:embed="rId1"/>
          <a:stretch>
            <a:fillRect/>
          </a:stretch>
        </p:blipFill>
        <p:spPr>
          <a:xfrm>
            <a:off x="868680" y="3566160"/>
            <a:ext cx="384048" cy="384048"/>
          </a:xfrm>
          <a:prstGeom prst="rect">
            <a:avLst/>
          </a:prstGeom>
        </p:spPr>
      </p:pic>
      <p:sp>
        <p:nvSpPr>
          <p:cNvPr id="11" name="Text 8"/>
          <p:cNvSpPr/>
          <p:nvPr/>
        </p:nvSpPr>
        <p:spPr>
          <a:xfrm>
            <a:off x="1417320" y="3547872"/>
            <a:ext cx="9784080" cy="320040"/>
          </a:xfrm>
          <a:prstGeom prst="rect">
            <a:avLst/>
          </a:prstGeom>
          <a:noFill/>
          <a:ln/>
        </p:spPr>
        <p:txBody>
          <a:bodyPr wrap="square" lIns="0" tIns="0" rIns="0" bIns="0" rtlCol="0" anchor="ctr"/>
          <a:lstStyle/>
          <a:p>
            <a:pPr indent="0" marL="0">
              <a:buNone/>
            </a:pPr>
            <a:r>
              <a:rPr lang="en-US" sz="1400" b="1" dirty="0">
                <a:solidFill>
                  <a:srgbClr val="B23A3A"/>
                </a:solidFill>
                <a:latin typeface="Cambria" pitchFamily="34" charset="0"/>
                <a:ea typeface="Cambria" pitchFamily="34" charset="-122"/>
                <a:cs typeface="Cambria" pitchFamily="34" charset="-120"/>
              </a:rPr>
              <a:t>주의: 웹 검색 보강은 우리 프로젝트와 상충한다</a:t>
            </a:r>
            <a:endParaRPr lang="en-US" sz="1400" dirty="0"/>
          </a:p>
        </p:txBody>
      </p:sp>
      <p:sp>
        <p:nvSpPr>
          <p:cNvPr id="12" name="Text 9"/>
          <p:cNvSpPr/>
          <p:nvPr/>
        </p:nvSpPr>
        <p:spPr>
          <a:xfrm>
            <a:off x="1417320" y="3886200"/>
            <a:ext cx="9966960" cy="1005840"/>
          </a:xfrm>
          <a:prstGeom prst="rect">
            <a:avLst/>
          </a:prstGeom>
          <a:noFill/>
          <a:ln/>
        </p:spPr>
        <p:txBody>
          <a:bodyPr wrap="square" lIns="0" tIns="0" rIns="0" bIns="0" rtlCol="0" anchor="ctr"/>
          <a:lstStyle/>
          <a:p>
            <a:pPr indent="0" marL="0">
              <a:lnSpc>
                <a:spcPct val="130000"/>
              </a:lnSpc>
              <a:buNone/>
            </a:pPr>
            <a:r>
              <a:rPr lang="en-US" sz="1350" dirty="0">
                <a:solidFill>
                  <a:srgbClr val="6B2020"/>
                </a:solidFill>
                <a:latin typeface="Calibri" pitchFamily="34" charset="0"/>
                <a:ea typeface="Calibri" pitchFamily="34" charset="-122"/>
                <a:cs typeface="Calibri" pitchFamily="34" charset="-120"/>
              </a:rPr>
              <a:t>CRAG는 Incorrect·Ambiguous일 때 상용 웹 검색 API로 지식을 보강한다. 하지만 학과 챗봇은 '출처 신뢰성'이 최우선이라, 웹 검색 보강 없이 '검색 품질 평가 → 낮으면 답변 거절'까지만 단순화해 적용하는 게 적절하다.</a:t>
            </a:r>
            <a:endParaRPr lang="en-US" sz="1350" dirty="0"/>
          </a:p>
        </p:txBody>
      </p:sp>
      <p:sp>
        <p:nvSpPr>
          <p:cNvPr id="13" name="Shape 10"/>
          <p:cNvSpPr/>
          <p:nvPr/>
        </p:nvSpPr>
        <p:spPr>
          <a:xfrm>
            <a:off x="640080" y="5166360"/>
            <a:ext cx="10881360" cy="1188720"/>
          </a:xfrm>
          <a:prstGeom prst="roundRect">
            <a:avLst>
              <a:gd name="adj" fmla="val 7692"/>
            </a:avLst>
          </a:prstGeom>
          <a:solidFill>
            <a:srgbClr val="21295C"/>
          </a:solidFill>
          <a:ln/>
        </p:spPr>
      </p:sp>
      <p:sp>
        <p:nvSpPr>
          <p:cNvPr id="14" name="Text 11"/>
          <p:cNvSpPr/>
          <p:nvPr/>
        </p:nvSpPr>
        <p:spPr>
          <a:xfrm>
            <a:off x="868680" y="5303520"/>
            <a:ext cx="3657600" cy="274320"/>
          </a:xfrm>
          <a:prstGeom prst="rect">
            <a:avLst/>
          </a:prstGeom>
          <a:noFill/>
          <a:ln/>
        </p:spPr>
        <p:txBody>
          <a:bodyPr wrap="square" lIns="0" tIns="0" rIns="0" bIns="0" rtlCol="0" anchor="ctr"/>
          <a:lstStyle/>
          <a:p>
            <a:pPr indent="0" marL="0">
              <a:buNone/>
            </a:pPr>
            <a:r>
              <a:rPr lang="en-US" sz="1350" b="1" dirty="0">
                <a:solidFill>
                  <a:srgbClr val="C98A2C"/>
                </a:solidFill>
                <a:latin typeface="Calibri" pitchFamily="34" charset="0"/>
                <a:ea typeface="Calibri" pitchFamily="34" charset="-122"/>
                <a:cs typeface="Calibri" pitchFamily="34" charset="-120"/>
              </a:rPr>
              <a:t>우리 프로젝트 적용</a:t>
            </a:r>
            <a:endParaRPr lang="en-US" sz="1350" dirty="0"/>
          </a:p>
        </p:txBody>
      </p:sp>
      <p:sp>
        <p:nvSpPr>
          <p:cNvPr id="15" name="Text 12"/>
          <p:cNvSpPr/>
          <p:nvPr/>
        </p:nvSpPr>
        <p:spPr>
          <a:xfrm>
            <a:off x="868680" y="5596128"/>
            <a:ext cx="10424160" cy="731520"/>
          </a:xfrm>
          <a:prstGeom prst="rect">
            <a:avLst/>
          </a:prstGeom>
          <a:noFill/>
          <a:ln/>
        </p:spPr>
        <p:txBody>
          <a:bodyPr wrap="square" lIns="0" tIns="0" rIns="0" bIns="0" rtlCol="0" anchor="ctr"/>
          <a:lstStyle/>
          <a:p>
            <a:pPr indent="0" marL="0">
              <a:lnSpc>
                <a:spcPct val="130000"/>
              </a:lnSpc>
              <a:buNone/>
            </a:pPr>
            <a:r>
              <a:rPr lang="en-US" sz="1350" dirty="0">
                <a:solidFill>
                  <a:srgbClr val="CFE3ED"/>
                </a:solidFill>
                <a:latin typeface="Calibri" pitchFamily="34" charset="0"/>
                <a:ea typeface="Calibri" pitchFamily="34" charset="-122"/>
                <a:cs typeface="Calibri" pitchFamily="34" charset="-120"/>
              </a:rPr>
              <a:t>졸업 요건 검색 결과가 오래된 교육과정 문서라면, 그대로 쓰지 않고 답변을 보류하거나 최신 공지를 다시 검색한다. 지식 스트립 단위 재평가는 청킹된 문서에서 무관한 조항이 섞이는 걸 막는 후처리 필터로 응용할 수 있다.</a:t>
            </a:r>
            <a:endParaRPr lang="en-US" sz="1350" dirty="0"/>
          </a:p>
        </p:txBody>
      </p:sp>
      <p:sp>
        <p:nvSpPr>
          <p:cNvPr id="16" name="Text 13"/>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06 · INDEXING STRUCTURE</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5" name="Text 3"/>
          <p:cNvSpPr/>
          <p:nvPr/>
        </p:nvSpPr>
        <p:spPr>
          <a:xfrm>
            <a:off x="640080" y="658368"/>
            <a:ext cx="89611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RAPTOR — 문서를 계층으로 쌓기</a:t>
            </a:r>
            <a:endParaRPr lang="en-US" sz="2300" dirty="0"/>
          </a:p>
        </p:txBody>
      </p:sp>
      <p:sp>
        <p:nvSpPr>
          <p:cNvPr id="6" name="Shape 4"/>
          <p:cNvSpPr/>
          <p:nvPr/>
        </p:nvSpPr>
        <p:spPr>
          <a:xfrm>
            <a:off x="640080" y="1298448"/>
            <a:ext cx="10881360" cy="713232"/>
          </a:xfrm>
          <a:prstGeom prst="roundRect">
            <a:avLst>
              <a:gd name="adj" fmla="val 7692"/>
            </a:avLst>
          </a:prstGeom>
          <a:solidFill>
            <a:srgbClr val="F4F7FA"/>
          </a:solidFill>
          <a:ln/>
        </p:spPr>
      </p:sp>
      <p:sp>
        <p:nvSpPr>
          <p:cNvPr id="7" name="Text 5"/>
          <p:cNvSpPr/>
          <p:nvPr/>
        </p:nvSpPr>
        <p:spPr>
          <a:xfrm>
            <a:off x="868680" y="1353312"/>
            <a:ext cx="10424160" cy="384048"/>
          </a:xfrm>
          <a:prstGeom prst="rect">
            <a:avLst/>
          </a:prstGeom>
          <a:noFill/>
          <a:ln/>
        </p:spPr>
        <p:txBody>
          <a:bodyPr wrap="square" lIns="0" tIns="0" rIns="0" bIns="0" rtlCol="0" anchor="ctr"/>
          <a:lstStyle/>
          <a:p>
            <a:pPr indent="0" marL="0">
              <a:lnSpc>
                <a:spcPct val="102000"/>
              </a:lnSpc>
              <a:buNone/>
            </a:pPr>
            <a:r>
              <a:rPr lang="en-US" sz="1250" b="1" dirty="0">
                <a:solidFill>
                  <a:srgbClr val="21295C"/>
                </a:solidFill>
                <a:latin typeface="Cambria" pitchFamily="34" charset="0"/>
                <a:ea typeface="Cambria" pitchFamily="34" charset="-122"/>
                <a:cs typeface="Cambria" pitchFamily="34" charset="-120"/>
              </a:rPr>
              <a:t>RAPTOR: Recursive Abstractive Processing for Tree-Organized Retrieval</a:t>
            </a:r>
            <a:endParaRPr lang="en-US" sz="1250" dirty="0"/>
          </a:p>
        </p:txBody>
      </p:sp>
      <p:sp>
        <p:nvSpPr>
          <p:cNvPr id="8" name="Text 6"/>
          <p:cNvSpPr/>
          <p:nvPr/>
        </p:nvSpPr>
        <p:spPr>
          <a:xfrm>
            <a:off x="868680" y="1737360"/>
            <a:ext cx="10424160" cy="228600"/>
          </a:xfrm>
          <a:prstGeom prst="rect">
            <a:avLst/>
          </a:prstGeom>
          <a:noFill/>
          <a:ln/>
        </p:spPr>
        <p:txBody>
          <a:bodyPr wrap="square" lIns="0" tIns="0" rIns="0" bIns="0" rtlCol="0" anchor="ctr"/>
          <a:lstStyle/>
          <a:p>
            <a:pPr indent="0" marL="0">
              <a:buNone/>
            </a:pPr>
            <a:r>
              <a:rPr lang="en-US" sz="1100" dirty="0">
                <a:solidFill>
                  <a:srgbClr val="45506B"/>
                </a:solidFill>
                <a:latin typeface="Calibri" pitchFamily="34" charset="0"/>
                <a:ea typeface="Calibri" pitchFamily="34" charset="-122"/>
                <a:cs typeface="Calibri" pitchFamily="34" charset="-120"/>
              </a:rPr>
              <a:t>Sarthi, P. et al.  ·  ICLR 2024  ·  arXiv:2401.18059</a:t>
            </a:r>
            <a:endParaRPr lang="en-US" sz="1100" dirty="0"/>
          </a:p>
        </p:txBody>
      </p:sp>
      <p:sp>
        <p:nvSpPr>
          <p:cNvPr id="9" name="Text 7"/>
          <p:cNvSpPr/>
          <p:nvPr/>
        </p:nvSpPr>
        <p:spPr>
          <a:xfrm>
            <a:off x="640080" y="2084832"/>
            <a:ext cx="10515600" cy="365760"/>
          </a:xfrm>
          <a:prstGeom prst="rect">
            <a:avLst/>
          </a:prstGeom>
          <a:noFill/>
          <a:ln/>
        </p:spPr>
        <p:txBody>
          <a:bodyPr wrap="square" lIns="0" tIns="0" rIns="0" bIns="0" rtlCol="0" anchor="ctr"/>
          <a:lstStyle/>
          <a:p>
            <a:pPr indent="0" marL="0">
              <a:buNone/>
            </a:pPr>
            <a:r>
              <a:rPr lang="en-US" sz="1450" dirty="0">
                <a:solidFill>
                  <a:srgbClr val="18213D"/>
                </a:solidFill>
                <a:latin typeface="Cambria" pitchFamily="34" charset="0"/>
                <a:ea typeface="Cambria" pitchFamily="34" charset="-122"/>
                <a:cs typeface="Cambria" pitchFamily="34" charset="-120"/>
              </a:rPr>
              <a:t>문제: 짧은 청크만 검색하면 문서 전체 맥락을 놓친다</a:t>
            </a:r>
            <a:endParaRPr lang="en-US" sz="1450" dirty="0"/>
          </a:p>
        </p:txBody>
      </p:sp>
      <p:sp>
        <p:nvSpPr>
          <p:cNvPr id="10" name="Shape 8"/>
          <p:cNvSpPr/>
          <p:nvPr/>
        </p:nvSpPr>
        <p:spPr>
          <a:xfrm>
            <a:off x="640080" y="2514600"/>
            <a:ext cx="10881360" cy="1234440"/>
          </a:xfrm>
          <a:prstGeom prst="roundRect">
            <a:avLst>
              <a:gd name="adj" fmla="val 7407"/>
            </a:avLst>
          </a:prstGeom>
          <a:solidFill>
            <a:srgbClr val="FBEFE0"/>
          </a:solidFill>
          <a:ln/>
        </p:spPr>
      </p:sp>
      <p:sp>
        <p:nvSpPr>
          <p:cNvPr id="11" name="Text 9"/>
          <p:cNvSpPr/>
          <p:nvPr/>
        </p:nvSpPr>
        <p:spPr>
          <a:xfrm>
            <a:off x="868680" y="2651760"/>
            <a:ext cx="10424160" cy="365760"/>
          </a:xfrm>
          <a:prstGeom prst="rect">
            <a:avLst/>
          </a:prstGeom>
          <a:noFill/>
          <a:ln/>
        </p:spPr>
        <p:txBody>
          <a:bodyPr wrap="square" lIns="0" tIns="0" rIns="0" bIns="0" rtlCol="0" anchor="ctr"/>
          <a:lstStyle/>
          <a:p>
            <a:pPr indent="0" marL="0">
              <a:buNone/>
            </a:pPr>
            <a:r>
              <a:rPr lang="en-US" sz="1450" b="1" dirty="0">
                <a:solidFill>
                  <a:srgbClr val="6B4A1A"/>
                </a:solidFill>
                <a:latin typeface="Cambria" pitchFamily="34" charset="0"/>
                <a:ea typeface="Cambria" pitchFamily="34" charset="-122"/>
                <a:cs typeface="Cambria" pitchFamily="34" charset="-120"/>
              </a:rPr>
              <a:t>“졸업하려면 전체적으로 뭘 해야 하나요?”</a:t>
            </a:r>
            <a:endParaRPr lang="en-US" sz="1450" dirty="0"/>
          </a:p>
        </p:txBody>
      </p:sp>
      <p:sp>
        <p:nvSpPr>
          <p:cNvPr id="12" name="Text 10"/>
          <p:cNvSpPr/>
          <p:nvPr/>
        </p:nvSpPr>
        <p:spPr>
          <a:xfrm>
            <a:off x="868680" y="3017520"/>
            <a:ext cx="10424160" cy="685800"/>
          </a:xfrm>
          <a:prstGeom prst="rect">
            <a:avLst/>
          </a:prstGeom>
          <a:noFill/>
          <a:ln/>
        </p:spPr>
        <p:txBody>
          <a:bodyPr wrap="square" lIns="0" tIns="0" rIns="0" bIns="0" rtlCol="0" anchor="ctr"/>
          <a:lstStyle/>
          <a:p>
            <a:pPr indent="0" marL="0">
              <a:lnSpc>
                <a:spcPct val="130000"/>
              </a:lnSpc>
              <a:buNone/>
            </a:pPr>
            <a:r>
              <a:rPr lang="en-US" sz="1350" dirty="0">
                <a:solidFill>
                  <a:srgbClr val="6B4A1A"/>
                </a:solidFill>
                <a:latin typeface="Calibri" pitchFamily="34" charset="0"/>
                <a:ea typeface="Calibri" pitchFamily="34" charset="-122"/>
                <a:cs typeface="Calibri" pitchFamily="34" charset="-120"/>
              </a:rPr>
              <a:t>이런 총체적 질문에는 짧은 청크 하나로는 답할 수 없다. 여러 문서(학점·마일리지·성적·이수과목)에 흩어진 정보를 종합해야 하는데, 청크 크기를 무작정 키우면 무관한 내용이 섞여 검색 정밀도가 떨어진다.</a:t>
            </a:r>
            <a:endParaRPr lang="en-US" sz="1350" dirty="0"/>
          </a:p>
        </p:txBody>
      </p:sp>
      <p:sp>
        <p:nvSpPr>
          <p:cNvPr id="13" name="Shape 11"/>
          <p:cNvSpPr/>
          <p:nvPr/>
        </p:nvSpPr>
        <p:spPr>
          <a:xfrm>
            <a:off x="640080" y="3931920"/>
            <a:ext cx="10881360" cy="914400"/>
          </a:xfrm>
          <a:prstGeom prst="roundRect">
            <a:avLst>
              <a:gd name="adj" fmla="val 8000"/>
            </a:avLst>
          </a:prstGeom>
          <a:solidFill>
            <a:srgbClr val="F4F7FA"/>
          </a:solidFill>
          <a:ln/>
        </p:spPr>
      </p:sp>
      <p:sp>
        <p:nvSpPr>
          <p:cNvPr id="14" name="Text 12"/>
          <p:cNvSpPr/>
          <p:nvPr/>
        </p:nvSpPr>
        <p:spPr>
          <a:xfrm>
            <a:off x="868680" y="3931920"/>
            <a:ext cx="10424160" cy="914400"/>
          </a:xfrm>
          <a:prstGeom prst="rect">
            <a:avLst/>
          </a:prstGeom>
          <a:noFill/>
          <a:ln/>
        </p:spPr>
        <p:txBody>
          <a:bodyPr wrap="square" lIns="0" tIns="0" rIns="0" bIns="0" rtlCol="0" anchor="ctr"/>
          <a:lstStyle/>
          <a:p>
            <a:pPr indent="0" marL="0">
              <a:lnSpc>
                <a:spcPct val="130000"/>
              </a:lnSpc>
              <a:buNone/>
            </a:pPr>
            <a:r>
              <a:rPr lang="en-US" sz="1400" b="1" dirty="0">
                <a:solidFill>
                  <a:srgbClr val="1C7293"/>
                </a:solidFill>
                <a:latin typeface="Cambria" pitchFamily="34" charset="0"/>
                <a:ea typeface="Cambria" pitchFamily="34" charset="-122"/>
                <a:cs typeface="Cambria" pitchFamily="34" charset="-120"/>
              </a:rPr>
              <a:t>핵심 아이디어   </a:t>
            </a:r>
            <a:pPr indent="0" marL="0">
              <a:lnSpc>
                <a:spcPct val="130000"/>
              </a:lnSpc>
              <a:buNone/>
            </a:pPr>
            <a:r>
              <a:rPr lang="en-US" sz="1400" dirty="0">
                <a:solidFill>
                  <a:srgbClr val="18213D"/>
                </a:solidFill>
                <a:latin typeface="Cambria" pitchFamily="34" charset="0"/>
                <a:ea typeface="Cambria" pitchFamily="34" charset="-122"/>
                <a:cs typeface="Cambria" pitchFamily="34" charset="-120"/>
              </a:rPr>
              <a:t>텍스트 청크를 재귀적으로 임베딩·클러스터링·요약해서, 세부 정보부터 전체 주제 요약까지 여러 층으로 이루어진 트리를 상향식(bottom-up)으로 구축한다.</a:t>
            </a:r>
            <a:endParaRPr lang="en-US" sz="1400" dirty="0"/>
          </a:p>
        </p:txBody>
      </p:sp>
      <p:sp>
        <p:nvSpPr>
          <p:cNvPr id="15" name="Shape 13"/>
          <p:cNvSpPr/>
          <p:nvPr/>
        </p:nvSpPr>
        <p:spPr>
          <a:xfrm>
            <a:off x="4480560" y="5074920"/>
            <a:ext cx="3200400" cy="502920"/>
          </a:xfrm>
          <a:prstGeom prst="roundRect">
            <a:avLst>
              <a:gd name="adj" fmla="val 14545"/>
            </a:avLst>
          </a:prstGeom>
          <a:solidFill>
            <a:srgbClr val="21295C"/>
          </a:solidFill>
          <a:ln/>
        </p:spPr>
      </p:sp>
      <p:sp>
        <p:nvSpPr>
          <p:cNvPr id="16" name="Text 14"/>
          <p:cNvSpPr/>
          <p:nvPr/>
        </p:nvSpPr>
        <p:spPr>
          <a:xfrm>
            <a:off x="4480560" y="5074920"/>
            <a:ext cx="3200400"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학과 전체 요약</a:t>
            </a:r>
            <a:endParaRPr lang="en-US" sz="1350" dirty="0"/>
          </a:p>
        </p:txBody>
      </p:sp>
      <p:sp>
        <p:nvSpPr>
          <p:cNvPr id="17" name="Shape 15"/>
          <p:cNvSpPr/>
          <p:nvPr/>
        </p:nvSpPr>
        <p:spPr>
          <a:xfrm>
            <a:off x="1463040" y="5852160"/>
            <a:ext cx="2651760" cy="457200"/>
          </a:xfrm>
          <a:prstGeom prst="roundRect">
            <a:avLst>
              <a:gd name="adj" fmla="val 16000"/>
            </a:avLst>
          </a:prstGeom>
          <a:solidFill>
            <a:srgbClr val="1C7293"/>
          </a:solidFill>
          <a:ln/>
        </p:spPr>
      </p:sp>
      <p:sp>
        <p:nvSpPr>
          <p:cNvPr id="18" name="Text 16"/>
          <p:cNvSpPr/>
          <p:nvPr/>
        </p:nvSpPr>
        <p:spPr>
          <a:xfrm>
            <a:off x="1463040" y="5852160"/>
            <a:ext cx="26517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교육과정 요약</a:t>
            </a:r>
            <a:endParaRPr lang="en-US" sz="1250" dirty="0"/>
          </a:p>
        </p:txBody>
      </p:sp>
      <p:sp>
        <p:nvSpPr>
          <p:cNvPr id="19" name="Shape 17"/>
          <p:cNvSpPr/>
          <p:nvPr/>
        </p:nvSpPr>
        <p:spPr>
          <a:xfrm flipH="1">
            <a:off x="2788920" y="5577840"/>
            <a:ext cx="3291840" cy="274320"/>
          </a:xfrm>
          <a:prstGeom prst="line">
            <a:avLst/>
          </a:prstGeom>
          <a:noFill/>
          <a:ln w="15240">
            <a:solidFill>
              <a:srgbClr val="B9C4D6"/>
            </a:solidFill>
            <a:prstDash val="solid"/>
          </a:ln>
        </p:spPr>
      </p:sp>
      <p:sp>
        <p:nvSpPr>
          <p:cNvPr id="20" name="Shape 18"/>
          <p:cNvSpPr/>
          <p:nvPr/>
        </p:nvSpPr>
        <p:spPr>
          <a:xfrm>
            <a:off x="5349240" y="5852160"/>
            <a:ext cx="2651760" cy="457200"/>
          </a:xfrm>
          <a:prstGeom prst="roundRect">
            <a:avLst>
              <a:gd name="adj" fmla="val 16000"/>
            </a:avLst>
          </a:prstGeom>
          <a:solidFill>
            <a:srgbClr val="1C7293"/>
          </a:solidFill>
          <a:ln/>
        </p:spPr>
      </p:sp>
      <p:sp>
        <p:nvSpPr>
          <p:cNvPr id="21" name="Text 19"/>
          <p:cNvSpPr/>
          <p:nvPr/>
        </p:nvSpPr>
        <p:spPr>
          <a:xfrm>
            <a:off x="5349240" y="5852160"/>
            <a:ext cx="26517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졸업요건 요약</a:t>
            </a:r>
            <a:endParaRPr lang="en-US" sz="1250" dirty="0"/>
          </a:p>
        </p:txBody>
      </p:sp>
      <p:sp>
        <p:nvSpPr>
          <p:cNvPr id="22" name="Shape 20"/>
          <p:cNvSpPr/>
          <p:nvPr/>
        </p:nvSpPr>
        <p:spPr>
          <a:xfrm>
            <a:off x="6080760" y="5577840"/>
            <a:ext cx="594360" cy="274320"/>
          </a:xfrm>
          <a:prstGeom prst="line">
            <a:avLst/>
          </a:prstGeom>
          <a:noFill/>
          <a:ln w="15240">
            <a:solidFill>
              <a:srgbClr val="B9C4D6"/>
            </a:solidFill>
            <a:prstDash val="solid"/>
          </a:ln>
        </p:spPr>
      </p:sp>
      <p:sp>
        <p:nvSpPr>
          <p:cNvPr id="23" name="Shape 21"/>
          <p:cNvSpPr/>
          <p:nvPr/>
        </p:nvSpPr>
        <p:spPr>
          <a:xfrm>
            <a:off x="9235440" y="5852160"/>
            <a:ext cx="2651760" cy="457200"/>
          </a:xfrm>
          <a:prstGeom prst="roundRect">
            <a:avLst>
              <a:gd name="adj" fmla="val 16000"/>
            </a:avLst>
          </a:prstGeom>
          <a:solidFill>
            <a:srgbClr val="1C7293"/>
          </a:solidFill>
          <a:ln/>
        </p:spPr>
      </p:sp>
      <p:sp>
        <p:nvSpPr>
          <p:cNvPr id="24" name="Text 22"/>
          <p:cNvSpPr/>
          <p:nvPr/>
        </p:nvSpPr>
        <p:spPr>
          <a:xfrm>
            <a:off x="9235440" y="5852160"/>
            <a:ext cx="26517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장학금 요약</a:t>
            </a:r>
            <a:endParaRPr lang="en-US" sz="1250" dirty="0"/>
          </a:p>
        </p:txBody>
      </p:sp>
      <p:sp>
        <p:nvSpPr>
          <p:cNvPr id="25" name="Shape 23"/>
          <p:cNvSpPr/>
          <p:nvPr/>
        </p:nvSpPr>
        <p:spPr>
          <a:xfrm>
            <a:off x="6080760" y="5577840"/>
            <a:ext cx="4480560" cy="274320"/>
          </a:xfrm>
          <a:prstGeom prst="line">
            <a:avLst/>
          </a:prstGeom>
          <a:noFill/>
          <a:ln w="15240">
            <a:solidFill>
              <a:srgbClr val="B9C4D6"/>
            </a:solidFill>
            <a:prstDash val="solid"/>
          </a:ln>
        </p:spPr>
      </p:sp>
      <p:sp>
        <p:nvSpPr>
          <p:cNvPr id="26" name="Text 24"/>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06 · INDEXING STRUCTURE</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5" name="Text 3"/>
          <p:cNvSpPr/>
          <p:nvPr/>
        </p:nvSpPr>
        <p:spPr>
          <a:xfrm>
            <a:off x="640080" y="658368"/>
            <a:ext cx="89611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트리는 어떻게 만들어지는가</a:t>
            </a:r>
            <a:endParaRPr lang="en-US" sz="2300" dirty="0"/>
          </a:p>
        </p:txBody>
      </p:sp>
      <p:sp>
        <p:nvSpPr>
          <p:cNvPr id="6" name="Shape 4"/>
          <p:cNvSpPr/>
          <p:nvPr/>
        </p:nvSpPr>
        <p:spPr>
          <a:xfrm>
            <a:off x="640080" y="1417320"/>
            <a:ext cx="10881360" cy="1051560"/>
          </a:xfrm>
          <a:prstGeom prst="roundRect">
            <a:avLst>
              <a:gd name="adj" fmla="val 6957"/>
            </a:avLst>
          </a:prstGeom>
          <a:solidFill>
            <a:srgbClr val="F4F7FA"/>
          </a:solidFill>
          <a:ln/>
        </p:spPr>
      </p:sp>
      <p:sp>
        <p:nvSpPr>
          <p:cNvPr id="7" name="Shape 5"/>
          <p:cNvSpPr/>
          <p:nvPr/>
        </p:nvSpPr>
        <p:spPr>
          <a:xfrm>
            <a:off x="868680" y="1668780"/>
            <a:ext cx="548640" cy="548640"/>
          </a:xfrm>
          <a:prstGeom prst="ellipse">
            <a:avLst/>
          </a:prstGeom>
          <a:solidFill>
            <a:srgbClr val="21295C"/>
          </a:solidFill>
          <a:ln/>
        </p:spPr>
      </p:sp>
      <p:pic>
        <p:nvPicPr>
          <p:cNvPr id="8" name="Image 0" descr="/home/claude/rag_deck/icon_hashtag_white.png">    </p:cNvPr>
          <p:cNvPicPr>
            <a:picLocks noChangeAspect="1"/>
          </p:cNvPicPr>
          <p:nvPr/>
        </p:nvPicPr>
        <p:blipFill>
          <a:blip r:embed="rId1"/>
          <a:stretch>
            <a:fillRect/>
          </a:stretch>
        </p:blipFill>
        <p:spPr>
          <a:xfrm>
            <a:off x="1005840" y="1805940"/>
            <a:ext cx="274320" cy="274320"/>
          </a:xfrm>
          <a:prstGeom prst="rect">
            <a:avLst/>
          </a:prstGeom>
        </p:spPr>
      </p:pic>
      <p:sp>
        <p:nvSpPr>
          <p:cNvPr id="9" name="Text 6"/>
          <p:cNvSpPr/>
          <p:nvPr/>
        </p:nvSpPr>
        <p:spPr>
          <a:xfrm>
            <a:off x="1691640" y="1527048"/>
            <a:ext cx="2743200" cy="832104"/>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① 청킹·임베딩</a:t>
            </a:r>
            <a:endParaRPr lang="en-US" sz="1450" dirty="0"/>
          </a:p>
        </p:txBody>
      </p:sp>
      <p:sp>
        <p:nvSpPr>
          <p:cNvPr id="10" name="Text 7"/>
          <p:cNvSpPr/>
          <p:nvPr/>
        </p:nvSpPr>
        <p:spPr>
          <a:xfrm>
            <a:off x="4572000" y="1508760"/>
            <a:ext cx="6766560" cy="868680"/>
          </a:xfrm>
          <a:prstGeom prst="rect">
            <a:avLst/>
          </a:prstGeom>
          <a:noFill/>
          <a:ln/>
        </p:spPr>
        <p:txBody>
          <a:bodyPr wrap="square" lIns="0" tIns="0" rIns="0" bIns="0" rtlCol="0" anchor="ctr"/>
          <a:lstStyle/>
          <a:p>
            <a:pPr indent="0" marL="0">
              <a:lnSpc>
                <a:spcPct val="125000"/>
              </a:lnSpc>
              <a:buNone/>
            </a:pPr>
            <a:r>
              <a:rPr lang="en-US" sz="1250" dirty="0">
                <a:solidFill>
                  <a:srgbClr val="18213D"/>
                </a:solidFill>
                <a:latin typeface="Calibri" pitchFamily="34" charset="0"/>
                <a:ea typeface="Calibri" pitchFamily="34" charset="-122"/>
                <a:cs typeface="Calibri" pitchFamily="34" charset="-120"/>
              </a:rPr>
              <a:t>SBERT로 각 청크를 임베딩 — 트리의 최하위 리프 노드가 된다</a:t>
            </a:r>
            <a:endParaRPr lang="en-US" sz="1250" dirty="0"/>
          </a:p>
        </p:txBody>
      </p:sp>
      <p:sp>
        <p:nvSpPr>
          <p:cNvPr id="11" name="Shape 8"/>
          <p:cNvSpPr/>
          <p:nvPr/>
        </p:nvSpPr>
        <p:spPr>
          <a:xfrm>
            <a:off x="640080" y="2560320"/>
            <a:ext cx="10881360" cy="1051560"/>
          </a:xfrm>
          <a:prstGeom prst="roundRect">
            <a:avLst>
              <a:gd name="adj" fmla="val 6957"/>
            </a:avLst>
          </a:prstGeom>
          <a:solidFill>
            <a:srgbClr val="FFFFFF"/>
          </a:solidFill>
          <a:ln w="12700">
            <a:solidFill>
              <a:srgbClr val="E1E8ED"/>
            </a:solidFill>
            <a:prstDash val="solid"/>
          </a:ln>
        </p:spPr>
      </p:sp>
      <p:sp>
        <p:nvSpPr>
          <p:cNvPr id="12" name="Shape 9"/>
          <p:cNvSpPr/>
          <p:nvPr/>
        </p:nvSpPr>
        <p:spPr>
          <a:xfrm>
            <a:off x="868680" y="2811780"/>
            <a:ext cx="548640" cy="548640"/>
          </a:xfrm>
          <a:prstGeom prst="ellipse">
            <a:avLst/>
          </a:prstGeom>
          <a:solidFill>
            <a:srgbClr val="21295C"/>
          </a:solidFill>
          <a:ln/>
        </p:spPr>
      </p:sp>
      <p:pic>
        <p:nvPicPr>
          <p:cNvPr id="13" name="Image 1" descr="/home/claude/rag_deck/icon_arrowsh_white.png">    </p:cNvPr>
          <p:cNvPicPr>
            <a:picLocks noChangeAspect="1"/>
          </p:cNvPicPr>
          <p:nvPr/>
        </p:nvPicPr>
        <p:blipFill>
          <a:blip r:embed="rId2"/>
          <a:stretch>
            <a:fillRect/>
          </a:stretch>
        </p:blipFill>
        <p:spPr>
          <a:xfrm>
            <a:off x="1005840" y="2948940"/>
            <a:ext cx="274320" cy="274320"/>
          </a:xfrm>
          <a:prstGeom prst="rect">
            <a:avLst/>
          </a:prstGeom>
        </p:spPr>
      </p:pic>
      <p:sp>
        <p:nvSpPr>
          <p:cNvPr id="14" name="Text 10"/>
          <p:cNvSpPr/>
          <p:nvPr/>
        </p:nvSpPr>
        <p:spPr>
          <a:xfrm>
            <a:off x="1691640" y="2670048"/>
            <a:ext cx="2743200" cy="832104"/>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② 차원 축소</a:t>
            </a:r>
            <a:endParaRPr lang="en-US" sz="1450" dirty="0"/>
          </a:p>
        </p:txBody>
      </p:sp>
      <p:sp>
        <p:nvSpPr>
          <p:cNvPr id="15" name="Text 11"/>
          <p:cNvSpPr/>
          <p:nvPr/>
        </p:nvSpPr>
        <p:spPr>
          <a:xfrm>
            <a:off x="4572000" y="2651760"/>
            <a:ext cx="6766560" cy="868680"/>
          </a:xfrm>
          <a:prstGeom prst="rect">
            <a:avLst/>
          </a:prstGeom>
          <a:noFill/>
          <a:ln/>
        </p:spPr>
        <p:txBody>
          <a:bodyPr wrap="square" lIns="0" tIns="0" rIns="0" bIns="0" rtlCol="0" anchor="ctr"/>
          <a:lstStyle/>
          <a:p>
            <a:pPr indent="0" marL="0">
              <a:lnSpc>
                <a:spcPct val="125000"/>
              </a:lnSpc>
              <a:buNone/>
            </a:pPr>
            <a:r>
              <a:rPr lang="en-US" sz="1250" dirty="0">
                <a:solidFill>
                  <a:srgbClr val="18213D"/>
                </a:solidFill>
                <a:latin typeface="Calibri" pitchFamily="34" charset="0"/>
                <a:ea typeface="Calibri" pitchFamily="34" charset="-122"/>
                <a:cs typeface="Calibri" pitchFamily="34" charset="-120"/>
              </a:rPr>
              <a:t>UMAP으로 고차원 임베딩을 낮은 차원으로 축소 — 고차원에서는 거리 계산이 잘 작동하지 않기 때문(‘차원의 저주’)</a:t>
            </a:r>
            <a:endParaRPr lang="en-US" sz="1250" dirty="0"/>
          </a:p>
        </p:txBody>
      </p:sp>
      <p:sp>
        <p:nvSpPr>
          <p:cNvPr id="16" name="Shape 12"/>
          <p:cNvSpPr/>
          <p:nvPr/>
        </p:nvSpPr>
        <p:spPr>
          <a:xfrm>
            <a:off x="640080" y="3703320"/>
            <a:ext cx="10881360" cy="1051560"/>
          </a:xfrm>
          <a:prstGeom prst="roundRect">
            <a:avLst>
              <a:gd name="adj" fmla="val 6957"/>
            </a:avLst>
          </a:prstGeom>
          <a:solidFill>
            <a:srgbClr val="F4F7FA"/>
          </a:solidFill>
          <a:ln/>
        </p:spPr>
      </p:sp>
      <p:sp>
        <p:nvSpPr>
          <p:cNvPr id="17" name="Shape 13"/>
          <p:cNvSpPr/>
          <p:nvPr/>
        </p:nvSpPr>
        <p:spPr>
          <a:xfrm>
            <a:off x="868680" y="3954780"/>
            <a:ext cx="548640" cy="548640"/>
          </a:xfrm>
          <a:prstGeom prst="ellipse">
            <a:avLst/>
          </a:prstGeom>
          <a:solidFill>
            <a:srgbClr val="21295C"/>
          </a:solidFill>
          <a:ln/>
        </p:spPr>
      </p:sp>
      <p:pic>
        <p:nvPicPr>
          <p:cNvPr id="18" name="Image 2" descr="/home/claude/rag_deck/icon_cubes_white.png">    </p:cNvPr>
          <p:cNvPicPr>
            <a:picLocks noChangeAspect="1"/>
          </p:cNvPicPr>
          <p:nvPr/>
        </p:nvPicPr>
        <p:blipFill>
          <a:blip r:embed="rId3"/>
          <a:stretch>
            <a:fillRect/>
          </a:stretch>
        </p:blipFill>
        <p:spPr>
          <a:xfrm>
            <a:off x="1005840" y="4091940"/>
            <a:ext cx="274320" cy="274320"/>
          </a:xfrm>
          <a:prstGeom prst="rect">
            <a:avLst/>
          </a:prstGeom>
        </p:spPr>
      </p:pic>
      <p:sp>
        <p:nvSpPr>
          <p:cNvPr id="19" name="Text 14"/>
          <p:cNvSpPr/>
          <p:nvPr/>
        </p:nvSpPr>
        <p:spPr>
          <a:xfrm>
            <a:off x="1691640" y="3813048"/>
            <a:ext cx="2743200" cy="832104"/>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③ 클러스터링</a:t>
            </a:r>
            <a:endParaRPr lang="en-US" sz="1450" dirty="0"/>
          </a:p>
        </p:txBody>
      </p:sp>
      <p:sp>
        <p:nvSpPr>
          <p:cNvPr id="20" name="Text 15"/>
          <p:cNvSpPr/>
          <p:nvPr/>
        </p:nvSpPr>
        <p:spPr>
          <a:xfrm>
            <a:off x="4572000" y="3794760"/>
            <a:ext cx="6766560" cy="868680"/>
          </a:xfrm>
          <a:prstGeom prst="rect">
            <a:avLst/>
          </a:prstGeom>
          <a:noFill/>
          <a:ln/>
        </p:spPr>
        <p:txBody>
          <a:bodyPr wrap="square" lIns="0" tIns="0" rIns="0" bIns="0" rtlCol="0" anchor="ctr"/>
          <a:lstStyle/>
          <a:p>
            <a:pPr indent="0" marL="0">
              <a:lnSpc>
                <a:spcPct val="125000"/>
              </a:lnSpc>
              <a:buNone/>
            </a:pPr>
            <a:r>
              <a:rPr lang="en-US" sz="1250" dirty="0">
                <a:solidFill>
                  <a:srgbClr val="18213D"/>
                </a:solidFill>
                <a:latin typeface="Calibri" pitchFamily="34" charset="0"/>
                <a:ea typeface="Calibri" pitchFamily="34" charset="-122"/>
                <a:cs typeface="Calibri" pitchFamily="34" charset="-120"/>
              </a:rPr>
              <a:t>GMM(가우시안 혼합 모델)로 소프트 클러스터링 — 청크 하나가 여러 클러스터에 동시에 속할 수 있다. 클러스터 개수는 BIC로 자동 결정</a:t>
            </a:r>
            <a:endParaRPr lang="en-US" sz="1250" dirty="0"/>
          </a:p>
        </p:txBody>
      </p:sp>
      <p:sp>
        <p:nvSpPr>
          <p:cNvPr id="21" name="Shape 16"/>
          <p:cNvSpPr/>
          <p:nvPr/>
        </p:nvSpPr>
        <p:spPr>
          <a:xfrm>
            <a:off x="640080" y="4846320"/>
            <a:ext cx="10881360" cy="1051560"/>
          </a:xfrm>
          <a:prstGeom prst="roundRect">
            <a:avLst>
              <a:gd name="adj" fmla="val 6957"/>
            </a:avLst>
          </a:prstGeom>
          <a:solidFill>
            <a:srgbClr val="FFFFFF"/>
          </a:solidFill>
          <a:ln w="12700">
            <a:solidFill>
              <a:srgbClr val="E1E8ED"/>
            </a:solidFill>
            <a:prstDash val="solid"/>
          </a:ln>
        </p:spPr>
      </p:sp>
      <p:sp>
        <p:nvSpPr>
          <p:cNvPr id="22" name="Shape 17"/>
          <p:cNvSpPr/>
          <p:nvPr/>
        </p:nvSpPr>
        <p:spPr>
          <a:xfrm>
            <a:off x="868680" y="5097780"/>
            <a:ext cx="548640" cy="548640"/>
          </a:xfrm>
          <a:prstGeom prst="ellipse">
            <a:avLst/>
          </a:prstGeom>
          <a:solidFill>
            <a:srgbClr val="21295C"/>
          </a:solidFill>
          <a:ln/>
        </p:spPr>
      </p:sp>
      <p:pic>
        <p:nvPicPr>
          <p:cNvPr id="23" name="Image 3" descr="/home/claude/rag_deck/icon_redo_white.png">    </p:cNvPr>
          <p:cNvPicPr>
            <a:picLocks noChangeAspect="1"/>
          </p:cNvPicPr>
          <p:nvPr/>
        </p:nvPicPr>
        <p:blipFill>
          <a:blip r:embed="rId4"/>
          <a:stretch>
            <a:fillRect/>
          </a:stretch>
        </p:blipFill>
        <p:spPr>
          <a:xfrm>
            <a:off x="1005840" y="5234940"/>
            <a:ext cx="274320" cy="274320"/>
          </a:xfrm>
          <a:prstGeom prst="rect">
            <a:avLst/>
          </a:prstGeom>
        </p:spPr>
      </p:pic>
      <p:sp>
        <p:nvSpPr>
          <p:cNvPr id="24" name="Text 18"/>
          <p:cNvSpPr/>
          <p:nvPr/>
        </p:nvSpPr>
        <p:spPr>
          <a:xfrm>
            <a:off x="1691640" y="4956048"/>
            <a:ext cx="2743200" cy="832104"/>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④ 요약·재귀</a:t>
            </a:r>
            <a:endParaRPr lang="en-US" sz="1450" dirty="0"/>
          </a:p>
        </p:txBody>
      </p:sp>
      <p:sp>
        <p:nvSpPr>
          <p:cNvPr id="25" name="Text 19"/>
          <p:cNvSpPr/>
          <p:nvPr/>
        </p:nvSpPr>
        <p:spPr>
          <a:xfrm>
            <a:off x="4572000" y="4937760"/>
            <a:ext cx="6766560" cy="868680"/>
          </a:xfrm>
          <a:prstGeom prst="rect">
            <a:avLst/>
          </a:prstGeom>
          <a:noFill/>
          <a:ln/>
        </p:spPr>
        <p:txBody>
          <a:bodyPr wrap="square" lIns="0" tIns="0" rIns="0" bIns="0" rtlCol="0" anchor="ctr"/>
          <a:lstStyle/>
          <a:p>
            <a:pPr indent="0" marL="0">
              <a:lnSpc>
                <a:spcPct val="125000"/>
              </a:lnSpc>
              <a:buNone/>
            </a:pPr>
            <a:r>
              <a:rPr lang="en-US" sz="1250" dirty="0">
                <a:solidFill>
                  <a:srgbClr val="18213D"/>
                </a:solidFill>
                <a:latin typeface="Calibri" pitchFamily="34" charset="0"/>
                <a:ea typeface="Calibri" pitchFamily="34" charset="-122"/>
                <a:cs typeface="Calibri" pitchFamily="34" charset="-120"/>
              </a:rPr>
              <a:t>각 클러스터를 LLM으로 요약해 상위 노드 생성 → 이 요약을 다시 청크처럼 취급해 반복 → 더 이상 클러스터링 불가할 때까지 재귀</a:t>
            </a:r>
            <a:endParaRPr lang="en-US" sz="1250" dirty="0"/>
          </a:p>
        </p:txBody>
      </p:sp>
      <p:sp>
        <p:nvSpPr>
          <p:cNvPr id="26" name="Shape 20"/>
          <p:cNvSpPr/>
          <p:nvPr/>
        </p:nvSpPr>
        <p:spPr>
          <a:xfrm>
            <a:off x="640080" y="5623560"/>
            <a:ext cx="10881360" cy="777240"/>
          </a:xfrm>
          <a:prstGeom prst="roundRect">
            <a:avLst>
              <a:gd name="adj" fmla="val 9412"/>
            </a:avLst>
          </a:prstGeom>
          <a:solidFill>
            <a:srgbClr val="2B2B3A"/>
          </a:solidFill>
          <a:ln/>
        </p:spPr>
      </p:sp>
      <p:sp>
        <p:nvSpPr>
          <p:cNvPr id="27" name="Text 21"/>
          <p:cNvSpPr/>
          <p:nvPr/>
        </p:nvSpPr>
        <p:spPr>
          <a:xfrm>
            <a:off x="868680" y="5623560"/>
            <a:ext cx="10424160" cy="777240"/>
          </a:xfrm>
          <a:prstGeom prst="rect">
            <a:avLst/>
          </a:prstGeom>
          <a:noFill/>
          <a:ln/>
        </p:spPr>
        <p:txBody>
          <a:bodyPr wrap="square" lIns="0" tIns="0" rIns="0" bIns="0" rtlCol="0" anchor="ctr"/>
          <a:lstStyle/>
          <a:p>
            <a:pPr indent="0" marL="0">
              <a:buNone/>
            </a:pPr>
            <a:r>
              <a:rPr lang="en-US" sz="1300" dirty="0">
                <a:solidFill>
                  <a:srgbClr val="E8E8F0"/>
                </a:solidFill>
                <a:latin typeface="Consolas" pitchFamily="34" charset="0"/>
                <a:ea typeface="Consolas" pitchFamily="34" charset="-122"/>
                <a:cs typeface="Consolas" pitchFamily="34" charset="-120"/>
              </a:rPr>
              <a:t>리프(원본 청크) → [UMAP 차원축소 + GMM 클러스터링] → 클러스터별 요약(상위 노드) → 재귀 반복 → 다층 트리 완성</a:t>
            </a:r>
            <a:endParaRPr lang="en-US" sz="1300" dirty="0"/>
          </a:p>
        </p:txBody>
      </p:sp>
      <p:sp>
        <p:nvSpPr>
          <p:cNvPr id="28" name="Text 22"/>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PAPER 06 · INDEXING STRUCTURE</a:t>
            </a:r>
            <a:endParaRPr lang="en-US" sz="1350" dirty="0"/>
          </a:p>
        </p:txBody>
      </p:sp>
      <p:sp>
        <p:nvSpPr>
          <p:cNvPr id="3" name="Shape 1"/>
          <p:cNvSpPr/>
          <p:nvPr/>
        </p:nvSpPr>
        <p:spPr>
          <a:xfrm>
            <a:off x="10149840" y="365760"/>
            <a:ext cx="438912" cy="438912"/>
          </a:xfrm>
          <a:prstGeom prst="ellipse">
            <a:avLst/>
          </a:prstGeom>
          <a:solidFill>
            <a:srgbClr val="21295C"/>
          </a:solidFill>
          <a:ln/>
        </p:spPr>
      </p:sp>
      <p:sp>
        <p:nvSpPr>
          <p:cNvPr id="4" name="Text 2"/>
          <p:cNvSpPr/>
          <p:nvPr/>
        </p:nvSpPr>
        <p:spPr>
          <a:xfrm>
            <a:off x="10149840" y="3657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5" name="Text 3"/>
          <p:cNvSpPr/>
          <p:nvPr/>
        </p:nvSpPr>
        <p:spPr>
          <a:xfrm>
            <a:off x="640080" y="658368"/>
            <a:ext cx="8961120" cy="594360"/>
          </a:xfrm>
          <a:prstGeom prst="rect">
            <a:avLst/>
          </a:prstGeom>
          <a:noFill/>
          <a:ln/>
        </p:spPr>
        <p:txBody>
          <a:bodyPr wrap="square" lIns="0" tIns="0" rIns="0" bIns="0" rtlCol="0" anchor="ctr"/>
          <a:lstStyle/>
          <a:p>
            <a:pPr indent="0" marL="0">
              <a:buNone/>
            </a:pPr>
            <a:r>
              <a:rPr lang="en-US" sz="2300" b="1" dirty="0">
                <a:solidFill>
                  <a:srgbClr val="18213D"/>
                </a:solidFill>
                <a:latin typeface="Cambria" pitchFamily="34" charset="0"/>
                <a:ea typeface="Cambria" pitchFamily="34" charset="-122"/>
                <a:cs typeface="Cambria" pitchFamily="34" charset="-120"/>
              </a:rPr>
              <a:t>검색 전략과 실험 결과</a:t>
            </a:r>
            <a:endParaRPr lang="en-US" sz="2300" dirty="0"/>
          </a:p>
        </p:txBody>
      </p:sp>
      <p:sp>
        <p:nvSpPr>
          <p:cNvPr id="6" name="Shape 4"/>
          <p:cNvSpPr/>
          <p:nvPr/>
        </p:nvSpPr>
        <p:spPr>
          <a:xfrm>
            <a:off x="640080" y="1417320"/>
            <a:ext cx="5257800" cy="1737360"/>
          </a:xfrm>
          <a:prstGeom prst="roundRect">
            <a:avLst>
              <a:gd name="adj" fmla="val 5263"/>
            </a:avLst>
          </a:prstGeom>
          <a:solidFill>
            <a:srgbClr val="F4F7FA"/>
          </a:solidFill>
          <a:ln/>
        </p:spPr>
      </p:sp>
      <p:sp>
        <p:nvSpPr>
          <p:cNvPr id="7" name="Text 5"/>
          <p:cNvSpPr/>
          <p:nvPr/>
        </p:nvSpPr>
        <p:spPr>
          <a:xfrm>
            <a:off x="868680" y="1600200"/>
            <a:ext cx="4800600" cy="3200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트리 순회 (Tree Traversal)</a:t>
            </a:r>
            <a:endParaRPr lang="en-US" sz="1450" dirty="0"/>
          </a:p>
        </p:txBody>
      </p:sp>
      <p:sp>
        <p:nvSpPr>
          <p:cNvPr id="8" name="Text 6"/>
          <p:cNvSpPr/>
          <p:nvPr/>
        </p:nvSpPr>
        <p:spPr>
          <a:xfrm>
            <a:off x="868680" y="2011680"/>
            <a:ext cx="4800600" cy="1005840"/>
          </a:xfrm>
          <a:prstGeom prst="rect">
            <a:avLst/>
          </a:prstGeom>
          <a:noFill/>
          <a:ln/>
        </p:spPr>
        <p:txBody>
          <a:bodyPr wrap="square" lIns="0" tIns="0" rIns="0" bIns="0" rtlCol="0" anchor="ctr"/>
          <a:lstStyle/>
          <a:p>
            <a:pPr indent="0" marL="0">
              <a:lnSpc>
                <a:spcPct val="130000"/>
              </a:lnSpc>
              <a:buNone/>
            </a:pPr>
            <a:r>
              <a:rPr lang="en-US" sz="1300" dirty="0">
                <a:solidFill>
                  <a:srgbClr val="18213D"/>
                </a:solidFill>
                <a:latin typeface="Calibri" pitchFamily="34" charset="0"/>
                <a:ea typeface="Calibri" pitchFamily="34" charset="-122"/>
                <a:cs typeface="Calibri" pitchFamily="34" charset="-120"/>
              </a:rPr>
              <a:t>층(layer)별로 순회하며, 각 층에서 질의와 가장 유사한 노드만 선택해 다음 층 자식 노드로 좁혀 나간다</a:t>
            </a:r>
            <a:endParaRPr lang="en-US" sz="1300" dirty="0"/>
          </a:p>
        </p:txBody>
      </p:sp>
      <p:sp>
        <p:nvSpPr>
          <p:cNvPr id="9" name="Shape 7"/>
          <p:cNvSpPr/>
          <p:nvPr/>
        </p:nvSpPr>
        <p:spPr>
          <a:xfrm>
            <a:off x="6263640" y="1417320"/>
            <a:ext cx="5257800" cy="1737360"/>
          </a:xfrm>
          <a:prstGeom prst="roundRect">
            <a:avLst>
              <a:gd name="adj" fmla="val 5263"/>
            </a:avLst>
          </a:prstGeom>
          <a:solidFill>
            <a:srgbClr val="21295C"/>
          </a:solidFill>
          <a:ln/>
        </p:spPr>
      </p:sp>
      <p:sp>
        <p:nvSpPr>
          <p:cNvPr id="10" name="Text 8"/>
          <p:cNvSpPr/>
          <p:nvPr/>
        </p:nvSpPr>
        <p:spPr>
          <a:xfrm>
            <a:off x="6492240" y="1600200"/>
            <a:ext cx="4800600" cy="3200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붕괴 트리 (Collapsed Tree) ★</a:t>
            </a:r>
            <a:endParaRPr lang="en-US" sz="1450" dirty="0"/>
          </a:p>
        </p:txBody>
      </p:sp>
      <p:sp>
        <p:nvSpPr>
          <p:cNvPr id="11" name="Text 9"/>
          <p:cNvSpPr/>
          <p:nvPr/>
        </p:nvSpPr>
        <p:spPr>
          <a:xfrm>
            <a:off x="6492240" y="2011680"/>
            <a:ext cx="4800600" cy="1005840"/>
          </a:xfrm>
          <a:prstGeom prst="rect">
            <a:avLst/>
          </a:prstGeom>
          <a:noFill/>
          <a:ln/>
        </p:spPr>
        <p:txBody>
          <a:bodyPr wrap="square" lIns="0" tIns="0" rIns="0" bIns="0" rtlCol="0" anchor="ctr"/>
          <a:lstStyle/>
          <a:p>
            <a:pPr indent="0" marL="0">
              <a:lnSpc>
                <a:spcPct val="130000"/>
              </a:lnSpc>
              <a:buNone/>
            </a:pPr>
            <a:r>
              <a:rPr lang="en-US" sz="1300" dirty="0">
                <a:solidFill>
                  <a:srgbClr val="CFE3ED"/>
                </a:solidFill>
                <a:latin typeface="Calibri" pitchFamily="34" charset="0"/>
                <a:ea typeface="Calibri" pitchFamily="34" charset="-122"/>
                <a:cs typeface="Calibri" pitchFamily="34" charset="-120"/>
              </a:rPr>
              <a:t>모든 층을 하나의 평평한 집합으로 간주하고, 질의와의 코사인 유사도만으로 토큰 한도까지 채운다 — 논문은 이 방식이 층별 순회보다 더 효과적이라고 보고</a:t>
            </a:r>
            <a:endParaRPr lang="en-US" sz="1300" dirty="0"/>
          </a:p>
        </p:txBody>
      </p:sp>
      <p:sp>
        <p:nvSpPr>
          <p:cNvPr id="12" name="Text 10"/>
          <p:cNvSpPr/>
          <p:nvPr/>
        </p:nvSpPr>
        <p:spPr>
          <a:xfrm>
            <a:off x="640080" y="3429000"/>
            <a:ext cx="45720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실험 결과</a:t>
            </a:r>
            <a:endParaRPr lang="en-US" sz="1400" dirty="0"/>
          </a:p>
        </p:txBody>
      </p:sp>
      <p:sp>
        <p:nvSpPr>
          <p:cNvPr id="13" name="Shape 11"/>
          <p:cNvSpPr/>
          <p:nvPr/>
        </p:nvSpPr>
        <p:spPr>
          <a:xfrm>
            <a:off x="640080" y="3794760"/>
            <a:ext cx="3429000" cy="1234440"/>
          </a:xfrm>
          <a:prstGeom prst="roundRect">
            <a:avLst>
              <a:gd name="adj" fmla="val 7407"/>
            </a:avLst>
          </a:prstGeom>
          <a:solidFill>
            <a:srgbClr val="065A82"/>
          </a:solidFill>
          <a:ln/>
        </p:spPr>
      </p:sp>
      <p:sp>
        <p:nvSpPr>
          <p:cNvPr id="14" name="Text 12"/>
          <p:cNvSpPr/>
          <p:nvPr/>
        </p:nvSpPr>
        <p:spPr>
          <a:xfrm>
            <a:off x="640080" y="3904488"/>
            <a:ext cx="3429000" cy="502920"/>
          </a:xfrm>
          <a:prstGeom prst="rect">
            <a:avLst/>
          </a:prstGeom>
          <a:noFill/>
          <a:ln/>
        </p:spPr>
        <p:txBody>
          <a:bodyPr wrap="square" lIns="0" tIns="0" rIns="0" bIns="0" rtlCol="0" anchor="ctr"/>
          <a:lstStyle/>
          <a:p>
            <a:pPr algn="ctr" indent="0" marL="0">
              <a:buNone/>
            </a:pPr>
            <a:r>
              <a:rPr lang="en-US" sz="2400" b="1" dirty="0">
                <a:solidFill>
                  <a:srgbClr val="C98A2C"/>
                </a:solidFill>
                <a:latin typeface="Cambria" pitchFamily="34" charset="0"/>
                <a:ea typeface="Cambria" pitchFamily="34" charset="-122"/>
                <a:cs typeface="Cambria" pitchFamily="34" charset="-120"/>
              </a:rPr>
              <a:t>+20%p</a:t>
            </a:r>
            <a:endParaRPr lang="en-US" sz="2400" dirty="0"/>
          </a:p>
        </p:txBody>
      </p:sp>
      <p:sp>
        <p:nvSpPr>
          <p:cNvPr id="15" name="Text 13"/>
          <p:cNvSpPr/>
          <p:nvPr/>
        </p:nvSpPr>
        <p:spPr>
          <a:xfrm>
            <a:off x="777240" y="4453128"/>
            <a:ext cx="3154680" cy="502920"/>
          </a:xfrm>
          <a:prstGeom prst="rect">
            <a:avLst/>
          </a:prstGeom>
          <a:noFill/>
          <a:ln/>
        </p:spPr>
        <p:txBody>
          <a:bodyPr wrap="square" lIns="0" tIns="0" rIns="0" bIns="0" rtlCol="0" anchor="ctr"/>
          <a:lstStyle/>
          <a:p>
            <a:pPr algn="ctr" indent="0" marL="0">
              <a:lnSpc>
                <a:spcPct val="120000"/>
              </a:lnSpc>
              <a:buNone/>
            </a:pPr>
            <a:r>
              <a:rPr lang="en-US" sz="1200" dirty="0">
                <a:solidFill>
                  <a:srgbClr val="CFE3ED"/>
                </a:solidFill>
                <a:latin typeface="Calibri" pitchFamily="34" charset="0"/>
                <a:ea typeface="Calibri" pitchFamily="34" charset="-122"/>
                <a:cs typeface="Calibri" pitchFamily="34" charset="-120"/>
              </a:rPr>
              <a:t>GPT-4+RAPTOR의</a:t>
            </a:r>
            <a:endParaRPr lang="en-US" sz="1200" dirty="0"/>
          </a:p>
          <a:p>
            <a:pPr algn="ctr" indent="0" marL="0">
              <a:lnSpc>
                <a:spcPct val="120000"/>
              </a:lnSpc>
              <a:buNone/>
            </a:pPr>
            <a:r>
              <a:rPr lang="en-US" sz="1200" dirty="0">
                <a:solidFill>
                  <a:srgbClr val="CFE3ED"/>
                </a:solidFill>
                <a:latin typeface="Calibri" pitchFamily="34" charset="0"/>
                <a:ea typeface="Calibri" pitchFamily="34" charset="-122"/>
                <a:cs typeface="Calibri" pitchFamily="34" charset="-120"/>
              </a:rPr>
              <a:t>QuALITY 절대 정확도 향상</a:t>
            </a:r>
            <a:endParaRPr lang="en-US" sz="1200" dirty="0"/>
          </a:p>
        </p:txBody>
      </p:sp>
      <p:sp>
        <p:nvSpPr>
          <p:cNvPr id="16" name="Shape 14"/>
          <p:cNvSpPr/>
          <p:nvPr/>
        </p:nvSpPr>
        <p:spPr>
          <a:xfrm>
            <a:off x="4343400" y="3794760"/>
            <a:ext cx="3429000" cy="1234440"/>
          </a:xfrm>
          <a:prstGeom prst="roundRect">
            <a:avLst>
              <a:gd name="adj" fmla="val 7407"/>
            </a:avLst>
          </a:prstGeom>
          <a:solidFill>
            <a:srgbClr val="065A82"/>
          </a:solidFill>
          <a:ln/>
        </p:spPr>
      </p:sp>
      <p:sp>
        <p:nvSpPr>
          <p:cNvPr id="17" name="Text 15"/>
          <p:cNvSpPr/>
          <p:nvPr/>
        </p:nvSpPr>
        <p:spPr>
          <a:xfrm>
            <a:off x="4343400" y="3904488"/>
            <a:ext cx="3429000" cy="502920"/>
          </a:xfrm>
          <a:prstGeom prst="rect">
            <a:avLst/>
          </a:prstGeom>
          <a:noFill/>
          <a:ln/>
        </p:spPr>
        <p:txBody>
          <a:bodyPr wrap="square" lIns="0" tIns="0" rIns="0" bIns="0" rtlCol="0" anchor="ctr"/>
          <a:lstStyle/>
          <a:p>
            <a:pPr algn="ctr" indent="0" marL="0">
              <a:buNone/>
            </a:pPr>
            <a:r>
              <a:rPr lang="en-US" sz="2400" b="1" dirty="0">
                <a:solidFill>
                  <a:srgbClr val="C98A2C"/>
                </a:solidFill>
                <a:latin typeface="Cambria" pitchFamily="34" charset="0"/>
                <a:ea typeface="Cambria" pitchFamily="34" charset="-122"/>
                <a:cs typeface="Cambria" pitchFamily="34" charset="-120"/>
              </a:rPr>
              <a:t>62.4%</a:t>
            </a:r>
            <a:endParaRPr lang="en-US" sz="2400" dirty="0"/>
          </a:p>
        </p:txBody>
      </p:sp>
      <p:sp>
        <p:nvSpPr>
          <p:cNvPr id="18" name="Text 16"/>
          <p:cNvSpPr/>
          <p:nvPr/>
        </p:nvSpPr>
        <p:spPr>
          <a:xfrm>
            <a:off x="4480560" y="4453128"/>
            <a:ext cx="3154680" cy="502920"/>
          </a:xfrm>
          <a:prstGeom prst="rect">
            <a:avLst/>
          </a:prstGeom>
          <a:noFill/>
          <a:ln/>
        </p:spPr>
        <p:txBody>
          <a:bodyPr wrap="square" lIns="0" tIns="0" rIns="0" bIns="0" rtlCol="0" anchor="ctr"/>
          <a:lstStyle/>
          <a:p>
            <a:pPr algn="ctr" indent="0" marL="0">
              <a:lnSpc>
                <a:spcPct val="120000"/>
              </a:lnSpc>
              <a:buNone/>
            </a:pPr>
            <a:r>
              <a:rPr lang="en-US" sz="1200" dirty="0">
                <a:solidFill>
                  <a:srgbClr val="CFE3ED"/>
                </a:solidFill>
                <a:latin typeface="Calibri" pitchFamily="34" charset="0"/>
                <a:ea typeface="Calibri" pitchFamily="34" charset="-122"/>
                <a:cs typeface="Calibri" pitchFamily="34" charset="-120"/>
              </a:rPr>
              <a:t>QuALITY 정확도</a:t>
            </a:r>
            <a:endParaRPr lang="en-US" sz="1200" dirty="0"/>
          </a:p>
          <a:p>
            <a:pPr algn="ctr" indent="0" marL="0">
              <a:lnSpc>
                <a:spcPct val="120000"/>
              </a:lnSpc>
              <a:buNone/>
            </a:pPr>
            <a:r>
              <a:rPr lang="en-US" sz="1200" dirty="0">
                <a:solidFill>
                  <a:srgbClr val="CFE3ED"/>
                </a:solidFill>
                <a:latin typeface="Calibri" pitchFamily="34" charset="0"/>
                <a:ea typeface="Calibri" pitchFamily="34" charset="-122"/>
                <a:cs typeface="Calibri" pitchFamily="34" charset="-120"/>
              </a:rPr>
              <a:t>(DPR 60.4%, BM25 57.3% 상회)</a:t>
            </a:r>
            <a:endParaRPr lang="en-US" sz="1200" dirty="0"/>
          </a:p>
        </p:txBody>
      </p:sp>
      <p:sp>
        <p:nvSpPr>
          <p:cNvPr id="19" name="Shape 17"/>
          <p:cNvSpPr/>
          <p:nvPr/>
        </p:nvSpPr>
        <p:spPr>
          <a:xfrm>
            <a:off x="8046720" y="3794760"/>
            <a:ext cx="3429000" cy="1234440"/>
          </a:xfrm>
          <a:prstGeom prst="roundRect">
            <a:avLst>
              <a:gd name="adj" fmla="val 7407"/>
            </a:avLst>
          </a:prstGeom>
          <a:solidFill>
            <a:srgbClr val="065A82"/>
          </a:solidFill>
          <a:ln/>
        </p:spPr>
      </p:sp>
      <p:sp>
        <p:nvSpPr>
          <p:cNvPr id="20" name="Text 18"/>
          <p:cNvSpPr/>
          <p:nvPr/>
        </p:nvSpPr>
        <p:spPr>
          <a:xfrm>
            <a:off x="8046720" y="3904488"/>
            <a:ext cx="3429000" cy="502920"/>
          </a:xfrm>
          <a:prstGeom prst="rect">
            <a:avLst/>
          </a:prstGeom>
          <a:noFill/>
          <a:ln/>
        </p:spPr>
        <p:txBody>
          <a:bodyPr wrap="square" lIns="0" tIns="0" rIns="0" bIns="0" rtlCol="0" anchor="ctr"/>
          <a:lstStyle/>
          <a:p>
            <a:pPr algn="ctr" indent="0" marL="0">
              <a:buNone/>
            </a:pPr>
            <a:r>
              <a:rPr lang="en-US" sz="2400" b="1" dirty="0">
                <a:solidFill>
                  <a:srgbClr val="C98A2C"/>
                </a:solidFill>
                <a:latin typeface="Cambria" pitchFamily="34" charset="0"/>
                <a:ea typeface="Cambria" pitchFamily="34" charset="-122"/>
                <a:cs typeface="Cambria" pitchFamily="34" charset="-120"/>
              </a:rPr>
              <a:t>선형</a:t>
            </a:r>
            <a:endParaRPr lang="en-US" sz="2400" dirty="0"/>
          </a:p>
        </p:txBody>
      </p:sp>
      <p:sp>
        <p:nvSpPr>
          <p:cNvPr id="21" name="Text 19"/>
          <p:cNvSpPr/>
          <p:nvPr/>
        </p:nvSpPr>
        <p:spPr>
          <a:xfrm>
            <a:off x="8183880" y="4453128"/>
            <a:ext cx="3154680" cy="502920"/>
          </a:xfrm>
          <a:prstGeom prst="rect">
            <a:avLst/>
          </a:prstGeom>
          <a:noFill/>
          <a:ln/>
        </p:spPr>
        <p:txBody>
          <a:bodyPr wrap="square" lIns="0" tIns="0" rIns="0" bIns="0" rtlCol="0" anchor="ctr"/>
          <a:lstStyle/>
          <a:p>
            <a:pPr algn="ctr" indent="0" marL="0">
              <a:lnSpc>
                <a:spcPct val="120000"/>
              </a:lnSpc>
              <a:buNone/>
            </a:pPr>
            <a:r>
              <a:rPr lang="en-US" sz="1200" dirty="0">
                <a:solidFill>
                  <a:srgbClr val="CFE3ED"/>
                </a:solidFill>
                <a:latin typeface="Calibri" pitchFamily="34" charset="0"/>
                <a:ea typeface="Calibri" pitchFamily="34" charset="-122"/>
                <a:cs typeface="Calibri" pitchFamily="34" charset="-120"/>
              </a:rPr>
              <a:t>문서 길이 대비</a:t>
            </a:r>
            <a:endParaRPr lang="en-US" sz="1200" dirty="0"/>
          </a:p>
          <a:p>
            <a:pPr algn="ctr" indent="0" marL="0">
              <a:lnSpc>
                <a:spcPct val="120000"/>
              </a:lnSpc>
              <a:buNone/>
            </a:pPr>
            <a:r>
              <a:rPr lang="en-US" sz="1200" dirty="0">
                <a:solidFill>
                  <a:srgbClr val="CFE3ED"/>
                </a:solidFill>
                <a:latin typeface="Calibri" pitchFamily="34" charset="0"/>
                <a:ea typeface="Calibri" pitchFamily="34" charset="-122"/>
                <a:cs typeface="Calibri" pitchFamily="34" charset="-120"/>
              </a:rPr>
              <a:t>빌드 시간·토큰 소모 증가</a:t>
            </a:r>
            <a:endParaRPr lang="en-US" sz="1200" dirty="0"/>
          </a:p>
        </p:txBody>
      </p:sp>
      <p:sp>
        <p:nvSpPr>
          <p:cNvPr id="22" name="Shape 20"/>
          <p:cNvSpPr/>
          <p:nvPr/>
        </p:nvSpPr>
        <p:spPr>
          <a:xfrm>
            <a:off x="640080" y="5257800"/>
            <a:ext cx="10881360" cy="1143000"/>
          </a:xfrm>
          <a:prstGeom prst="roundRect">
            <a:avLst>
              <a:gd name="adj" fmla="val 8000"/>
            </a:avLst>
          </a:prstGeom>
          <a:solidFill>
            <a:srgbClr val="FBEFE0"/>
          </a:solidFill>
          <a:ln/>
        </p:spPr>
      </p:sp>
      <p:sp>
        <p:nvSpPr>
          <p:cNvPr id="23" name="Text 21"/>
          <p:cNvSpPr/>
          <p:nvPr/>
        </p:nvSpPr>
        <p:spPr>
          <a:xfrm>
            <a:off x="868680" y="5394960"/>
            <a:ext cx="4572000" cy="274320"/>
          </a:xfrm>
          <a:prstGeom prst="rect">
            <a:avLst/>
          </a:prstGeom>
          <a:noFill/>
          <a:ln/>
        </p:spPr>
        <p:txBody>
          <a:bodyPr wrap="square" lIns="0" tIns="0" rIns="0" bIns="0" rtlCol="0" anchor="ctr"/>
          <a:lstStyle/>
          <a:p>
            <a:pPr indent="0" marL="0">
              <a:buNone/>
            </a:pPr>
            <a:r>
              <a:rPr lang="en-US" sz="1350" b="1" dirty="0">
                <a:solidFill>
                  <a:srgbClr val="9C6B00"/>
                </a:solidFill>
                <a:latin typeface="Calibri" pitchFamily="34" charset="0"/>
                <a:ea typeface="Calibri" pitchFamily="34" charset="-122"/>
                <a:cs typeface="Calibri" pitchFamily="34" charset="-120"/>
              </a:rPr>
              <a:t>우리 프로젝트 적용과 한계</a:t>
            </a:r>
            <a:endParaRPr lang="en-US" sz="1350" dirty="0"/>
          </a:p>
        </p:txBody>
      </p:sp>
      <p:sp>
        <p:nvSpPr>
          <p:cNvPr id="24" name="Text 22"/>
          <p:cNvSpPr/>
          <p:nvPr/>
        </p:nvSpPr>
        <p:spPr>
          <a:xfrm>
            <a:off x="868680" y="5687568"/>
            <a:ext cx="10424160" cy="685800"/>
          </a:xfrm>
          <a:prstGeom prst="rect">
            <a:avLst/>
          </a:prstGeom>
          <a:noFill/>
          <a:ln/>
        </p:spPr>
        <p:txBody>
          <a:bodyPr wrap="square" lIns="0" tIns="0" rIns="0" bIns="0" rtlCol="0" anchor="ctr"/>
          <a:lstStyle/>
          <a:p>
            <a:pPr indent="0" marL="0">
              <a:lnSpc>
                <a:spcPct val="125000"/>
              </a:lnSpc>
              <a:buNone/>
            </a:pPr>
            <a:r>
              <a:rPr lang="en-US" sz="1250" dirty="0">
                <a:solidFill>
                  <a:srgbClr val="6B4A1A"/>
                </a:solidFill>
                <a:latin typeface="Calibri" pitchFamily="34" charset="0"/>
                <a:ea typeface="Calibri" pitchFamily="34" charset="-122"/>
                <a:cs typeface="Calibri" pitchFamily="34" charset="-120"/>
              </a:rPr>
              <a:t>교육과정표·졸업요건은 '조항(하위) → 학년별 요약(중간) → 학과 전체 요약(최상위)'로 인덱싱하면 총체적 질문에도 답할 수 있다. 다만 GMM·UMAP 재귀 클러스터링은 8주 일정상 구현 난이도가 매우 높아, 학년별 요약본을 수동으로 만들어 별도 청크로 추가하는 정도로 개념만 부분 차용할 계획이다.</a:t>
            </a:r>
            <a:endParaRPr lang="en-US" sz="1250" dirty="0"/>
          </a:p>
        </p:txBody>
      </p:sp>
      <p:sp>
        <p:nvSpPr>
          <p:cNvPr id="25" name="Text 23"/>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65A82"/>
          </a:solidFill>
          <a:ln/>
        </p:spPr>
      </p:sp>
      <p:sp>
        <p:nvSpPr>
          <p:cNvPr id="3" name="Shape 1"/>
          <p:cNvSpPr/>
          <p:nvPr/>
        </p:nvSpPr>
        <p:spPr>
          <a:xfrm>
            <a:off x="10515600" y="5029200"/>
            <a:ext cx="2926080" cy="2926080"/>
          </a:xfrm>
          <a:prstGeom prst="ellipse">
            <a:avLst/>
          </a:prstGeom>
          <a:solidFill>
            <a:srgbClr val="1C7293"/>
          </a:solidFill>
          <a:ln/>
        </p:spPr>
      </p:sp>
      <p:sp>
        <p:nvSpPr>
          <p:cNvPr id="4" name="Text 2"/>
          <p:cNvSpPr/>
          <p:nvPr/>
        </p:nvSpPr>
        <p:spPr>
          <a:xfrm>
            <a:off x="822960" y="2468880"/>
            <a:ext cx="8229600" cy="365760"/>
          </a:xfrm>
          <a:prstGeom prst="rect">
            <a:avLst/>
          </a:prstGeom>
          <a:noFill/>
          <a:ln/>
        </p:spPr>
        <p:txBody>
          <a:bodyPr wrap="square" lIns="0" tIns="0" rIns="0" bIns="0" rtlCol="0" anchor="ctr"/>
          <a:lstStyle/>
          <a:p>
            <a:pPr indent="0" marL="0">
              <a:buNone/>
            </a:pPr>
            <a:r>
              <a:rPr lang="en-US" sz="1400" b="1" spc="300" kern="0" dirty="0">
                <a:solidFill>
                  <a:srgbClr val="C98A2C"/>
                </a:solidFill>
                <a:latin typeface="Calibri" pitchFamily="34" charset="0"/>
                <a:ea typeface="Calibri" pitchFamily="34" charset="-122"/>
                <a:cs typeface="Calibri" pitchFamily="34" charset="-120"/>
              </a:rPr>
              <a:t>PART 2</a:t>
            </a:r>
            <a:endParaRPr lang="en-US" sz="1400" dirty="0"/>
          </a:p>
        </p:txBody>
      </p:sp>
      <p:sp>
        <p:nvSpPr>
          <p:cNvPr id="5" name="Text 3"/>
          <p:cNvSpPr/>
          <p:nvPr/>
        </p:nvSpPr>
        <p:spPr>
          <a:xfrm>
            <a:off x="822960" y="2880360"/>
            <a:ext cx="10058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이제, 우리 프로젝트</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이야기입니다</a:t>
            </a:r>
            <a:endParaRPr lang="en-US" sz="3800" dirty="0"/>
          </a:p>
        </p:txBody>
      </p:sp>
      <p:sp>
        <p:nvSpPr>
          <p:cNvPr id="6" name="Text 4"/>
          <p:cNvSpPr/>
          <p:nvPr/>
        </p:nvSpPr>
        <p:spPr>
          <a:xfrm>
            <a:off x="822960" y="4160520"/>
            <a:ext cx="9144000" cy="548640"/>
          </a:xfrm>
          <a:prstGeom prst="rect">
            <a:avLst/>
          </a:prstGeom>
          <a:noFill/>
          <a:ln/>
        </p:spPr>
        <p:txBody>
          <a:bodyPr wrap="square" lIns="0" tIns="0" rIns="0" bIns="0" rtlCol="0" anchor="ctr"/>
          <a:lstStyle/>
          <a:p>
            <a:pPr indent="0" marL="0">
              <a:buNone/>
            </a:pPr>
            <a:endParaRPr lang="en-US" sz="1550" dirty="0"/>
          </a:p>
        </p:txBody>
      </p:sp>
      <p:sp>
        <p:nvSpPr>
          <p:cNvPr id="7" name="Shape 5"/>
          <p:cNvSpPr/>
          <p:nvPr/>
        </p:nvSpPr>
        <p:spPr>
          <a:xfrm>
            <a:off x="822960" y="4709160"/>
            <a:ext cx="5074920" cy="777240"/>
          </a:xfrm>
          <a:prstGeom prst="roundRect">
            <a:avLst>
              <a:gd name="adj" fmla="val 9412"/>
            </a:avLst>
          </a:prstGeom>
          <a:solidFill>
            <a:srgbClr val="065A82"/>
          </a:solidFill>
          <a:ln/>
        </p:spPr>
      </p:sp>
      <p:sp>
        <p:nvSpPr>
          <p:cNvPr id="8" name="Text 6"/>
          <p:cNvSpPr/>
          <p:nvPr/>
        </p:nvSpPr>
        <p:spPr>
          <a:xfrm>
            <a:off x="1005840" y="4709160"/>
            <a:ext cx="640080" cy="777240"/>
          </a:xfrm>
          <a:prstGeom prst="rect">
            <a:avLst/>
          </a:prstGeom>
          <a:noFill/>
          <a:ln/>
        </p:spPr>
        <p:txBody>
          <a:bodyPr wrap="square" lIns="0" tIns="0" rIns="0" bIns="0" rtlCol="0" anchor="ctr"/>
          <a:lstStyle/>
          <a:p>
            <a:pPr indent="0" marL="0">
              <a:buNone/>
            </a:pPr>
            <a:r>
              <a:rPr lang="en-US" sz="2200" b="1" dirty="0">
                <a:solidFill>
                  <a:srgbClr val="C98A2C"/>
                </a:solidFill>
                <a:latin typeface="Cambria" pitchFamily="34" charset="0"/>
                <a:ea typeface="Cambria" pitchFamily="34" charset="-122"/>
                <a:cs typeface="Cambria" pitchFamily="34" charset="-120"/>
              </a:rPr>
              <a:t>①</a:t>
            </a:r>
            <a:endParaRPr lang="en-US" sz="2200" dirty="0"/>
          </a:p>
        </p:txBody>
      </p:sp>
      <p:sp>
        <p:nvSpPr>
          <p:cNvPr id="9" name="Text 7"/>
          <p:cNvSpPr/>
          <p:nvPr/>
        </p:nvSpPr>
        <p:spPr>
          <a:xfrm>
            <a:off x="1600200" y="4709160"/>
            <a:ext cx="416052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6편 논문 한눈에 정리</a:t>
            </a:r>
            <a:endParaRPr lang="en-US" sz="1450" dirty="0"/>
          </a:p>
        </p:txBody>
      </p:sp>
      <p:sp>
        <p:nvSpPr>
          <p:cNvPr id="10" name="Shape 8"/>
          <p:cNvSpPr/>
          <p:nvPr/>
        </p:nvSpPr>
        <p:spPr>
          <a:xfrm>
            <a:off x="6355080" y="4709160"/>
            <a:ext cx="5074920" cy="777240"/>
          </a:xfrm>
          <a:prstGeom prst="roundRect">
            <a:avLst>
              <a:gd name="adj" fmla="val 9412"/>
            </a:avLst>
          </a:prstGeom>
          <a:solidFill>
            <a:srgbClr val="065A82"/>
          </a:solidFill>
          <a:ln/>
        </p:spPr>
      </p:sp>
      <p:sp>
        <p:nvSpPr>
          <p:cNvPr id="11" name="Text 9"/>
          <p:cNvSpPr/>
          <p:nvPr/>
        </p:nvSpPr>
        <p:spPr>
          <a:xfrm>
            <a:off x="6537960" y="4709160"/>
            <a:ext cx="640080" cy="777240"/>
          </a:xfrm>
          <a:prstGeom prst="rect">
            <a:avLst/>
          </a:prstGeom>
          <a:noFill/>
          <a:ln/>
        </p:spPr>
        <p:txBody>
          <a:bodyPr wrap="square" lIns="0" tIns="0" rIns="0" bIns="0" rtlCol="0" anchor="ctr"/>
          <a:lstStyle/>
          <a:p>
            <a:pPr indent="0" marL="0">
              <a:buNone/>
            </a:pPr>
            <a:r>
              <a:rPr lang="en-US" sz="2200" b="1" dirty="0">
                <a:solidFill>
                  <a:srgbClr val="C98A2C"/>
                </a:solidFill>
                <a:latin typeface="Cambria" pitchFamily="34" charset="0"/>
                <a:ea typeface="Cambria" pitchFamily="34" charset="-122"/>
                <a:cs typeface="Cambria" pitchFamily="34" charset="-120"/>
              </a:rPr>
              <a:t>②</a:t>
            </a:r>
            <a:endParaRPr lang="en-US" sz="2200" dirty="0"/>
          </a:p>
        </p:txBody>
      </p:sp>
      <p:sp>
        <p:nvSpPr>
          <p:cNvPr id="12" name="Text 10"/>
          <p:cNvSpPr/>
          <p:nvPr/>
        </p:nvSpPr>
        <p:spPr>
          <a:xfrm>
            <a:off x="7132320" y="4709160"/>
            <a:ext cx="416052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 멘토봇 — 우리가 만들 것</a:t>
            </a:r>
            <a:endParaRPr lang="en-US" sz="1450" dirty="0"/>
          </a:p>
        </p:txBody>
      </p:sp>
      <p:sp>
        <p:nvSpPr>
          <p:cNvPr id="13" name="Shape 11"/>
          <p:cNvSpPr/>
          <p:nvPr/>
        </p:nvSpPr>
        <p:spPr>
          <a:xfrm>
            <a:off x="822960" y="5623560"/>
            <a:ext cx="5074920" cy="777240"/>
          </a:xfrm>
          <a:prstGeom prst="roundRect">
            <a:avLst>
              <a:gd name="adj" fmla="val 9412"/>
            </a:avLst>
          </a:prstGeom>
          <a:solidFill>
            <a:srgbClr val="065A82"/>
          </a:solidFill>
          <a:ln/>
        </p:spPr>
      </p:sp>
      <p:sp>
        <p:nvSpPr>
          <p:cNvPr id="14" name="Text 12"/>
          <p:cNvSpPr/>
          <p:nvPr/>
        </p:nvSpPr>
        <p:spPr>
          <a:xfrm>
            <a:off x="1005840" y="5623560"/>
            <a:ext cx="640080" cy="777240"/>
          </a:xfrm>
          <a:prstGeom prst="rect">
            <a:avLst/>
          </a:prstGeom>
          <a:noFill/>
          <a:ln/>
        </p:spPr>
        <p:txBody>
          <a:bodyPr wrap="square" lIns="0" tIns="0" rIns="0" bIns="0" rtlCol="0" anchor="ctr"/>
          <a:lstStyle/>
          <a:p>
            <a:pPr indent="0" marL="0">
              <a:buNone/>
            </a:pPr>
            <a:r>
              <a:rPr lang="en-US" sz="2200" b="1" dirty="0">
                <a:solidFill>
                  <a:srgbClr val="C98A2C"/>
                </a:solidFill>
                <a:latin typeface="Cambria" pitchFamily="34" charset="0"/>
                <a:ea typeface="Cambria" pitchFamily="34" charset="-122"/>
                <a:cs typeface="Cambria" pitchFamily="34" charset="-120"/>
              </a:rPr>
              <a:t>③</a:t>
            </a:r>
            <a:endParaRPr lang="en-US" sz="2200" dirty="0"/>
          </a:p>
        </p:txBody>
      </p:sp>
      <p:sp>
        <p:nvSpPr>
          <p:cNvPr id="15" name="Text 13"/>
          <p:cNvSpPr/>
          <p:nvPr/>
        </p:nvSpPr>
        <p:spPr>
          <a:xfrm>
            <a:off x="1600200" y="5623560"/>
            <a:ext cx="416052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시스템 아키텍처 · 데이터 준비</a:t>
            </a:r>
            <a:endParaRPr lang="en-US" sz="1450" dirty="0"/>
          </a:p>
        </p:txBody>
      </p:sp>
      <p:sp>
        <p:nvSpPr>
          <p:cNvPr id="16" name="Shape 14"/>
          <p:cNvSpPr/>
          <p:nvPr/>
        </p:nvSpPr>
        <p:spPr>
          <a:xfrm>
            <a:off x="6355080" y="5623560"/>
            <a:ext cx="5074920" cy="777240"/>
          </a:xfrm>
          <a:prstGeom prst="roundRect">
            <a:avLst>
              <a:gd name="adj" fmla="val 9412"/>
            </a:avLst>
          </a:prstGeom>
          <a:solidFill>
            <a:srgbClr val="065A82"/>
          </a:solidFill>
          <a:ln/>
        </p:spPr>
      </p:sp>
      <p:sp>
        <p:nvSpPr>
          <p:cNvPr id="17" name="Text 15"/>
          <p:cNvSpPr/>
          <p:nvPr/>
        </p:nvSpPr>
        <p:spPr>
          <a:xfrm>
            <a:off x="6537960" y="5623560"/>
            <a:ext cx="640080" cy="777240"/>
          </a:xfrm>
          <a:prstGeom prst="rect">
            <a:avLst/>
          </a:prstGeom>
          <a:noFill/>
          <a:ln/>
        </p:spPr>
        <p:txBody>
          <a:bodyPr wrap="square" lIns="0" tIns="0" rIns="0" bIns="0" rtlCol="0" anchor="ctr"/>
          <a:lstStyle/>
          <a:p>
            <a:pPr indent="0" marL="0">
              <a:buNone/>
            </a:pPr>
            <a:r>
              <a:rPr lang="en-US" sz="2200" b="1" dirty="0">
                <a:solidFill>
                  <a:srgbClr val="C98A2C"/>
                </a:solidFill>
                <a:latin typeface="Cambria" pitchFamily="34" charset="0"/>
                <a:ea typeface="Cambria" pitchFamily="34" charset="-122"/>
                <a:cs typeface="Cambria" pitchFamily="34" charset="-120"/>
              </a:rPr>
              <a:t>④</a:t>
            </a:r>
            <a:endParaRPr lang="en-US" sz="2200" dirty="0"/>
          </a:p>
        </p:txBody>
      </p:sp>
      <p:sp>
        <p:nvSpPr>
          <p:cNvPr id="18" name="Text 16"/>
          <p:cNvSpPr/>
          <p:nvPr/>
        </p:nvSpPr>
        <p:spPr>
          <a:xfrm>
            <a:off x="7132320" y="5623560"/>
            <a:ext cx="416052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적용 시나리오 · 8주 로드맵</a:t>
            </a:r>
            <a:endParaRPr lang="en-US" sz="1450" dirty="0"/>
          </a:p>
        </p:txBody>
      </p:sp>
      <p:sp>
        <p:nvSpPr>
          <p:cNvPr id="19" name="Text 17"/>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SUMMARY</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여섯 편이 함께 그리는 큰 그림</a:t>
            </a:r>
            <a:endParaRPr lang="en-US" sz="2700" dirty="0"/>
          </a:p>
        </p:txBody>
      </p:sp>
      <p:sp>
        <p:nvSpPr>
          <p:cNvPr id="4" name="Text 2"/>
          <p:cNvSpPr/>
          <p:nvPr/>
        </p:nvSpPr>
        <p:spPr>
          <a:xfrm>
            <a:off x="640080" y="1298448"/>
            <a:ext cx="10515600" cy="36576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경쟁 관계가 아니라, RAG 파이프라인의 서로 다른 지점을 개선하는 보완 관계다</a:t>
            </a:r>
            <a:endParaRPr lang="en-US" sz="1400" dirty="0"/>
          </a:p>
        </p:txBody>
      </p:sp>
      <p:sp>
        <p:nvSpPr>
          <p:cNvPr id="5" name="Shape 3"/>
          <p:cNvSpPr/>
          <p:nvPr/>
        </p:nvSpPr>
        <p:spPr>
          <a:xfrm>
            <a:off x="640080" y="1920240"/>
            <a:ext cx="2194560" cy="438912"/>
          </a:xfrm>
          <a:prstGeom prst="rect">
            <a:avLst/>
          </a:prstGeom>
          <a:solidFill>
            <a:srgbClr val="21295C"/>
          </a:solidFill>
          <a:ln/>
        </p:spPr>
      </p:sp>
      <p:sp>
        <p:nvSpPr>
          <p:cNvPr id="6" name="Text 4"/>
          <p:cNvSpPr/>
          <p:nvPr/>
        </p:nvSpPr>
        <p:spPr>
          <a:xfrm>
            <a:off x="640080" y="1920240"/>
            <a:ext cx="219456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논문</a:t>
            </a:r>
            <a:endParaRPr lang="en-US" sz="1400" dirty="0"/>
          </a:p>
        </p:txBody>
      </p:sp>
      <p:sp>
        <p:nvSpPr>
          <p:cNvPr id="7" name="Shape 5"/>
          <p:cNvSpPr/>
          <p:nvPr/>
        </p:nvSpPr>
        <p:spPr>
          <a:xfrm>
            <a:off x="2834640" y="1920240"/>
            <a:ext cx="2377440" cy="438912"/>
          </a:xfrm>
          <a:prstGeom prst="rect">
            <a:avLst/>
          </a:prstGeom>
          <a:solidFill>
            <a:srgbClr val="21295C"/>
          </a:solidFill>
          <a:ln/>
        </p:spPr>
      </p:sp>
      <p:sp>
        <p:nvSpPr>
          <p:cNvPr id="8" name="Text 6"/>
          <p:cNvSpPr/>
          <p:nvPr/>
        </p:nvSpPr>
        <p:spPr>
          <a:xfrm>
            <a:off x="2834640" y="1920240"/>
            <a:ext cx="23774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개선 지점</a:t>
            </a:r>
            <a:endParaRPr lang="en-US" sz="1400" dirty="0"/>
          </a:p>
        </p:txBody>
      </p:sp>
      <p:sp>
        <p:nvSpPr>
          <p:cNvPr id="9" name="Shape 7"/>
          <p:cNvSpPr/>
          <p:nvPr/>
        </p:nvSpPr>
        <p:spPr>
          <a:xfrm>
            <a:off x="5212080" y="1920240"/>
            <a:ext cx="6309360" cy="438912"/>
          </a:xfrm>
          <a:prstGeom prst="rect">
            <a:avLst/>
          </a:prstGeom>
          <a:solidFill>
            <a:srgbClr val="21295C"/>
          </a:solidFill>
          <a:ln/>
        </p:spPr>
      </p:sp>
      <p:sp>
        <p:nvSpPr>
          <p:cNvPr id="10" name="Text 8"/>
          <p:cNvSpPr/>
          <p:nvPr/>
        </p:nvSpPr>
        <p:spPr>
          <a:xfrm>
            <a:off x="5212080" y="1920240"/>
            <a:ext cx="630936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핵심 아이디어</a:t>
            </a:r>
            <a:endParaRPr lang="en-US" sz="1400" dirty="0"/>
          </a:p>
        </p:txBody>
      </p:sp>
      <p:sp>
        <p:nvSpPr>
          <p:cNvPr id="11" name="Shape 9"/>
          <p:cNvSpPr/>
          <p:nvPr/>
        </p:nvSpPr>
        <p:spPr>
          <a:xfrm>
            <a:off x="640080" y="2359152"/>
            <a:ext cx="2194560" cy="621792"/>
          </a:xfrm>
          <a:prstGeom prst="rect">
            <a:avLst/>
          </a:prstGeom>
          <a:solidFill>
            <a:srgbClr val="F4F7FA"/>
          </a:solidFill>
          <a:ln w="6350">
            <a:solidFill>
              <a:srgbClr val="E1E8ED"/>
            </a:solidFill>
            <a:prstDash val="solid"/>
          </a:ln>
        </p:spPr>
      </p:sp>
      <p:sp>
        <p:nvSpPr>
          <p:cNvPr id="12" name="Text 10"/>
          <p:cNvSpPr/>
          <p:nvPr/>
        </p:nvSpPr>
        <p:spPr>
          <a:xfrm>
            <a:off x="777240" y="2359152"/>
            <a:ext cx="1920240" cy="621792"/>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① RAG</a:t>
            </a:r>
            <a:endParaRPr lang="en-US" sz="1300" dirty="0"/>
          </a:p>
        </p:txBody>
      </p:sp>
      <p:sp>
        <p:nvSpPr>
          <p:cNvPr id="13" name="Shape 11"/>
          <p:cNvSpPr/>
          <p:nvPr/>
        </p:nvSpPr>
        <p:spPr>
          <a:xfrm>
            <a:off x="2834640" y="2359152"/>
            <a:ext cx="2377440" cy="621792"/>
          </a:xfrm>
          <a:prstGeom prst="rect">
            <a:avLst/>
          </a:prstGeom>
          <a:solidFill>
            <a:srgbClr val="F4F7FA"/>
          </a:solidFill>
          <a:ln w="6350">
            <a:solidFill>
              <a:srgbClr val="E1E8ED"/>
            </a:solidFill>
            <a:prstDash val="solid"/>
          </a:ln>
        </p:spPr>
      </p:sp>
      <p:sp>
        <p:nvSpPr>
          <p:cNvPr id="14" name="Text 12"/>
          <p:cNvSpPr/>
          <p:nvPr/>
        </p:nvSpPr>
        <p:spPr>
          <a:xfrm>
            <a:off x="2971800" y="2359152"/>
            <a:ext cx="210312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전체 개념</a:t>
            </a:r>
            <a:endParaRPr lang="en-US" sz="1200" dirty="0"/>
          </a:p>
        </p:txBody>
      </p:sp>
      <p:sp>
        <p:nvSpPr>
          <p:cNvPr id="15" name="Shape 13"/>
          <p:cNvSpPr/>
          <p:nvPr/>
        </p:nvSpPr>
        <p:spPr>
          <a:xfrm>
            <a:off x="5212080" y="2359152"/>
            <a:ext cx="6309360" cy="621792"/>
          </a:xfrm>
          <a:prstGeom prst="rect">
            <a:avLst/>
          </a:prstGeom>
          <a:solidFill>
            <a:srgbClr val="F4F7FA"/>
          </a:solidFill>
          <a:ln w="6350">
            <a:solidFill>
              <a:srgbClr val="E1E8ED"/>
            </a:solidFill>
            <a:prstDash val="solid"/>
          </a:ln>
        </p:spPr>
      </p:sp>
      <p:sp>
        <p:nvSpPr>
          <p:cNvPr id="16" name="Text 14"/>
          <p:cNvSpPr/>
          <p:nvPr/>
        </p:nvSpPr>
        <p:spPr>
          <a:xfrm>
            <a:off x="5349240" y="2359152"/>
            <a:ext cx="603504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검색+생성 결합 구조 최초 제안</a:t>
            </a:r>
            <a:endParaRPr lang="en-US" sz="1200" dirty="0"/>
          </a:p>
        </p:txBody>
      </p:sp>
      <p:sp>
        <p:nvSpPr>
          <p:cNvPr id="17" name="Shape 15"/>
          <p:cNvSpPr/>
          <p:nvPr/>
        </p:nvSpPr>
        <p:spPr>
          <a:xfrm>
            <a:off x="640080" y="2980944"/>
            <a:ext cx="2194560" cy="621792"/>
          </a:xfrm>
          <a:prstGeom prst="rect">
            <a:avLst/>
          </a:prstGeom>
          <a:solidFill>
            <a:srgbClr val="FFFFFF"/>
          </a:solidFill>
          <a:ln w="6350">
            <a:solidFill>
              <a:srgbClr val="E1E8ED"/>
            </a:solidFill>
            <a:prstDash val="solid"/>
          </a:ln>
        </p:spPr>
      </p:sp>
      <p:sp>
        <p:nvSpPr>
          <p:cNvPr id="18" name="Text 16"/>
          <p:cNvSpPr/>
          <p:nvPr/>
        </p:nvSpPr>
        <p:spPr>
          <a:xfrm>
            <a:off x="777240" y="2980944"/>
            <a:ext cx="1920240" cy="621792"/>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② Survey</a:t>
            </a:r>
            <a:endParaRPr lang="en-US" sz="1300" dirty="0"/>
          </a:p>
        </p:txBody>
      </p:sp>
      <p:sp>
        <p:nvSpPr>
          <p:cNvPr id="19" name="Shape 17"/>
          <p:cNvSpPr/>
          <p:nvPr/>
        </p:nvSpPr>
        <p:spPr>
          <a:xfrm>
            <a:off x="2834640" y="2980944"/>
            <a:ext cx="2377440" cy="621792"/>
          </a:xfrm>
          <a:prstGeom prst="rect">
            <a:avLst/>
          </a:prstGeom>
          <a:solidFill>
            <a:srgbClr val="FFFFFF"/>
          </a:solidFill>
          <a:ln w="6350">
            <a:solidFill>
              <a:srgbClr val="E1E8ED"/>
            </a:solidFill>
            <a:prstDash val="solid"/>
          </a:ln>
        </p:spPr>
      </p:sp>
      <p:sp>
        <p:nvSpPr>
          <p:cNvPr id="20" name="Text 18"/>
          <p:cNvSpPr/>
          <p:nvPr/>
        </p:nvSpPr>
        <p:spPr>
          <a:xfrm>
            <a:off x="2971800" y="2980944"/>
            <a:ext cx="210312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전체 지도</a:t>
            </a:r>
            <a:endParaRPr lang="en-US" sz="1200" dirty="0"/>
          </a:p>
        </p:txBody>
      </p:sp>
      <p:sp>
        <p:nvSpPr>
          <p:cNvPr id="21" name="Shape 19"/>
          <p:cNvSpPr/>
          <p:nvPr/>
        </p:nvSpPr>
        <p:spPr>
          <a:xfrm>
            <a:off x="5212080" y="2980944"/>
            <a:ext cx="6309360" cy="621792"/>
          </a:xfrm>
          <a:prstGeom prst="rect">
            <a:avLst/>
          </a:prstGeom>
          <a:solidFill>
            <a:srgbClr val="FFFFFF"/>
          </a:solidFill>
          <a:ln w="6350">
            <a:solidFill>
              <a:srgbClr val="E1E8ED"/>
            </a:solidFill>
            <a:prstDash val="solid"/>
          </a:ln>
        </p:spPr>
      </p:sp>
      <p:sp>
        <p:nvSpPr>
          <p:cNvPr id="22" name="Text 20"/>
          <p:cNvSpPr/>
          <p:nvPr/>
        </p:nvSpPr>
        <p:spPr>
          <a:xfrm>
            <a:off x="5349240" y="2980944"/>
            <a:ext cx="603504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Naive→Advanced→Modular 3단계 정리</a:t>
            </a:r>
            <a:endParaRPr lang="en-US" sz="1200" dirty="0"/>
          </a:p>
        </p:txBody>
      </p:sp>
      <p:sp>
        <p:nvSpPr>
          <p:cNvPr id="23" name="Shape 21"/>
          <p:cNvSpPr/>
          <p:nvPr/>
        </p:nvSpPr>
        <p:spPr>
          <a:xfrm>
            <a:off x="640080" y="3602736"/>
            <a:ext cx="2194560" cy="621792"/>
          </a:xfrm>
          <a:prstGeom prst="rect">
            <a:avLst/>
          </a:prstGeom>
          <a:solidFill>
            <a:srgbClr val="F4F7FA"/>
          </a:solidFill>
          <a:ln w="6350">
            <a:solidFill>
              <a:srgbClr val="E1E8ED"/>
            </a:solidFill>
            <a:prstDash val="solid"/>
          </a:ln>
        </p:spPr>
      </p:sp>
      <p:sp>
        <p:nvSpPr>
          <p:cNvPr id="24" name="Text 22"/>
          <p:cNvSpPr/>
          <p:nvPr/>
        </p:nvSpPr>
        <p:spPr>
          <a:xfrm>
            <a:off x="777240" y="3602736"/>
            <a:ext cx="1920240" cy="621792"/>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③ HyDE</a:t>
            </a:r>
            <a:endParaRPr lang="en-US" sz="1300" dirty="0"/>
          </a:p>
        </p:txBody>
      </p:sp>
      <p:sp>
        <p:nvSpPr>
          <p:cNvPr id="25" name="Shape 23"/>
          <p:cNvSpPr/>
          <p:nvPr/>
        </p:nvSpPr>
        <p:spPr>
          <a:xfrm>
            <a:off x="2834640" y="3602736"/>
            <a:ext cx="2377440" cy="621792"/>
          </a:xfrm>
          <a:prstGeom prst="rect">
            <a:avLst/>
          </a:prstGeom>
          <a:solidFill>
            <a:srgbClr val="F4F7FA"/>
          </a:solidFill>
          <a:ln w="6350">
            <a:solidFill>
              <a:srgbClr val="E1E8ED"/>
            </a:solidFill>
            <a:prstDash val="solid"/>
          </a:ln>
        </p:spPr>
      </p:sp>
      <p:sp>
        <p:nvSpPr>
          <p:cNvPr id="26" name="Text 24"/>
          <p:cNvSpPr/>
          <p:nvPr/>
        </p:nvSpPr>
        <p:spPr>
          <a:xfrm>
            <a:off x="2971800" y="3602736"/>
            <a:ext cx="210312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검색 전(질문)</a:t>
            </a:r>
            <a:endParaRPr lang="en-US" sz="1200" dirty="0"/>
          </a:p>
        </p:txBody>
      </p:sp>
      <p:sp>
        <p:nvSpPr>
          <p:cNvPr id="27" name="Shape 25"/>
          <p:cNvSpPr/>
          <p:nvPr/>
        </p:nvSpPr>
        <p:spPr>
          <a:xfrm>
            <a:off x="5212080" y="3602736"/>
            <a:ext cx="6309360" cy="621792"/>
          </a:xfrm>
          <a:prstGeom prst="rect">
            <a:avLst/>
          </a:prstGeom>
          <a:solidFill>
            <a:srgbClr val="F4F7FA"/>
          </a:solidFill>
          <a:ln w="6350">
            <a:solidFill>
              <a:srgbClr val="E1E8ED"/>
            </a:solidFill>
            <a:prstDash val="solid"/>
          </a:ln>
        </p:spPr>
      </p:sp>
      <p:sp>
        <p:nvSpPr>
          <p:cNvPr id="28" name="Text 26"/>
          <p:cNvSpPr/>
          <p:nvPr/>
        </p:nvSpPr>
        <p:spPr>
          <a:xfrm>
            <a:off x="5349240" y="3602736"/>
            <a:ext cx="603504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가상 답변으로 검색 표현을 개선</a:t>
            </a:r>
            <a:endParaRPr lang="en-US" sz="1200" dirty="0"/>
          </a:p>
        </p:txBody>
      </p:sp>
      <p:sp>
        <p:nvSpPr>
          <p:cNvPr id="29" name="Shape 27"/>
          <p:cNvSpPr/>
          <p:nvPr/>
        </p:nvSpPr>
        <p:spPr>
          <a:xfrm>
            <a:off x="640080" y="4224528"/>
            <a:ext cx="2194560" cy="621792"/>
          </a:xfrm>
          <a:prstGeom prst="rect">
            <a:avLst/>
          </a:prstGeom>
          <a:solidFill>
            <a:srgbClr val="FFFFFF"/>
          </a:solidFill>
          <a:ln w="6350">
            <a:solidFill>
              <a:srgbClr val="E1E8ED"/>
            </a:solidFill>
            <a:prstDash val="solid"/>
          </a:ln>
        </p:spPr>
      </p:sp>
      <p:sp>
        <p:nvSpPr>
          <p:cNvPr id="30" name="Text 28"/>
          <p:cNvSpPr/>
          <p:nvPr/>
        </p:nvSpPr>
        <p:spPr>
          <a:xfrm>
            <a:off x="777240" y="4224528"/>
            <a:ext cx="1920240" cy="621792"/>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④ Self-RAG</a:t>
            </a:r>
            <a:endParaRPr lang="en-US" sz="1300" dirty="0"/>
          </a:p>
        </p:txBody>
      </p:sp>
      <p:sp>
        <p:nvSpPr>
          <p:cNvPr id="31" name="Shape 29"/>
          <p:cNvSpPr/>
          <p:nvPr/>
        </p:nvSpPr>
        <p:spPr>
          <a:xfrm>
            <a:off x="2834640" y="4224528"/>
            <a:ext cx="2377440" cy="621792"/>
          </a:xfrm>
          <a:prstGeom prst="rect">
            <a:avLst/>
          </a:prstGeom>
          <a:solidFill>
            <a:srgbClr val="FFFFFF"/>
          </a:solidFill>
          <a:ln w="6350">
            <a:solidFill>
              <a:srgbClr val="E1E8ED"/>
            </a:solidFill>
            <a:prstDash val="solid"/>
          </a:ln>
        </p:spPr>
      </p:sp>
      <p:sp>
        <p:nvSpPr>
          <p:cNvPr id="32" name="Text 30"/>
          <p:cNvSpPr/>
          <p:nvPr/>
        </p:nvSpPr>
        <p:spPr>
          <a:xfrm>
            <a:off x="2971800" y="4224528"/>
            <a:ext cx="210312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검색 여부 판단</a:t>
            </a:r>
            <a:endParaRPr lang="en-US" sz="1200" dirty="0"/>
          </a:p>
        </p:txBody>
      </p:sp>
      <p:sp>
        <p:nvSpPr>
          <p:cNvPr id="33" name="Shape 31"/>
          <p:cNvSpPr/>
          <p:nvPr/>
        </p:nvSpPr>
        <p:spPr>
          <a:xfrm>
            <a:off x="5212080" y="4224528"/>
            <a:ext cx="6309360" cy="621792"/>
          </a:xfrm>
          <a:prstGeom prst="rect">
            <a:avLst/>
          </a:prstGeom>
          <a:solidFill>
            <a:srgbClr val="FFFFFF"/>
          </a:solidFill>
          <a:ln w="6350">
            <a:solidFill>
              <a:srgbClr val="E1E8ED"/>
            </a:solidFill>
            <a:prstDash val="solid"/>
          </a:ln>
        </p:spPr>
      </p:sp>
      <p:sp>
        <p:nvSpPr>
          <p:cNvPr id="34" name="Text 32"/>
          <p:cNvSpPr/>
          <p:nvPr/>
        </p:nvSpPr>
        <p:spPr>
          <a:xfrm>
            <a:off x="5349240" y="4224528"/>
            <a:ext cx="603504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필요할 때만 검색하고 스스로 평가</a:t>
            </a:r>
            <a:endParaRPr lang="en-US" sz="1200" dirty="0"/>
          </a:p>
        </p:txBody>
      </p:sp>
      <p:sp>
        <p:nvSpPr>
          <p:cNvPr id="35" name="Shape 33"/>
          <p:cNvSpPr/>
          <p:nvPr/>
        </p:nvSpPr>
        <p:spPr>
          <a:xfrm>
            <a:off x="640080" y="4846320"/>
            <a:ext cx="2194560" cy="621792"/>
          </a:xfrm>
          <a:prstGeom prst="rect">
            <a:avLst/>
          </a:prstGeom>
          <a:solidFill>
            <a:srgbClr val="F4F7FA"/>
          </a:solidFill>
          <a:ln w="6350">
            <a:solidFill>
              <a:srgbClr val="E1E8ED"/>
            </a:solidFill>
            <a:prstDash val="solid"/>
          </a:ln>
        </p:spPr>
      </p:sp>
      <p:sp>
        <p:nvSpPr>
          <p:cNvPr id="36" name="Text 34"/>
          <p:cNvSpPr/>
          <p:nvPr/>
        </p:nvSpPr>
        <p:spPr>
          <a:xfrm>
            <a:off x="777240" y="4846320"/>
            <a:ext cx="1920240" cy="621792"/>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⑤ CRAG</a:t>
            </a:r>
            <a:endParaRPr lang="en-US" sz="1300" dirty="0"/>
          </a:p>
        </p:txBody>
      </p:sp>
      <p:sp>
        <p:nvSpPr>
          <p:cNvPr id="37" name="Shape 35"/>
          <p:cNvSpPr/>
          <p:nvPr/>
        </p:nvSpPr>
        <p:spPr>
          <a:xfrm>
            <a:off x="2834640" y="4846320"/>
            <a:ext cx="2377440" cy="621792"/>
          </a:xfrm>
          <a:prstGeom prst="rect">
            <a:avLst/>
          </a:prstGeom>
          <a:solidFill>
            <a:srgbClr val="F4F7FA"/>
          </a:solidFill>
          <a:ln w="6350">
            <a:solidFill>
              <a:srgbClr val="E1E8ED"/>
            </a:solidFill>
            <a:prstDash val="solid"/>
          </a:ln>
        </p:spPr>
      </p:sp>
      <p:sp>
        <p:nvSpPr>
          <p:cNvPr id="38" name="Text 36"/>
          <p:cNvSpPr/>
          <p:nvPr/>
        </p:nvSpPr>
        <p:spPr>
          <a:xfrm>
            <a:off x="2971800" y="4846320"/>
            <a:ext cx="210312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검색 후(검증)</a:t>
            </a:r>
            <a:endParaRPr lang="en-US" sz="1200" dirty="0"/>
          </a:p>
        </p:txBody>
      </p:sp>
      <p:sp>
        <p:nvSpPr>
          <p:cNvPr id="39" name="Shape 37"/>
          <p:cNvSpPr/>
          <p:nvPr/>
        </p:nvSpPr>
        <p:spPr>
          <a:xfrm>
            <a:off x="5212080" y="4846320"/>
            <a:ext cx="6309360" cy="621792"/>
          </a:xfrm>
          <a:prstGeom prst="rect">
            <a:avLst/>
          </a:prstGeom>
          <a:solidFill>
            <a:srgbClr val="F4F7FA"/>
          </a:solidFill>
          <a:ln w="6350">
            <a:solidFill>
              <a:srgbClr val="E1E8ED"/>
            </a:solidFill>
            <a:prstDash val="solid"/>
          </a:ln>
        </p:spPr>
      </p:sp>
      <p:sp>
        <p:nvSpPr>
          <p:cNvPr id="40" name="Text 38"/>
          <p:cNvSpPr/>
          <p:nvPr/>
        </p:nvSpPr>
        <p:spPr>
          <a:xfrm>
            <a:off x="5349240" y="4846320"/>
            <a:ext cx="603504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검색 결과 품질을 평가하고 보정</a:t>
            </a:r>
            <a:endParaRPr lang="en-US" sz="1200" dirty="0"/>
          </a:p>
        </p:txBody>
      </p:sp>
      <p:sp>
        <p:nvSpPr>
          <p:cNvPr id="41" name="Shape 39"/>
          <p:cNvSpPr/>
          <p:nvPr/>
        </p:nvSpPr>
        <p:spPr>
          <a:xfrm>
            <a:off x="640080" y="5468112"/>
            <a:ext cx="2194560" cy="621792"/>
          </a:xfrm>
          <a:prstGeom prst="rect">
            <a:avLst/>
          </a:prstGeom>
          <a:solidFill>
            <a:srgbClr val="FFFFFF"/>
          </a:solidFill>
          <a:ln w="6350">
            <a:solidFill>
              <a:srgbClr val="E1E8ED"/>
            </a:solidFill>
            <a:prstDash val="solid"/>
          </a:ln>
        </p:spPr>
      </p:sp>
      <p:sp>
        <p:nvSpPr>
          <p:cNvPr id="42" name="Text 40"/>
          <p:cNvSpPr/>
          <p:nvPr/>
        </p:nvSpPr>
        <p:spPr>
          <a:xfrm>
            <a:off x="777240" y="5468112"/>
            <a:ext cx="1920240" cy="621792"/>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⑥ RAPTOR</a:t>
            </a:r>
            <a:endParaRPr lang="en-US" sz="1300" dirty="0"/>
          </a:p>
        </p:txBody>
      </p:sp>
      <p:sp>
        <p:nvSpPr>
          <p:cNvPr id="43" name="Shape 41"/>
          <p:cNvSpPr/>
          <p:nvPr/>
        </p:nvSpPr>
        <p:spPr>
          <a:xfrm>
            <a:off x="2834640" y="5468112"/>
            <a:ext cx="2377440" cy="621792"/>
          </a:xfrm>
          <a:prstGeom prst="rect">
            <a:avLst/>
          </a:prstGeom>
          <a:solidFill>
            <a:srgbClr val="FFFFFF"/>
          </a:solidFill>
          <a:ln w="6350">
            <a:solidFill>
              <a:srgbClr val="E1E8ED"/>
            </a:solidFill>
            <a:prstDash val="solid"/>
          </a:ln>
        </p:spPr>
      </p:sp>
      <p:sp>
        <p:nvSpPr>
          <p:cNvPr id="44" name="Text 42"/>
          <p:cNvSpPr/>
          <p:nvPr/>
        </p:nvSpPr>
        <p:spPr>
          <a:xfrm>
            <a:off x="2971800" y="5468112"/>
            <a:ext cx="210312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인덱스 구조</a:t>
            </a:r>
            <a:endParaRPr lang="en-US" sz="1200" dirty="0"/>
          </a:p>
        </p:txBody>
      </p:sp>
      <p:sp>
        <p:nvSpPr>
          <p:cNvPr id="45" name="Shape 43"/>
          <p:cNvSpPr/>
          <p:nvPr/>
        </p:nvSpPr>
        <p:spPr>
          <a:xfrm>
            <a:off x="5212080" y="5468112"/>
            <a:ext cx="6309360" cy="621792"/>
          </a:xfrm>
          <a:prstGeom prst="rect">
            <a:avLst/>
          </a:prstGeom>
          <a:solidFill>
            <a:srgbClr val="FFFFFF"/>
          </a:solidFill>
          <a:ln w="6350">
            <a:solidFill>
              <a:srgbClr val="E1E8ED"/>
            </a:solidFill>
            <a:prstDash val="solid"/>
          </a:ln>
        </p:spPr>
      </p:sp>
      <p:sp>
        <p:nvSpPr>
          <p:cNvPr id="46" name="Text 44"/>
          <p:cNvSpPr/>
          <p:nvPr/>
        </p:nvSpPr>
        <p:spPr>
          <a:xfrm>
            <a:off x="5349240" y="5468112"/>
            <a:ext cx="6035040" cy="621792"/>
          </a:xfrm>
          <a:prstGeom prst="rect">
            <a:avLst/>
          </a:prstGeom>
          <a:noFill/>
          <a:ln/>
        </p:spPr>
        <p:txBody>
          <a:bodyPr wrap="square" lIns="0" tIns="0" rIns="0" bIns="0" rtlCol="0" anchor="ctr"/>
          <a:lstStyle/>
          <a:p>
            <a:pPr indent="0" marL="0">
              <a:buNone/>
            </a:pPr>
            <a:r>
              <a:rPr lang="en-US" sz="1200" dirty="0">
                <a:solidFill>
                  <a:srgbClr val="18213D"/>
                </a:solidFill>
                <a:latin typeface="Calibri" pitchFamily="34" charset="0"/>
                <a:ea typeface="Calibri" pitchFamily="34" charset="-122"/>
                <a:cs typeface="Calibri" pitchFamily="34" charset="-120"/>
              </a:rPr>
              <a:t>계층적 트리로 전체 맥락까지 검색</a:t>
            </a:r>
            <a:endParaRPr lang="en-US" sz="1200" dirty="0"/>
          </a:p>
        </p:txBody>
      </p:sp>
      <p:sp>
        <p:nvSpPr>
          <p:cNvPr id="47" name="Shape 45"/>
          <p:cNvSpPr/>
          <p:nvPr/>
        </p:nvSpPr>
        <p:spPr>
          <a:xfrm>
            <a:off x="640080" y="5806440"/>
            <a:ext cx="10881360" cy="685800"/>
          </a:xfrm>
          <a:prstGeom prst="roundRect">
            <a:avLst>
              <a:gd name="adj" fmla="val 10667"/>
            </a:avLst>
          </a:prstGeom>
          <a:solidFill>
            <a:srgbClr val="FBF3E4"/>
          </a:solidFill>
          <a:ln/>
        </p:spPr>
      </p:sp>
      <p:sp>
        <p:nvSpPr>
          <p:cNvPr id="48" name="Text 46"/>
          <p:cNvSpPr/>
          <p:nvPr/>
        </p:nvSpPr>
        <p:spPr>
          <a:xfrm>
            <a:off x="640080" y="5806440"/>
            <a:ext cx="10881360" cy="685800"/>
          </a:xfrm>
          <a:prstGeom prst="rect">
            <a:avLst/>
          </a:prstGeom>
          <a:noFill/>
          <a:ln/>
        </p:spPr>
        <p:txBody>
          <a:bodyPr wrap="square" lIns="0" tIns="0" rIns="0" bIns="0" rtlCol="0" anchor="ctr"/>
          <a:lstStyle/>
          <a:p>
            <a:pPr algn="ctr" indent="0" marL="0">
              <a:buNone/>
            </a:pPr>
            <a:r>
              <a:rPr lang="en-US" sz="1350" b="1" dirty="0">
                <a:solidFill>
                  <a:srgbClr val="9C6B00"/>
                </a:solidFill>
                <a:latin typeface="Calibri" pitchFamily="34" charset="0"/>
                <a:ea typeface="Calibri" pitchFamily="34" charset="-122"/>
                <a:cs typeface="Calibri" pitchFamily="34" charset="-120"/>
              </a:rPr>
              <a:t>HyDE는 검색 전을, Self-RAG는 검색 여부를, CRAG는 검색 후를, RAPTOR는 인덱스 구조를 각각 개선한다</a:t>
            </a:r>
            <a:endParaRPr lang="en-US" sz="1350" dirty="0"/>
          </a:p>
        </p:txBody>
      </p:sp>
      <p:sp>
        <p:nvSpPr>
          <p:cNvPr id="49" name="Text 47"/>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C98A2C"/>
                </a:solidFill>
                <a:latin typeface="Calibri" pitchFamily="34" charset="0"/>
                <a:ea typeface="Calibri" pitchFamily="34" charset="-122"/>
                <a:cs typeface="Calibri" pitchFamily="34" charset="-120"/>
              </a:rPr>
              <a:t>OUR PROJECT</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SE 멘토봇 — 우리가 만들 것</a:t>
            </a:r>
            <a:endParaRPr lang="en-US" sz="2700" dirty="0"/>
          </a:p>
        </p:txBody>
      </p:sp>
      <p:sp>
        <p:nvSpPr>
          <p:cNvPr id="4" name="Text 2"/>
          <p:cNvSpPr/>
          <p:nvPr/>
        </p:nvSpPr>
        <p:spPr>
          <a:xfrm>
            <a:off x="640080" y="1298448"/>
            <a:ext cx="10515600" cy="365760"/>
          </a:xfrm>
          <a:prstGeom prst="rect">
            <a:avLst/>
          </a:prstGeom>
          <a:noFill/>
          <a:ln/>
        </p:spPr>
        <p:txBody>
          <a:bodyPr wrap="square" lIns="0" tIns="0" rIns="0" bIns="0" rtlCol="0" anchor="ctr"/>
          <a:lstStyle/>
          <a:p>
            <a:pPr indent="0" marL="0">
              <a:buNone/>
            </a:pPr>
            <a:r>
              <a:rPr lang="en-US" sz="1450" dirty="0">
                <a:solidFill>
                  <a:srgbClr val="CFE3ED"/>
                </a:solidFill>
                <a:latin typeface="Calibri" pitchFamily="34" charset="0"/>
                <a:ea typeface="Calibri" pitchFamily="34" charset="-122"/>
                <a:cs typeface="Calibri" pitchFamily="34" charset="-120"/>
              </a:rPr>
              <a:t>학과 공식 자료를 근거로, 출처를 밝히며 답하는 진로·학사 상담 챗봇</a:t>
            </a:r>
            <a:endParaRPr lang="en-US" sz="1450" dirty="0"/>
          </a:p>
        </p:txBody>
      </p:sp>
      <p:sp>
        <p:nvSpPr>
          <p:cNvPr id="5" name="Shape 3"/>
          <p:cNvSpPr/>
          <p:nvPr/>
        </p:nvSpPr>
        <p:spPr>
          <a:xfrm>
            <a:off x="640080" y="1828800"/>
            <a:ext cx="10881360" cy="1051560"/>
          </a:xfrm>
          <a:prstGeom prst="roundRect">
            <a:avLst>
              <a:gd name="adj" fmla="val 8696"/>
            </a:avLst>
          </a:prstGeom>
          <a:solidFill>
            <a:srgbClr val="065A82"/>
          </a:solidFill>
          <a:ln/>
        </p:spPr>
      </p:sp>
      <p:sp>
        <p:nvSpPr>
          <p:cNvPr id="6" name="Text 4"/>
          <p:cNvSpPr/>
          <p:nvPr/>
        </p:nvSpPr>
        <p:spPr>
          <a:xfrm>
            <a:off x="868680" y="1965960"/>
            <a:ext cx="10424160" cy="82296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mbria" pitchFamily="34" charset="0"/>
                <a:ea typeface="Cambria" pitchFamily="34" charset="-122"/>
                <a:cs typeface="Cambria" pitchFamily="34" charset="-120"/>
              </a:rPr>
              <a:t>“컴퓨터공학과랑 AI학과 커리큘럼이 어떻게 다른가요?”</a:t>
            </a:r>
            <a:endParaRPr lang="en-US" sz="1400" dirty="0"/>
          </a:p>
          <a:p>
            <a:pPr indent="0" marL="0">
              <a:lnSpc>
                <a:spcPct val="130000"/>
              </a:lnSpc>
              <a:buNone/>
            </a:pPr>
            <a:r>
              <a:rPr lang="en-US" sz="1400" dirty="0">
                <a:solidFill>
                  <a:srgbClr val="FFFFFF"/>
                </a:solidFill>
                <a:latin typeface="Cambria" pitchFamily="34" charset="0"/>
                <a:ea typeface="Cambria" pitchFamily="34" charset="-122"/>
                <a:cs typeface="Cambria" pitchFamily="34" charset="-120"/>
              </a:rPr>
              <a:t>“편입생도 전공필수를 전부 들어야 하나요?”</a:t>
            </a:r>
            <a:endParaRPr lang="en-US" sz="1400" dirty="0"/>
          </a:p>
        </p:txBody>
      </p:sp>
      <p:sp>
        <p:nvSpPr>
          <p:cNvPr id="7" name="Shape 5"/>
          <p:cNvSpPr/>
          <p:nvPr/>
        </p:nvSpPr>
        <p:spPr>
          <a:xfrm>
            <a:off x="640080" y="3108960"/>
            <a:ext cx="3520440" cy="1234440"/>
          </a:xfrm>
          <a:prstGeom prst="roundRect">
            <a:avLst>
              <a:gd name="adj" fmla="val 6667"/>
            </a:avLst>
          </a:prstGeom>
          <a:solidFill>
            <a:srgbClr val="FFFFFF">
              <a:alpha val="8000"/>
            </a:srgbClr>
          </a:solidFill>
          <a:ln w="12700">
            <a:solidFill>
              <a:srgbClr val="3D5A80"/>
            </a:solidFill>
            <a:prstDash val="solid"/>
          </a:ln>
        </p:spPr>
      </p:sp>
      <p:sp>
        <p:nvSpPr>
          <p:cNvPr id="8" name="Shape 6"/>
          <p:cNvSpPr/>
          <p:nvPr/>
        </p:nvSpPr>
        <p:spPr>
          <a:xfrm>
            <a:off x="2107692" y="3273552"/>
            <a:ext cx="585216" cy="585216"/>
          </a:xfrm>
          <a:prstGeom prst="ellipse">
            <a:avLst/>
          </a:prstGeom>
          <a:solidFill>
            <a:srgbClr val="1C7293"/>
          </a:solidFill>
          <a:ln/>
        </p:spPr>
      </p:sp>
      <p:pic>
        <p:nvPicPr>
          <p:cNvPr id="9" name="Image 0" descr="/home/claude/rag_deck/icon_usergrad_white.png">    </p:cNvPr>
          <p:cNvPicPr>
            <a:picLocks noChangeAspect="1"/>
          </p:cNvPicPr>
          <p:nvPr/>
        </p:nvPicPr>
        <p:blipFill>
          <a:blip r:embed="rId1"/>
          <a:stretch>
            <a:fillRect/>
          </a:stretch>
        </p:blipFill>
        <p:spPr>
          <a:xfrm>
            <a:off x="2253996" y="3419856"/>
            <a:ext cx="292608" cy="292608"/>
          </a:xfrm>
          <a:prstGeom prst="rect">
            <a:avLst/>
          </a:prstGeom>
        </p:spPr>
      </p:pic>
      <p:sp>
        <p:nvSpPr>
          <p:cNvPr id="10" name="Text 7"/>
          <p:cNvSpPr/>
          <p:nvPr/>
        </p:nvSpPr>
        <p:spPr>
          <a:xfrm>
            <a:off x="640080" y="3931920"/>
            <a:ext cx="3520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1학년</a:t>
            </a:r>
            <a:endParaRPr lang="en-US" sz="1400" dirty="0"/>
          </a:p>
        </p:txBody>
      </p:sp>
      <p:sp>
        <p:nvSpPr>
          <p:cNvPr id="11" name="Shape 8"/>
          <p:cNvSpPr/>
          <p:nvPr/>
        </p:nvSpPr>
        <p:spPr>
          <a:xfrm>
            <a:off x="4416552" y="3108960"/>
            <a:ext cx="3520440" cy="1234440"/>
          </a:xfrm>
          <a:prstGeom prst="roundRect">
            <a:avLst>
              <a:gd name="adj" fmla="val 6667"/>
            </a:avLst>
          </a:prstGeom>
          <a:solidFill>
            <a:srgbClr val="FFFFFF">
              <a:alpha val="8000"/>
            </a:srgbClr>
          </a:solidFill>
          <a:ln w="12700">
            <a:solidFill>
              <a:srgbClr val="3D5A80"/>
            </a:solidFill>
            <a:prstDash val="solid"/>
          </a:ln>
        </p:spPr>
      </p:sp>
      <p:sp>
        <p:nvSpPr>
          <p:cNvPr id="12" name="Shape 9"/>
          <p:cNvSpPr/>
          <p:nvPr/>
        </p:nvSpPr>
        <p:spPr>
          <a:xfrm>
            <a:off x="5884164" y="3273552"/>
            <a:ext cx="585216" cy="585216"/>
          </a:xfrm>
          <a:prstGeom prst="ellipse">
            <a:avLst/>
          </a:prstGeom>
          <a:solidFill>
            <a:srgbClr val="1C7293"/>
          </a:solidFill>
          <a:ln/>
        </p:spPr>
      </p:sp>
      <p:pic>
        <p:nvPicPr>
          <p:cNvPr id="13" name="Image 1" descr="/home/claude/rag_deck/icon_book_white.png">    </p:cNvPr>
          <p:cNvPicPr>
            <a:picLocks noChangeAspect="1"/>
          </p:cNvPicPr>
          <p:nvPr/>
        </p:nvPicPr>
        <p:blipFill>
          <a:blip r:embed="rId2"/>
          <a:stretch>
            <a:fillRect/>
          </a:stretch>
        </p:blipFill>
        <p:spPr>
          <a:xfrm>
            <a:off x="6030468" y="3419856"/>
            <a:ext cx="292608" cy="292608"/>
          </a:xfrm>
          <a:prstGeom prst="rect">
            <a:avLst/>
          </a:prstGeom>
        </p:spPr>
      </p:pic>
      <p:sp>
        <p:nvSpPr>
          <p:cNvPr id="14" name="Text 10"/>
          <p:cNvSpPr/>
          <p:nvPr/>
        </p:nvSpPr>
        <p:spPr>
          <a:xfrm>
            <a:off x="4416552" y="3931920"/>
            <a:ext cx="3520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복학생</a:t>
            </a:r>
            <a:endParaRPr lang="en-US" sz="1400" dirty="0"/>
          </a:p>
        </p:txBody>
      </p:sp>
      <p:sp>
        <p:nvSpPr>
          <p:cNvPr id="15" name="Shape 11"/>
          <p:cNvSpPr/>
          <p:nvPr/>
        </p:nvSpPr>
        <p:spPr>
          <a:xfrm>
            <a:off x="8193024" y="3108960"/>
            <a:ext cx="3520440" cy="1234440"/>
          </a:xfrm>
          <a:prstGeom prst="roundRect">
            <a:avLst>
              <a:gd name="adj" fmla="val 6667"/>
            </a:avLst>
          </a:prstGeom>
          <a:solidFill>
            <a:srgbClr val="FFFFFF">
              <a:alpha val="8000"/>
            </a:srgbClr>
          </a:solidFill>
          <a:ln w="12700">
            <a:solidFill>
              <a:srgbClr val="3D5A80"/>
            </a:solidFill>
            <a:prstDash val="solid"/>
          </a:ln>
        </p:spPr>
      </p:sp>
      <p:sp>
        <p:nvSpPr>
          <p:cNvPr id="16" name="Shape 12"/>
          <p:cNvSpPr/>
          <p:nvPr/>
        </p:nvSpPr>
        <p:spPr>
          <a:xfrm>
            <a:off x="9660636" y="3273552"/>
            <a:ext cx="585216" cy="585216"/>
          </a:xfrm>
          <a:prstGeom prst="ellipse">
            <a:avLst/>
          </a:prstGeom>
          <a:solidFill>
            <a:srgbClr val="1C7293"/>
          </a:solidFill>
          <a:ln/>
        </p:spPr>
      </p:sp>
      <p:pic>
        <p:nvPicPr>
          <p:cNvPr id="17" name="Image 2" descr="/home/claude/rag_deck/icon_users_white.png">    </p:cNvPr>
          <p:cNvPicPr>
            <a:picLocks noChangeAspect="1"/>
          </p:cNvPicPr>
          <p:nvPr/>
        </p:nvPicPr>
        <p:blipFill>
          <a:blip r:embed="rId3"/>
          <a:stretch>
            <a:fillRect/>
          </a:stretch>
        </p:blipFill>
        <p:spPr>
          <a:xfrm>
            <a:off x="9806940" y="3419856"/>
            <a:ext cx="292608" cy="292608"/>
          </a:xfrm>
          <a:prstGeom prst="rect">
            <a:avLst/>
          </a:prstGeom>
        </p:spPr>
      </p:pic>
      <p:sp>
        <p:nvSpPr>
          <p:cNvPr id="18" name="Text 13"/>
          <p:cNvSpPr/>
          <p:nvPr/>
        </p:nvSpPr>
        <p:spPr>
          <a:xfrm>
            <a:off x="8193024" y="3931920"/>
            <a:ext cx="3520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편입생</a:t>
            </a:r>
            <a:endParaRPr lang="en-US" sz="1400" dirty="0"/>
          </a:p>
        </p:txBody>
      </p:sp>
      <p:sp>
        <p:nvSpPr>
          <p:cNvPr id="19" name="Shape 14"/>
          <p:cNvSpPr/>
          <p:nvPr/>
        </p:nvSpPr>
        <p:spPr>
          <a:xfrm>
            <a:off x="640080" y="4526280"/>
            <a:ext cx="10881360" cy="1600200"/>
          </a:xfrm>
          <a:prstGeom prst="roundRect">
            <a:avLst>
              <a:gd name="adj" fmla="val 5714"/>
            </a:avLst>
          </a:prstGeom>
          <a:solidFill>
            <a:srgbClr val="FFFFFF">
              <a:alpha val="8000"/>
            </a:srgbClr>
          </a:solidFill>
          <a:ln w="12700">
            <a:solidFill>
              <a:srgbClr val="3D5A80"/>
            </a:solidFill>
            <a:prstDash val="solid"/>
          </a:ln>
        </p:spPr>
      </p:sp>
      <p:sp>
        <p:nvSpPr>
          <p:cNvPr id="20" name="Text 15"/>
          <p:cNvSpPr/>
          <p:nvPr/>
        </p:nvSpPr>
        <p:spPr>
          <a:xfrm>
            <a:off x="868680" y="4663440"/>
            <a:ext cx="3657600" cy="274320"/>
          </a:xfrm>
          <a:prstGeom prst="rect">
            <a:avLst/>
          </a:prstGeom>
          <a:noFill/>
          <a:ln/>
        </p:spPr>
        <p:txBody>
          <a:bodyPr wrap="square" lIns="0" tIns="0" rIns="0" bIns="0" rtlCol="0" anchor="ctr"/>
          <a:lstStyle/>
          <a:p>
            <a:pPr indent="0" marL="0">
              <a:buNone/>
            </a:pPr>
            <a:r>
              <a:rPr lang="en-US" sz="1350" b="1" dirty="0">
                <a:solidFill>
                  <a:srgbClr val="C98A2C"/>
                </a:solidFill>
                <a:latin typeface="Calibri" pitchFamily="34" charset="0"/>
                <a:ea typeface="Calibri" pitchFamily="34" charset="-122"/>
                <a:cs typeface="Calibri" pitchFamily="34" charset="-120"/>
              </a:rPr>
              <a:t>핵심 원칙</a:t>
            </a:r>
            <a:endParaRPr lang="en-US" sz="1350" dirty="0"/>
          </a:p>
        </p:txBody>
      </p:sp>
      <p:sp>
        <p:nvSpPr>
          <p:cNvPr id="21" name="Shape 16"/>
          <p:cNvSpPr/>
          <p:nvPr/>
        </p:nvSpPr>
        <p:spPr>
          <a:xfrm>
            <a:off x="868680" y="5047488"/>
            <a:ext cx="91440" cy="91440"/>
          </a:xfrm>
          <a:prstGeom prst="ellipse">
            <a:avLst/>
          </a:prstGeom>
          <a:solidFill>
            <a:srgbClr val="C98A2C"/>
          </a:solidFill>
          <a:ln/>
        </p:spPr>
      </p:sp>
      <p:sp>
        <p:nvSpPr>
          <p:cNvPr id="22" name="Text 17"/>
          <p:cNvSpPr/>
          <p:nvPr/>
        </p:nvSpPr>
        <p:spPr>
          <a:xfrm>
            <a:off x="1097280" y="4937760"/>
            <a:ext cx="10241280" cy="320040"/>
          </a:xfrm>
          <a:prstGeom prst="rect">
            <a:avLst/>
          </a:prstGeom>
          <a:noFill/>
          <a:ln/>
        </p:spPr>
        <p:txBody>
          <a:bodyPr wrap="square" lIns="0" tIns="0" rIns="0" bIns="0" rtlCol="0" anchor="ctr"/>
          <a:lstStyle/>
          <a:p>
            <a:pPr indent="0" marL="0">
              <a:buNone/>
            </a:pPr>
            <a:r>
              <a:rPr lang="en-US" sz="1350" dirty="0">
                <a:solidFill>
                  <a:srgbClr val="CFE3ED"/>
                </a:solidFill>
                <a:latin typeface="Calibri" pitchFamily="34" charset="0"/>
                <a:ea typeface="Calibri" pitchFamily="34" charset="-122"/>
                <a:cs typeface="Calibri" pitchFamily="34" charset="-120"/>
              </a:rPr>
              <a:t>학과 공식 문서를 근거로만 답한다 — 근거 없으면 “확인된 자료가 없습니다”</a:t>
            </a:r>
            <a:endParaRPr lang="en-US" sz="1350" dirty="0"/>
          </a:p>
        </p:txBody>
      </p:sp>
      <p:sp>
        <p:nvSpPr>
          <p:cNvPr id="23" name="Shape 18"/>
          <p:cNvSpPr/>
          <p:nvPr/>
        </p:nvSpPr>
        <p:spPr>
          <a:xfrm>
            <a:off x="868680" y="5413248"/>
            <a:ext cx="91440" cy="91440"/>
          </a:xfrm>
          <a:prstGeom prst="ellipse">
            <a:avLst/>
          </a:prstGeom>
          <a:solidFill>
            <a:srgbClr val="C98A2C"/>
          </a:solidFill>
          <a:ln/>
        </p:spPr>
      </p:sp>
      <p:sp>
        <p:nvSpPr>
          <p:cNvPr id="24" name="Text 19"/>
          <p:cNvSpPr/>
          <p:nvPr/>
        </p:nvSpPr>
        <p:spPr>
          <a:xfrm>
            <a:off x="1097280" y="5303520"/>
            <a:ext cx="10241280" cy="320040"/>
          </a:xfrm>
          <a:prstGeom prst="rect">
            <a:avLst/>
          </a:prstGeom>
          <a:noFill/>
          <a:ln/>
        </p:spPr>
        <p:txBody>
          <a:bodyPr wrap="square" lIns="0" tIns="0" rIns="0" bIns="0" rtlCol="0" anchor="ctr"/>
          <a:lstStyle/>
          <a:p>
            <a:pPr indent="0" marL="0">
              <a:buNone/>
            </a:pPr>
            <a:r>
              <a:rPr lang="en-US" sz="1350" dirty="0">
                <a:solidFill>
                  <a:srgbClr val="CFE3ED"/>
                </a:solidFill>
                <a:latin typeface="Calibri" pitchFamily="34" charset="0"/>
                <a:ea typeface="Calibri" pitchFamily="34" charset="-122"/>
                <a:cs typeface="Calibri" pitchFamily="34" charset="-120"/>
              </a:rPr>
              <a:t>모든 답변에 출처(문서 제목·게시일)를 함께 표시한다</a:t>
            </a:r>
            <a:endParaRPr lang="en-US" sz="1350" dirty="0"/>
          </a:p>
        </p:txBody>
      </p:sp>
      <p:sp>
        <p:nvSpPr>
          <p:cNvPr id="25" name="Shape 20"/>
          <p:cNvSpPr/>
          <p:nvPr/>
        </p:nvSpPr>
        <p:spPr>
          <a:xfrm>
            <a:off x="868680" y="5779008"/>
            <a:ext cx="91440" cy="91440"/>
          </a:xfrm>
          <a:prstGeom prst="ellipse">
            <a:avLst/>
          </a:prstGeom>
          <a:solidFill>
            <a:srgbClr val="C98A2C"/>
          </a:solidFill>
          <a:ln/>
        </p:spPr>
      </p:sp>
      <p:sp>
        <p:nvSpPr>
          <p:cNvPr id="26" name="Text 21"/>
          <p:cNvSpPr/>
          <p:nvPr/>
        </p:nvSpPr>
        <p:spPr>
          <a:xfrm>
            <a:off x="1097280" y="5669280"/>
            <a:ext cx="10241280" cy="320040"/>
          </a:xfrm>
          <a:prstGeom prst="rect">
            <a:avLst/>
          </a:prstGeom>
          <a:noFill/>
          <a:ln/>
        </p:spPr>
        <p:txBody>
          <a:bodyPr wrap="square" lIns="0" tIns="0" rIns="0" bIns="0" rtlCol="0" anchor="ctr"/>
          <a:lstStyle/>
          <a:p>
            <a:pPr indent="0" marL="0">
              <a:buNone/>
            </a:pPr>
            <a:r>
              <a:rPr lang="en-US" sz="1350" dirty="0">
                <a:solidFill>
                  <a:srgbClr val="CFE3ED"/>
                </a:solidFill>
                <a:latin typeface="Calibri" pitchFamily="34" charset="0"/>
                <a:ea typeface="Calibri" pitchFamily="34" charset="-122"/>
                <a:cs typeface="Calibri" pitchFamily="34" charset="-120"/>
              </a:rPr>
              <a:t>개인 학점·졸업 정보 같은 개인정보 요청은 다루지 않는다</a:t>
            </a:r>
            <a:endParaRPr lang="en-US" sz="1350" dirty="0"/>
          </a:p>
        </p:txBody>
      </p:sp>
      <p:sp>
        <p:nvSpPr>
          <p:cNvPr id="27" name="Text 22"/>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ARCHITECTURE</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6편의 논문이 파이프라인에 배치되는 방식</a:t>
            </a:r>
            <a:endParaRPr lang="en-US" sz="2700" dirty="0"/>
          </a:p>
        </p:txBody>
      </p:sp>
      <p:sp>
        <p:nvSpPr>
          <p:cNvPr id="4" name="Text 2"/>
          <p:cNvSpPr/>
          <p:nvPr/>
        </p:nvSpPr>
        <p:spPr>
          <a:xfrm>
            <a:off x="640080" y="1298448"/>
            <a:ext cx="10515600" cy="36576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각 논문의 아이디어가 RAG 파이프라인의 서로 다른 단계에 대응한다</a:t>
            </a:r>
            <a:endParaRPr lang="en-US" sz="1400" dirty="0"/>
          </a:p>
        </p:txBody>
      </p:sp>
      <p:sp>
        <p:nvSpPr>
          <p:cNvPr id="5" name="Shape 3"/>
          <p:cNvSpPr/>
          <p:nvPr/>
        </p:nvSpPr>
        <p:spPr>
          <a:xfrm>
            <a:off x="640080" y="1920240"/>
            <a:ext cx="1691640" cy="1691640"/>
          </a:xfrm>
          <a:prstGeom prst="roundRect">
            <a:avLst>
              <a:gd name="adj" fmla="val 4865"/>
            </a:avLst>
          </a:prstGeom>
          <a:solidFill>
            <a:srgbClr val="065A82"/>
          </a:solidFill>
          <a:ln/>
        </p:spPr>
      </p:sp>
      <p:pic>
        <p:nvPicPr>
          <p:cNvPr id="6" name="Image 0" descr="/home/claude/rag_deck/icon_commentalt_white.png">    </p:cNvPr>
          <p:cNvPicPr>
            <a:picLocks noChangeAspect="1"/>
          </p:cNvPicPr>
          <p:nvPr/>
        </p:nvPicPr>
        <p:blipFill>
          <a:blip r:embed="rId1"/>
          <a:stretch>
            <a:fillRect/>
          </a:stretch>
        </p:blipFill>
        <p:spPr>
          <a:xfrm>
            <a:off x="1330452" y="2084832"/>
            <a:ext cx="310896" cy="310896"/>
          </a:xfrm>
          <a:prstGeom prst="rect">
            <a:avLst/>
          </a:prstGeom>
        </p:spPr>
      </p:pic>
      <p:sp>
        <p:nvSpPr>
          <p:cNvPr id="7" name="Text 4"/>
          <p:cNvSpPr/>
          <p:nvPr/>
        </p:nvSpPr>
        <p:spPr>
          <a:xfrm>
            <a:off x="713232" y="2487168"/>
            <a:ext cx="1545336"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질문 입력</a:t>
            </a:r>
            <a:endParaRPr lang="en-US" sz="1250" dirty="0"/>
          </a:p>
        </p:txBody>
      </p:sp>
      <p:sp>
        <p:nvSpPr>
          <p:cNvPr id="8" name="Shape 5"/>
          <p:cNvSpPr/>
          <p:nvPr/>
        </p:nvSpPr>
        <p:spPr>
          <a:xfrm>
            <a:off x="2331720" y="2491740"/>
            <a:ext cx="146304" cy="0"/>
          </a:xfrm>
          <a:prstGeom prst="line">
            <a:avLst/>
          </a:prstGeom>
          <a:noFill/>
          <a:ln w="16510">
            <a:solidFill>
              <a:srgbClr val="45506B"/>
            </a:solidFill>
            <a:prstDash val="solid"/>
            <a:tailEnd type="triangle"/>
          </a:ln>
        </p:spPr>
      </p:sp>
      <p:sp>
        <p:nvSpPr>
          <p:cNvPr id="9" name="Shape 6"/>
          <p:cNvSpPr/>
          <p:nvPr/>
        </p:nvSpPr>
        <p:spPr>
          <a:xfrm>
            <a:off x="2478024" y="1920240"/>
            <a:ext cx="1691640" cy="1691640"/>
          </a:xfrm>
          <a:prstGeom prst="roundRect">
            <a:avLst>
              <a:gd name="adj" fmla="val 4865"/>
            </a:avLst>
          </a:prstGeom>
          <a:solidFill>
            <a:srgbClr val="1C7293"/>
          </a:solidFill>
          <a:ln/>
        </p:spPr>
      </p:sp>
      <p:pic>
        <p:nvPicPr>
          <p:cNvPr id="10" name="Image 1" descr="/home/claude/rag_deck/icon_route_white.png">    </p:cNvPr>
          <p:cNvPicPr>
            <a:picLocks noChangeAspect="1"/>
          </p:cNvPicPr>
          <p:nvPr/>
        </p:nvPicPr>
        <p:blipFill>
          <a:blip r:embed="rId2"/>
          <a:stretch>
            <a:fillRect/>
          </a:stretch>
        </p:blipFill>
        <p:spPr>
          <a:xfrm>
            <a:off x="3168396" y="2084832"/>
            <a:ext cx="310896" cy="310896"/>
          </a:xfrm>
          <a:prstGeom prst="rect">
            <a:avLst/>
          </a:prstGeom>
        </p:spPr>
      </p:pic>
      <p:sp>
        <p:nvSpPr>
          <p:cNvPr id="11" name="Text 7"/>
          <p:cNvSpPr/>
          <p:nvPr/>
        </p:nvSpPr>
        <p:spPr>
          <a:xfrm>
            <a:off x="2551176" y="2487168"/>
            <a:ext cx="1545336"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질의 개선</a:t>
            </a:r>
            <a:endParaRPr lang="en-US" sz="1250" dirty="0"/>
          </a:p>
        </p:txBody>
      </p:sp>
      <p:sp>
        <p:nvSpPr>
          <p:cNvPr id="12" name="Shape 8"/>
          <p:cNvSpPr/>
          <p:nvPr/>
        </p:nvSpPr>
        <p:spPr>
          <a:xfrm>
            <a:off x="2587752" y="2880360"/>
            <a:ext cx="1472184" cy="566928"/>
          </a:xfrm>
          <a:prstGeom prst="roundRect">
            <a:avLst>
              <a:gd name="adj" fmla="val 48387"/>
            </a:avLst>
          </a:prstGeom>
          <a:solidFill>
            <a:srgbClr val="C98A2C"/>
          </a:solidFill>
          <a:ln/>
        </p:spPr>
      </p:sp>
      <p:sp>
        <p:nvSpPr>
          <p:cNvPr id="13" name="Text 9"/>
          <p:cNvSpPr/>
          <p:nvPr/>
        </p:nvSpPr>
        <p:spPr>
          <a:xfrm>
            <a:off x="2587752" y="2880360"/>
            <a:ext cx="1472184"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21295C"/>
                </a:solidFill>
                <a:latin typeface="Calibri" pitchFamily="34" charset="0"/>
                <a:ea typeface="Calibri" pitchFamily="34" charset="-122"/>
                <a:cs typeface="Calibri" pitchFamily="34" charset="-120"/>
              </a:rPr>
              <a:t>③ HyDE</a:t>
            </a:r>
            <a:endParaRPr lang="en-US" sz="1150" dirty="0"/>
          </a:p>
        </p:txBody>
      </p:sp>
      <p:sp>
        <p:nvSpPr>
          <p:cNvPr id="14" name="Shape 10"/>
          <p:cNvSpPr/>
          <p:nvPr/>
        </p:nvSpPr>
        <p:spPr>
          <a:xfrm>
            <a:off x="4169664" y="2491740"/>
            <a:ext cx="146304" cy="0"/>
          </a:xfrm>
          <a:prstGeom prst="line">
            <a:avLst/>
          </a:prstGeom>
          <a:noFill/>
          <a:ln w="16510">
            <a:solidFill>
              <a:srgbClr val="45506B"/>
            </a:solidFill>
            <a:prstDash val="solid"/>
            <a:tailEnd type="triangle"/>
          </a:ln>
        </p:spPr>
      </p:sp>
      <p:sp>
        <p:nvSpPr>
          <p:cNvPr id="15" name="Shape 11"/>
          <p:cNvSpPr/>
          <p:nvPr/>
        </p:nvSpPr>
        <p:spPr>
          <a:xfrm>
            <a:off x="4315968" y="1920240"/>
            <a:ext cx="1691640" cy="1691640"/>
          </a:xfrm>
          <a:prstGeom prst="roundRect">
            <a:avLst>
              <a:gd name="adj" fmla="val 4865"/>
            </a:avLst>
          </a:prstGeom>
          <a:solidFill>
            <a:srgbClr val="1C7293"/>
          </a:solidFill>
          <a:ln/>
        </p:spPr>
      </p:sp>
      <p:pic>
        <p:nvPicPr>
          <p:cNvPr id="16" name="Image 2" descr="/home/claude/rag_deck/icon_question_white.png">    </p:cNvPr>
          <p:cNvPicPr>
            <a:picLocks noChangeAspect="1"/>
          </p:cNvPicPr>
          <p:nvPr/>
        </p:nvPicPr>
        <p:blipFill>
          <a:blip r:embed="rId3"/>
          <a:stretch>
            <a:fillRect/>
          </a:stretch>
        </p:blipFill>
        <p:spPr>
          <a:xfrm>
            <a:off x="5006340" y="2084832"/>
            <a:ext cx="310896" cy="310896"/>
          </a:xfrm>
          <a:prstGeom prst="rect">
            <a:avLst/>
          </a:prstGeom>
        </p:spPr>
      </p:pic>
      <p:sp>
        <p:nvSpPr>
          <p:cNvPr id="17" name="Text 12"/>
          <p:cNvSpPr/>
          <p:nvPr/>
        </p:nvSpPr>
        <p:spPr>
          <a:xfrm>
            <a:off x="4389120" y="2487168"/>
            <a:ext cx="1545336"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검색 필요?</a:t>
            </a:r>
            <a:endParaRPr lang="en-US" sz="1250" dirty="0"/>
          </a:p>
        </p:txBody>
      </p:sp>
      <p:sp>
        <p:nvSpPr>
          <p:cNvPr id="18" name="Shape 13"/>
          <p:cNvSpPr/>
          <p:nvPr/>
        </p:nvSpPr>
        <p:spPr>
          <a:xfrm>
            <a:off x="4425696" y="2880360"/>
            <a:ext cx="1472184" cy="566928"/>
          </a:xfrm>
          <a:prstGeom prst="roundRect">
            <a:avLst>
              <a:gd name="adj" fmla="val 48387"/>
            </a:avLst>
          </a:prstGeom>
          <a:solidFill>
            <a:srgbClr val="C98A2C"/>
          </a:solidFill>
          <a:ln/>
        </p:spPr>
      </p:sp>
      <p:sp>
        <p:nvSpPr>
          <p:cNvPr id="19" name="Text 14"/>
          <p:cNvSpPr/>
          <p:nvPr/>
        </p:nvSpPr>
        <p:spPr>
          <a:xfrm>
            <a:off x="4425696" y="2880360"/>
            <a:ext cx="1472184"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21295C"/>
                </a:solidFill>
                <a:latin typeface="Calibri" pitchFamily="34" charset="0"/>
                <a:ea typeface="Calibri" pitchFamily="34" charset="-122"/>
                <a:cs typeface="Calibri" pitchFamily="34" charset="-120"/>
              </a:rPr>
              <a:t>④ Self-RAG</a:t>
            </a:r>
            <a:endParaRPr lang="en-US" sz="1150" dirty="0"/>
          </a:p>
        </p:txBody>
      </p:sp>
      <p:sp>
        <p:nvSpPr>
          <p:cNvPr id="20" name="Shape 15"/>
          <p:cNvSpPr/>
          <p:nvPr/>
        </p:nvSpPr>
        <p:spPr>
          <a:xfrm>
            <a:off x="6007608" y="2491740"/>
            <a:ext cx="146304" cy="0"/>
          </a:xfrm>
          <a:prstGeom prst="line">
            <a:avLst/>
          </a:prstGeom>
          <a:noFill/>
          <a:ln w="16510">
            <a:solidFill>
              <a:srgbClr val="45506B"/>
            </a:solidFill>
            <a:prstDash val="solid"/>
            <a:tailEnd type="triangle"/>
          </a:ln>
        </p:spPr>
      </p:sp>
      <p:sp>
        <p:nvSpPr>
          <p:cNvPr id="21" name="Shape 16"/>
          <p:cNvSpPr/>
          <p:nvPr/>
        </p:nvSpPr>
        <p:spPr>
          <a:xfrm>
            <a:off x="6153912" y="1920240"/>
            <a:ext cx="1691640" cy="1691640"/>
          </a:xfrm>
          <a:prstGeom prst="roundRect">
            <a:avLst>
              <a:gd name="adj" fmla="val 4865"/>
            </a:avLst>
          </a:prstGeom>
          <a:solidFill>
            <a:srgbClr val="21295C"/>
          </a:solidFill>
          <a:ln/>
        </p:spPr>
      </p:sp>
      <p:pic>
        <p:nvPicPr>
          <p:cNvPr id="22" name="Image 3" descr="/home/claude/rag_deck/icon_db_white.png">    </p:cNvPr>
          <p:cNvPicPr>
            <a:picLocks noChangeAspect="1"/>
          </p:cNvPicPr>
          <p:nvPr/>
        </p:nvPicPr>
        <p:blipFill>
          <a:blip r:embed="rId4"/>
          <a:stretch>
            <a:fillRect/>
          </a:stretch>
        </p:blipFill>
        <p:spPr>
          <a:xfrm>
            <a:off x="6844284" y="2084832"/>
            <a:ext cx="310896" cy="310896"/>
          </a:xfrm>
          <a:prstGeom prst="rect">
            <a:avLst/>
          </a:prstGeom>
        </p:spPr>
      </p:pic>
      <p:sp>
        <p:nvSpPr>
          <p:cNvPr id="23" name="Text 17"/>
          <p:cNvSpPr/>
          <p:nvPr/>
        </p:nvSpPr>
        <p:spPr>
          <a:xfrm>
            <a:off x="6227064" y="2487168"/>
            <a:ext cx="1545336"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벡터 검색</a:t>
            </a:r>
            <a:endParaRPr lang="en-US" sz="1250" dirty="0"/>
          </a:p>
        </p:txBody>
      </p:sp>
      <p:sp>
        <p:nvSpPr>
          <p:cNvPr id="24" name="Shape 18"/>
          <p:cNvSpPr/>
          <p:nvPr/>
        </p:nvSpPr>
        <p:spPr>
          <a:xfrm>
            <a:off x="6263640" y="2880360"/>
            <a:ext cx="1472184" cy="566928"/>
          </a:xfrm>
          <a:prstGeom prst="roundRect">
            <a:avLst>
              <a:gd name="adj" fmla="val 48387"/>
            </a:avLst>
          </a:prstGeom>
          <a:solidFill>
            <a:srgbClr val="C98A2C"/>
          </a:solidFill>
          <a:ln/>
        </p:spPr>
      </p:sp>
      <p:sp>
        <p:nvSpPr>
          <p:cNvPr id="25" name="Text 19"/>
          <p:cNvSpPr/>
          <p:nvPr/>
        </p:nvSpPr>
        <p:spPr>
          <a:xfrm>
            <a:off x="6263640" y="2880360"/>
            <a:ext cx="1472184"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21295C"/>
                </a:solidFill>
                <a:latin typeface="Calibri" pitchFamily="34" charset="0"/>
                <a:ea typeface="Calibri" pitchFamily="34" charset="-122"/>
                <a:cs typeface="Calibri" pitchFamily="34" charset="-120"/>
              </a:rPr>
              <a:t>①② 기본구조</a:t>
            </a:r>
            <a:endParaRPr lang="en-US" sz="1150" dirty="0"/>
          </a:p>
        </p:txBody>
      </p:sp>
      <p:sp>
        <p:nvSpPr>
          <p:cNvPr id="26" name="Shape 20"/>
          <p:cNvSpPr/>
          <p:nvPr/>
        </p:nvSpPr>
        <p:spPr>
          <a:xfrm>
            <a:off x="7845552" y="2491740"/>
            <a:ext cx="146304" cy="0"/>
          </a:xfrm>
          <a:prstGeom prst="line">
            <a:avLst/>
          </a:prstGeom>
          <a:noFill/>
          <a:ln w="16510">
            <a:solidFill>
              <a:srgbClr val="45506B"/>
            </a:solidFill>
            <a:prstDash val="solid"/>
            <a:tailEnd type="triangle"/>
          </a:ln>
        </p:spPr>
      </p:sp>
      <p:sp>
        <p:nvSpPr>
          <p:cNvPr id="27" name="Shape 21"/>
          <p:cNvSpPr/>
          <p:nvPr/>
        </p:nvSpPr>
        <p:spPr>
          <a:xfrm>
            <a:off x="7991856" y="1920240"/>
            <a:ext cx="1691640" cy="1691640"/>
          </a:xfrm>
          <a:prstGeom prst="roundRect">
            <a:avLst>
              <a:gd name="adj" fmla="val 4865"/>
            </a:avLst>
          </a:prstGeom>
          <a:solidFill>
            <a:srgbClr val="1C7293"/>
          </a:solidFill>
          <a:ln/>
        </p:spPr>
      </p:sp>
      <p:pic>
        <p:nvPicPr>
          <p:cNvPr id="28" name="Image 4" descr="/home/claude/rag_deck/icon_check_white.png">    </p:cNvPr>
          <p:cNvPicPr>
            <a:picLocks noChangeAspect="1"/>
          </p:cNvPicPr>
          <p:nvPr/>
        </p:nvPicPr>
        <p:blipFill>
          <a:blip r:embed="rId5"/>
          <a:stretch>
            <a:fillRect/>
          </a:stretch>
        </p:blipFill>
        <p:spPr>
          <a:xfrm>
            <a:off x="8682228" y="2084832"/>
            <a:ext cx="310896" cy="310896"/>
          </a:xfrm>
          <a:prstGeom prst="rect">
            <a:avLst/>
          </a:prstGeom>
        </p:spPr>
      </p:pic>
      <p:sp>
        <p:nvSpPr>
          <p:cNvPr id="29" name="Text 22"/>
          <p:cNvSpPr/>
          <p:nvPr/>
        </p:nvSpPr>
        <p:spPr>
          <a:xfrm>
            <a:off x="8065008" y="2487168"/>
            <a:ext cx="1545336"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결과 검증</a:t>
            </a:r>
            <a:endParaRPr lang="en-US" sz="1250" dirty="0"/>
          </a:p>
        </p:txBody>
      </p:sp>
      <p:sp>
        <p:nvSpPr>
          <p:cNvPr id="30" name="Shape 23"/>
          <p:cNvSpPr/>
          <p:nvPr/>
        </p:nvSpPr>
        <p:spPr>
          <a:xfrm>
            <a:off x="8101584" y="2880360"/>
            <a:ext cx="1472184" cy="566928"/>
          </a:xfrm>
          <a:prstGeom prst="roundRect">
            <a:avLst>
              <a:gd name="adj" fmla="val 48387"/>
            </a:avLst>
          </a:prstGeom>
          <a:solidFill>
            <a:srgbClr val="C98A2C"/>
          </a:solidFill>
          <a:ln/>
        </p:spPr>
      </p:sp>
      <p:sp>
        <p:nvSpPr>
          <p:cNvPr id="31" name="Text 24"/>
          <p:cNvSpPr/>
          <p:nvPr/>
        </p:nvSpPr>
        <p:spPr>
          <a:xfrm>
            <a:off x="8101584" y="2880360"/>
            <a:ext cx="1472184"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21295C"/>
                </a:solidFill>
                <a:latin typeface="Calibri" pitchFamily="34" charset="0"/>
                <a:ea typeface="Calibri" pitchFamily="34" charset="-122"/>
                <a:cs typeface="Calibri" pitchFamily="34" charset="-120"/>
              </a:rPr>
              <a:t>⑤ CRAG</a:t>
            </a:r>
            <a:endParaRPr lang="en-US" sz="1150" dirty="0"/>
          </a:p>
        </p:txBody>
      </p:sp>
      <p:sp>
        <p:nvSpPr>
          <p:cNvPr id="32" name="Shape 25"/>
          <p:cNvSpPr/>
          <p:nvPr/>
        </p:nvSpPr>
        <p:spPr>
          <a:xfrm>
            <a:off x="9683496" y="2491740"/>
            <a:ext cx="146304" cy="0"/>
          </a:xfrm>
          <a:prstGeom prst="line">
            <a:avLst/>
          </a:prstGeom>
          <a:noFill/>
          <a:ln w="16510">
            <a:solidFill>
              <a:srgbClr val="45506B"/>
            </a:solidFill>
            <a:prstDash val="solid"/>
            <a:tailEnd type="triangle"/>
          </a:ln>
        </p:spPr>
      </p:sp>
      <p:sp>
        <p:nvSpPr>
          <p:cNvPr id="33" name="Shape 26"/>
          <p:cNvSpPr/>
          <p:nvPr/>
        </p:nvSpPr>
        <p:spPr>
          <a:xfrm>
            <a:off x="9829800" y="1920240"/>
            <a:ext cx="1691640" cy="1691640"/>
          </a:xfrm>
          <a:prstGeom prst="roundRect">
            <a:avLst>
              <a:gd name="adj" fmla="val 4865"/>
            </a:avLst>
          </a:prstGeom>
          <a:solidFill>
            <a:srgbClr val="21295C"/>
          </a:solidFill>
          <a:ln/>
        </p:spPr>
      </p:sp>
      <p:pic>
        <p:nvPicPr>
          <p:cNvPr id="34" name="Image 5" descr="/home/claude/rag_deck/icon_robot_white.png">    </p:cNvPr>
          <p:cNvPicPr>
            <a:picLocks noChangeAspect="1"/>
          </p:cNvPicPr>
          <p:nvPr/>
        </p:nvPicPr>
        <p:blipFill>
          <a:blip r:embed="rId6"/>
          <a:stretch>
            <a:fillRect/>
          </a:stretch>
        </p:blipFill>
        <p:spPr>
          <a:xfrm>
            <a:off x="10520172" y="2084832"/>
            <a:ext cx="310896" cy="310896"/>
          </a:xfrm>
          <a:prstGeom prst="rect">
            <a:avLst/>
          </a:prstGeom>
        </p:spPr>
      </p:pic>
      <p:sp>
        <p:nvSpPr>
          <p:cNvPr id="35" name="Text 27"/>
          <p:cNvSpPr/>
          <p:nvPr/>
        </p:nvSpPr>
        <p:spPr>
          <a:xfrm>
            <a:off x="9902952" y="2487168"/>
            <a:ext cx="1545336"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답변 생성</a:t>
            </a:r>
            <a:endParaRPr lang="en-US" sz="1250" dirty="0"/>
          </a:p>
        </p:txBody>
      </p:sp>
      <p:sp>
        <p:nvSpPr>
          <p:cNvPr id="36" name="Shape 28"/>
          <p:cNvSpPr/>
          <p:nvPr/>
        </p:nvSpPr>
        <p:spPr>
          <a:xfrm>
            <a:off x="9939528" y="2880360"/>
            <a:ext cx="1472184" cy="566928"/>
          </a:xfrm>
          <a:prstGeom prst="roundRect">
            <a:avLst>
              <a:gd name="adj" fmla="val 48387"/>
            </a:avLst>
          </a:prstGeom>
          <a:solidFill>
            <a:srgbClr val="C98A2C"/>
          </a:solidFill>
          <a:ln/>
        </p:spPr>
      </p:sp>
      <p:sp>
        <p:nvSpPr>
          <p:cNvPr id="37" name="Text 29"/>
          <p:cNvSpPr/>
          <p:nvPr/>
        </p:nvSpPr>
        <p:spPr>
          <a:xfrm>
            <a:off x="9939528" y="2880360"/>
            <a:ext cx="1472184"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21295C"/>
                </a:solidFill>
                <a:latin typeface="Calibri" pitchFamily="34" charset="0"/>
                <a:ea typeface="Calibri" pitchFamily="34" charset="-122"/>
                <a:cs typeface="Calibri" pitchFamily="34" charset="-120"/>
              </a:rPr>
              <a:t>①② 기본구조</a:t>
            </a:r>
            <a:endParaRPr lang="en-US" sz="1150" dirty="0"/>
          </a:p>
        </p:txBody>
      </p:sp>
      <p:sp>
        <p:nvSpPr>
          <p:cNvPr id="38" name="Text 30"/>
          <p:cNvSpPr/>
          <p:nvPr/>
        </p:nvSpPr>
        <p:spPr>
          <a:xfrm>
            <a:off x="640080" y="3886200"/>
            <a:ext cx="10881360" cy="365760"/>
          </a:xfrm>
          <a:prstGeom prst="rect">
            <a:avLst/>
          </a:prstGeom>
          <a:noFill/>
          <a:ln/>
        </p:spPr>
        <p:txBody>
          <a:bodyPr wrap="square" lIns="0" tIns="0" rIns="0" bIns="0" rtlCol="0" anchor="ctr"/>
          <a:lstStyle/>
          <a:p>
            <a:pPr indent="0" marL="0">
              <a:buNone/>
            </a:pPr>
            <a:r>
              <a:rPr lang="en-US" sz="1250" dirty="0">
                <a:solidFill>
                  <a:srgbClr val="45506B"/>
                </a:solidFill>
                <a:latin typeface="Calibri" pitchFamily="34" charset="0"/>
                <a:ea typeface="Calibri" pitchFamily="34" charset="-122"/>
                <a:cs typeface="Calibri" pitchFamily="34" charset="-120"/>
              </a:rPr>
              <a:t>⑥ RAPTOR는 벡터 검색 단계 “아래”에서 인덱스 구조 자체를 계층화한다 (별도 표시하지 않은 이유는 특정 단계가 아닌 인덱스 전체의 구조이기 때문)</a:t>
            </a:r>
            <a:endParaRPr lang="en-US" sz="1250" dirty="0"/>
          </a:p>
        </p:txBody>
      </p:sp>
      <p:sp>
        <p:nvSpPr>
          <p:cNvPr id="39" name="Shape 31"/>
          <p:cNvSpPr/>
          <p:nvPr/>
        </p:nvSpPr>
        <p:spPr>
          <a:xfrm>
            <a:off x="640080" y="4434840"/>
            <a:ext cx="10881360" cy="1691640"/>
          </a:xfrm>
          <a:prstGeom prst="roundRect">
            <a:avLst>
              <a:gd name="adj" fmla="val 5405"/>
            </a:avLst>
          </a:prstGeom>
          <a:solidFill>
            <a:srgbClr val="F4F7FA"/>
          </a:solidFill>
          <a:ln/>
        </p:spPr>
      </p:sp>
      <p:sp>
        <p:nvSpPr>
          <p:cNvPr id="40" name="Text 32"/>
          <p:cNvSpPr/>
          <p:nvPr/>
        </p:nvSpPr>
        <p:spPr>
          <a:xfrm>
            <a:off x="868680" y="4572000"/>
            <a:ext cx="7315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8주 프로젝트에서 실제로 구현하는 범위</a:t>
            </a:r>
            <a:endParaRPr lang="en-US" sz="1400" dirty="0"/>
          </a:p>
        </p:txBody>
      </p:sp>
      <p:sp>
        <p:nvSpPr>
          <p:cNvPr id="41" name="Text 33"/>
          <p:cNvSpPr/>
          <p:nvPr/>
        </p:nvSpPr>
        <p:spPr>
          <a:xfrm>
            <a:off x="868680" y="4956048"/>
            <a:ext cx="3017520" cy="292608"/>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①② 기본 파이프라인</a:t>
            </a:r>
            <a:endParaRPr lang="en-US" sz="1300" dirty="0"/>
          </a:p>
        </p:txBody>
      </p:sp>
      <p:sp>
        <p:nvSpPr>
          <p:cNvPr id="42" name="Text 34"/>
          <p:cNvSpPr/>
          <p:nvPr/>
        </p:nvSpPr>
        <p:spPr>
          <a:xfrm>
            <a:off x="3931920" y="4956048"/>
            <a:ext cx="7406640" cy="292608"/>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그대로 구현 (검색·생성 핵심 구조)</a:t>
            </a:r>
            <a:endParaRPr lang="en-US" sz="1250" dirty="0"/>
          </a:p>
        </p:txBody>
      </p:sp>
      <p:sp>
        <p:nvSpPr>
          <p:cNvPr id="43" name="Text 35"/>
          <p:cNvSpPr/>
          <p:nvPr/>
        </p:nvSpPr>
        <p:spPr>
          <a:xfrm>
            <a:off x="868680" y="5285232"/>
            <a:ext cx="3017520" cy="292608"/>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③ HyDE</a:t>
            </a:r>
            <a:endParaRPr lang="en-US" sz="1300" dirty="0"/>
          </a:p>
        </p:txBody>
      </p:sp>
      <p:sp>
        <p:nvSpPr>
          <p:cNvPr id="44" name="Text 36"/>
          <p:cNvSpPr/>
          <p:nvPr/>
        </p:nvSpPr>
        <p:spPr>
          <a:xfrm>
            <a:off x="3931920" y="5285232"/>
            <a:ext cx="7406640" cy="292608"/>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5주차 직접 구현 + 비교 실험</a:t>
            </a:r>
            <a:endParaRPr lang="en-US" sz="1250" dirty="0"/>
          </a:p>
        </p:txBody>
      </p:sp>
      <p:sp>
        <p:nvSpPr>
          <p:cNvPr id="45" name="Text 37"/>
          <p:cNvSpPr/>
          <p:nvPr/>
        </p:nvSpPr>
        <p:spPr>
          <a:xfrm>
            <a:off x="868680" y="5614416"/>
            <a:ext cx="3017520" cy="292608"/>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④⑤ Self-RAG · CRAG</a:t>
            </a:r>
            <a:endParaRPr lang="en-US" sz="1300" dirty="0"/>
          </a:p>
        </p:txBody>
      </p:sp>
      <p:sp>
        <p:nvSpPr>
          <p:cNvPr id="46" name="Text 38"/>
          <p:cNvSpPr/>
          <p:nvPr/>
        </p:nvSpPr>
        <p:spPr>
          <a:xfrm>
            <a:off x="3931920" y="5614416"/>
            <a:ext cx="7406640" cy="292608"/>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전체 학습 대신, 프롬프트 레벨로 개념만 단순화 적용</a:t>
            </a:r>
            <a:endParaRPr lang="en-US" sz="1250" dirty="0"/>
          </a:p>
        </p:txBody>
      </p:sp>
      <p:sp>
        <p:nvSpPr>
          <p:cNvPr id="47" name="Text 39"/>
          <p:cNvSpPr/>
          <p:nvPr/>
        </p:nvSpPr>
        <p:spPr>
          <a:xfrm>
            <a:off x="868680" y="5943600"/>
            <a:ext cx="3017520" cy="292608"/>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⑥ RAPTOR</a:t>
            </a:r>
            <a:endParaRPr lang="en-US" sz="1300" dirty="0"/>
          </a:p>
        </p:txBody>
      </p:sp>
      <p:sp>
        <p:nvSpPr>
          <p:cNvPr id="48" name="Text 40"/>
          <p:cNvSpPr/>
          <p:nvPr/>
        </p:nvSpPr>
        <p:spPr>
          <a:xfrm>
            <a:off x="3931920" y="5943600"/>
            <a:ext cx="7406640" cy="292608"/>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학년별 요약본 수동 작성으로 개념만 부분 차용</a:t>
            </a:r>
            <a:endParaRPr lang="en-US" sz="1250" dirty="0"/>
          </a:p>
        </p:txBody>
      </p:sp>
      <p:sp>
        <p:nvSpPr>
          <p:cNvPr id="49" name="Text 41"/>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DATA PREPARATION</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데이터 준비 — 가장 먼저, 가장 중요하게</a:t>
            </a:r>
            <a:endParaRPr lang="en-US" sz="2700" dirty="0"/>
          </a:p>
        </p:txBody>
      </p:sp>
      <p:sp>
        <p:nvSpPr>
          <p:cNvPr id="4" name="Text 2"/>
          <p:cNvSpPr/>
          <p:nvPr/>
        </p:nvSpPr>
        <p:spPr>
          <a:xfrm>
            <a:off x="640080" y="1298448"/>
            <a:ext cx="10515600" cy="365760"/>
          </a:xfrm>
          <a:prstGeom prst="rect">
            <a:avLst/>
          </a:prstGeom>
          <a:noFill/>
          <a:ln/>
        </p:spPr>
        <p:txBody>
          <a:bodyPr wrap="square" lIns="0" tIns="0" rIns="0" bIns="0" rtlCol="0" anchor="ctr"/>
          <a:lstStyle/>
          <a:p>
            <a:pPr indent="0" marL="0">
              <a:buNone/>
            </a:pPr>
            <a:r>
              <a:rPr lang="en-US" sz="1400" dirty="0">
                <a:solidFill>
                  <a:srgbClr val="45506B"/>
                </a:solidFill>
                <a:latin typeface="Calibri" pitchFamily="34" charset="0"/>
                <a:ea typeface="Calibri" pitchFamily="34" charset="-122"/>
                <a:cs typeface="Calibri" pitchFamily="34" charset="-120"/>
              </a:rPr>
              <a:t>논문들이 공통으로 강조하는 것: 검색·생성 알고리즘보다 데이터 품질이 우선이다</a:t>
            </a:r>
            <a:endParaRPr lang="en-US" sz="1400" dirty="0"/>
          </a:p>
        </p:txBody>
      </p:sp>
      <p:sp>
        <p:nvSpPr>
          <p:cNvPr id="5" name="Text 3"/>
          <p:cNvSpPr/>
          <p:nvPr/>
        </p:nvSpPr>
        <p:spPr>
          <a:xfrm>
            <a:off x="640080" y="1828800"/>
            <a:ext cx="5029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문서 유형별 청킹 단위</a:t>
            </a:r>
            <a:endParaRPr lang="en-US" sz="1400" dirty="0"/>
          </a:p>
        </p:txBody>
      </p:sp>
      <p:sp>
        <p:nvSpPr>
          <p:cNvPr id="6" name="Shape 4"/>
          <p:cNvSpPr/>
          <p:nvPr/>
        </p:nvSpPr>
        <p:spPr>
          <a:xfrm>
            <a:off x="640080" y="2194560"/>
            <a:ext cx="5120640" cy="365760"/>
          </a:xfrm>
          <a:prstGeom prst="rect">
            <a:avLst/>
          </a:prstGeom>
          <a:solidFill>
            <a:srgbClr val="F4F7FA"/>
          </a:solidFill>
          <a:ln w="6350">
            <a:solidFill>
              <a:srgbClr val="E1E8ED"/>
            </a:solidFill>
            <a:prstDash val="solid"/>
          </a:ln>
        </p:spPr>
      </p:sp>
      <p:sp>
        <p:nvSpPr>
          <p:cNvPr id="7" name="Text 5"/>
          <p:cNvSpPr/>
          <p:nvPr/>
        </p:nvSpPr>
        <p:spPr>
          <a:xfrm>
            <a:off x="777240" y="2194560"/>
            <a:ext cx="4846320" cy="365760"/>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 학과 소개 → 문단 단위</a:t>
            </a:r>
            <a:endParaRPr lang="en-US" sz="1250" dirty="0"/>
          </a:p>
        </p:txBody>
      </p:sp>
      <p:sp>
        <p:nvSpPr>
          <p:cNvPr id="8" name="Shape 6"/>
          <p:cNvSpPr/>
          <p:nvPr/>
        </p:nvSpPr>
        <p:spPr>
          <a:xfrm>
            <a:off x="640080" y="2596896"/>
            <a:ext cx="5120640" cy="365760"/>
          </a:xfrm>
          <a:prstGeom prst="rect">
            <a:avLst/>
          </a:prstGeom>
          <a:solidFill>
            <a:srgbClr val="F4F7FA"/>
          </a:solidFill>
          <a:ln w="6350">
            <a:solidFill>
              <a:srgbClr val="E1E8ED"/>
            </a:solidFill>
            <a:prstDash val="solid"/>
          </a:ln>
        </p:spPr>
      </p:sp>
      <p:sp>
        <p:nvSpPr>
          <p:cNvPr id="9" name="Text 7"/>
          <p:cNvSpPr/>
          <p:nvPr/>
        </p:nvSpPr>
        <p:spPr>
          <a:xfrm>
            <a:off x="777240" y="2596896"/>
            <a:ext cx="4846320" cy="365760"/>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 교육과정표 → 학년/학기/과목군 단위</a:t>
            </a:r>
            <a:endParaRPr lang="en-US" sz="1250" dirty="0"/>
          </a:p>
        </p:txBody>
      </p:sp>
      <p:sp>
        <p:nvSpPr>
          <p:cNvPr id="10" name="Shape 8"/>
          <p:cNvSpPr/>
          <p:nvPr/>
        </p:nvSpPr>
        <p:spPr>
          <a:xfrm>
            <a:off x="640080" y="2999232"/>
            <a:ext cx="5120640" cy="365760"/>
          </a:xfrm>
          <a:prstGeom prst="rect">
            <a:avLst/>
          </a:prstGeom>
          <a:solidFill>
            <a:srgbClr val="F4F7FA"/>
          </a:solidFill>
          <a:ln w="6350">
            <a:solidFill>
              <a:srgbClr val="E1E8ED"/>
            </a:solidFill>
            <a:prstDash val="solid"/>
          </a:ln>
        </p:spPr>
      </p:sp>
      <p:sp>
        <p:nvSpPr>
          <p:cNvPr id="11" name="Text 9"/>
          <p:cNvSpPr/>
          <p:nvPr/>
        </p:nvSpPr>
        <p:spPr>
          <a:xfrm>
            <a:off x="777240" y="2999232"/>
            <a:ext cx="4846320" cy="365760"/>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 졸업요건 → 조건/항목 단위</a:t>
            </a:r>
            <a:endParaRPr lang="en-US" sz="1250" dirty="0"/>
          </a:p>
        </p:txBody>
      </p:sp>
      <p:sp>
        <p:nvSpPr>
          <p:cNvPr id="12" name="Shape 10"/>
          <p:cNvSpPr/>
          <p:nvPr/>
        </p:nvSpPr>
        <p:spPr>
          <a:xfrm>
            <a:off x="640080" y="3401568"/>
            <a:ext cx="5120640" cy="365760"/>
          </a:xfrm>
          <a:prstGeom prst="rect">
            <a:avLst/>
          </a:prstGeom>
          <a:solidFill>
            <a:srgbClr val="F4F7FA"/>
          </a:solidFill>
          <a:ln w="6350">
            <a:solidFill>
              <a:srgbClr val="E1E8ED"/>
            </a:solidFill>
            <a:prstDash val="solid"/>
          </a:ln>
        </p:spPr>
      </p:sp>
      <p:sp>
        <p:nvSpPr>
          <p:cNvPr id="13" name="Text 11"/>
          <p:cNvSpPr/>
          <p:nvPr/>
        </p:nvSpPr>
        <p:spPr>
          <a:xfrm>
            <a:off x="777240" y="3401568"/>
            <a:ext cx="4846320" cy="365760"/>
          </a:xfrm>
          <a:prstGeom prst="rect">
            <a:avLst/>
          </a:prstGeom>
          <a:noFill/>
          <a:ln/>
        </p:spPr>
        <p:txBody>
          <a:bodyPr wrap="square" lIns="0" tIns="0" rIns="0" bIns="0" rtlCol="0" anchor="ctr"/>
          <a:lstStyle/>
          <a:p>
            <a:pPr indent="0" marL="0">
              <a:buNone/>
            </a:pPr>
            <a:r>
              <a:rPr lang="en-US" sz="1250" dirty="0">
                <a:solidFill>
                  <a:srgbClr val="18213D"/>
                </a:solidFill>
                <a:latin typeface="Calibri" pitchFamily="34" charset="0"/>
                <a:ea typeface="Calibri" pitchFamily="34" charset="-122"/>
                <a:cs typeface="Calibri" pitchFamily="34" charset="-120"/>
              </a:rPr>
              <a:t>· FAQ → 질문-답변 한 쌍 단위</a:t>
            </a:r>
            <a:endParaRPr lang="en-US" sz="1250" dirty="0"/>
          </a:p>
        </p:txBody>
      </p:sp>
      <p:sp>
        <p:nvSpPr>
          <p:cNvPr id="14" name="Text 12"/>
          <p:cNvSpPr/>
          <p:nvPr/>
        </p:nvSpPr>
        <p:spPr>
          <a:xfrm>
            <a:off x="6080760" y="1828800"/>
            <a:ext cx="5029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메타데이터 체크리스트</a:t>
            </a:r>
            <a:endParaRPr lang="en-US" sz="1400" dirty="0"/>
          </a:p>
        </p:txBody>
      </p:sp>
      <p:sp>
        <p:nvSpPr>
          <p:cNvPr id="15" name="Shape 13"/>
          <p:cNvSpPr/>
          <p:nvPr/>
        </p:nvSpPr>
        <p:spPr>
          <a:xfrm>
            <a:off x="6080760" y="2194560"/>
            <a:ext cx="5440680" cy="1609344"/>
          </a:xfrm>
          <a:prstGeom prst="roundRect">
            <a:avLst>
              <a:gd name="adj" fmla="val 4545"/>
            </a:avLst>
          </a:prstGeom>
          <a:solidFill>
            <a:srgbClr val="2B2B3A"/>
          </a:solidFill>
          <a:ln/>
        </p:spPr>
      </p:sp>
      <p:sp>
        <p:nvSpPr>
          <p:cNvPr id="16" name="Text 14"/>
          <p:cNvSpPr/>
          <p:nvPr/>
        </p:nvSpPr>
        <p:spPr>
          <a:xfrm>
            <a:off x="6263640" y="2304288"/>
            <a:ext cx="5120640" cy="237744"/>
          </a:xfrm>
          <a:prstGeom prst="rect">
            <a:avLst/>
          </a:prstGeom>
          <a:noFill/>
          <a:ln/>
        </p:spPr>
        <p:txBody>
          <a:bodyPr wrap="square" lIns="0" tIns="0" rIns="0" bIns="0" rtlCol="0" anchor="ctr"/>
          <a:lstStyle/>
          <a:p>
            <a:pPr indent="0" marL="0">
              <a:buNone/>
            </a:pPr>
            <a:r>
              <a:rPr lang="en-US" sz="1200" dirty="0">
                <a:solidFill>
                  <a:srgbClr val="E8E8F0"/>
                </a:solidFill>
                <a:latin typeface="Consolas" pitchFamily="34" charset="0"/>
                <a:ea typeface="Consolas" pitchFamily="34" charset="-122"/>
                <a:cs typeface="Consolas" pitchFamily="34" charset="-120"/>
              </a:rPr>
              <a:t>{ "department": "컴퓨터공학과",</a:t>
            </a:r>
            <a:endParaRPr lang="en-US" sz="1200" dirty="0"/>
          </a:p>
        </p:txBody>
      </p:sp>
      <p:sp>
        <p:nvSpPr>
          <p:cNvPr id="17" name="Text 15"/>
          <p:cNvSpPr/>
          <p:nvPr/>
        </p:nvSpPr>
        <p:spPr>
          <a:xfrm>
            <a:off x="6263640" y="2551176"/>
            <a:ext cx="5120640" cy="237744"/>
          </a:xfrm>
          <a:prstGeom prst="rect">
            <a:avLst/>
          </a:prstGeom>
          <a:noFill/>
          <a:ln/>
        </p:spPr>
        <p:txBody>
          <a:bodyPr wrap="square" lIns="0" tIns="0" rIns="0" bIns="0" rtlCol="0" anchor="ctr"/>
          <a:lstStyle/>
          <a:p>
            <a:pPr indent="0" marL="0">
              <a:buNone/>
            </a:pPr>
            <a:r>
              <a:rPr lang="en-US" sz="1200" dirty="0">
                <a:solidFill>
                  <a:srgbClr val="E8E8F0"/>
                </a:solidFill>
                <a:latin typeface="Consolas" pitchFamily="34" charset="0"/>
                <a:ea typeface="Consolas" pitchFamily="34" charset="-122"/>
                <a:cs typeface="Consolas" pitchFamily="34" charset="-120"/>
              </a:rPr>
              <a:t>  "year": "2025", "grade": "2학년",</a:t>
            </a:r>
            <a:endParaRPr lang="en-US" sz="1200" dirty="0"/>
          </a:p>
        </p:txBody>
      </p:sp>
      <p:sp>
        <p:nvSpPr>
          <p:cNvPr id="18" name="Text 16"/>
          <p:cNvSpPr/>
          <p:nvPr/>
        </p:nvSpPr>
        <p:spPr>
          <a:xfrm>
            <a:off x="6263640" y="2798064"/>
            <a:ext cx="5120640" cy="237744"/>
          </a:xfrm>
          <a:prstGeom prst="rect">
            <a:avLst/>
          </a:prstGeom>
          <a:noFill/>
          <a:ln/>
        </p:spPr>
        <p:txBody>
          <a:bodyPr wrap="square" lIns="0" tIns="0" rIns="0" bIns="0" rtlCol="0" anchor="ctr"/>
          <a:lstStyle/>
          <a:p>
            <a:pPr indent="0" marL="0">
              <a:buNone/>
            </a:pPr>
            <a:r>
              <a:rPr lang="en-US" sz="1200" dirty="0">
                <a:solidFill>
                  <a:srgbClr val="E8E8F0"/>
                </a:solidFill>
                <a:latin typeface="Consolas" pitchFamily="34" charset="0"/>
                <a:ea typeface="Consolas" pitchFamily="34" charset="-122"/>
                <a:cs typeface="Consolas" pitchFamily="34" charset="-120"/>
              </a:rPr>
              <a:t>  "source_type": "교육과정",</a:t>
            </a:r>
            <a:endParaRPr lang="en-US" sz="1200" dirty="0"/>
          </a:p>
        </p:txBody>
      </p:sp>
      <p:sp>
        <p:nvSpPr>
          <p:cNvPr id="19" name="Text 17"/>
          <p:cNvSpPr/>
          <p:nvPr/>
        </p:nvSpPr>
        <p:spPr>
          <a:xfrm>
            <a:off x="6263640" y="3044952"/>
            <a:ext cx="5120640" cy="237744"/>
          </a:xfrm>
          <a:prstGeom prst="rect">
            <a:avLst/>
          </a:prstGeom>
          <a:noFill/>
          <a:ln/>
        </p:spPr>
        <p:txBody>
          <a:bodyPr wrap="square" lIns="0" tIns="0" rIns="0" bIns="0" rtlCol="0" anchor="ctr"/>
          <a:lstStyle/>
          <a:p>
            <a:pPr indent="0" marL="0">
              <a:buNone/>
            </a:pPr>
            <a:r>
              <a:rPr lang="en-US" sz="1200" dirty="0">
                <a:solidFill>
                  <a:srgbClr val="E8E8F0"/>
                </a:solidFill>
                <a:latin typeface="Consolas" pitchFamily="34" charset="0"/>
                <a:ea typeface="Consolas" pitchFamily="34" charset="-122"/>
                <a:cs typeface="Consolas" pitchFamily="34" charset="-120"/>
              </a:rPr>
              <a:t>  "source": "2025_교육과정.pdf",</a:t>
            </a:r>
            <a:endParaRPr lang="en-US" sz="1200" dirty="0"/>
          </a:p>
        </p:txBody>
      </p:sp>
      <p:sp>
        <p:nvSpPr>
          <p:cNvPr id="20" name="Text 18"/>
          <p:cNvSpPr/>
          <p:nvPr/>
        </p:nvSpPr>
        <p:spPr>
          <a:xfrm>
            <a:off x="6263640" y="3291840"/>
            <a:ext cx="5120640" cy="237744"/>
          </a:xfrm>
          <a:prstGeom prst="rect">
            <a:avLst/>
          </a:prstGeom>
          <a:noFill/>
          <a:ln/>
        </p:spPr>
        <p:txBody>
          <a:bodyPr wrap="square" lIns="0" tIns="0" rIns="0" bIns="0" rtlCol="0" anchor="ctr"/>
          <a:lstStyle/>
          <a:p>
            <a:pPr indent="0" marL="0">
              <a:buNone/>
            </a:pPr>
            <a:r>
              <a:rPr lang="en-US" sz="1200" dirty="0">
                <a:solidFill>
                  <a:srgbClr val="E8E8F0"/>
                </a:solidFill>
                <a:latin typeface="Consolas" pitchFamily="34" charset="0"/>
                <a:ea typeface="Consolas" pitchFamily="34" charset="-122"/>
                <a:cs typeface="Consolas" pitchFamily="34" charset="-120"/>
              </a:rPr>
              <a:t>  "updated_at": "2025-03-01" }</a:t>
            </a:r>
            <a:endParaRPr lang="en-US" sz="1200" dirty="0"/>
          </a:p>
        </p:txBody>
      </p:sp>
      <p:sp>
        <p:nvSpPr>
          <p:cNvPr id="21" name="Shape 19"/>
          <p:cNvSpPr/>
          <p:nvPr/>
        </p:nvSpPr>
        <p:spPr>
          <a:xfrm>
            <a:off x="640080" y="3977640"/>
            <a:ext cx="10881360" cy="1417320"/>
          </a:xfrm>
          <a:prstGeom prst="roundRect">
            <a:avLst>
              <a:gd name="adj" fmla="val 6452"/>
            </a:avLst>
          </a:prstGeom>
          <a:solidFill>
            <a:srgbClr val="FBEAEA"/>
          </a:solidFill>
          <a:ln/>
        </p:spPr>
      </p:sp>
      <p:pic>
        <p:nvPicPr>
          <p:cNvPr id="22" name="Image 0" descr="/home/claude/rag_deck/icon_trash_navy.png">    </p:cNvPr>
          <p:cNvPicPr>
            <a:picLocks noChangeAspect="1"/>
          </p:cNvPicPr>
          <p:nvPr/>
        </p:nvPicPr>
        <p:blipFill>
          <a:blip r:embed="rId1"/>
          <a:stretch>
            <a:fillRect/>
          </a:stretch>
        </p:blipFill>
        <p:spPr>
          <a:xfrm>
            <a:off x="868680" y="4142232"/>
            <a:ext cx="365760" cy="365760"/>
          </a:xfrm>
          <a:prstGeom prst="rect">
            <a:avLst/>
          </a:prstGeom>
        </p:spPr>
      </p:pic>
      <p:sp>
        <p:nvSpPr>
          <p:cNvPr id="23" name="Text 20"/>
          <p:cNvSpPr/>
          <p:nvPr/>
        </p:nvSpPr>
        <p:spPr>
          <a:xfrm>
            <a:off x="1371600" y="4114800"/>
            <a:ext cx="7315200" cy="274320"/>
          </a:xfrm>
          <a:prstGeom prst="rect">
            <a:avLst/>
          </a:prstGeom>
          <a:noFill/>
          <a:ln/>
        </p:spPr>
        <p:txBody>
          <a:bodyPr wrap="square" lIns="0" tIns="0" rIns="0" bIns="0" rtlCol="0" anchor="ctr"/>
          <a:lstStyle/>
          <a:p>
            <a:pPr indent="0" marL="0">
              <a:buNone/>
            </a:pPr>
            <a:r>
              <a:rPr lang="en-US" sz="1400" b="1" dirty="0">
                <a:solidFill>
                  <a:srgbClr val="B23A3A"/>
                </a:solidFill>
                <a:latin typeface="Cambria" pitchFamily="34" charset="0"/>
                <a:ea typeface="Cambria" pitchFamily="34" charset="-122"/>
                <a:cs typeface="Cambria" pitchFamily="34" charset="-120"/>
              </a:rPr>
              <a:t>실제로 이런 일이 생길 수 있다</a:t>
            </a:r>
            <a:endParaRPr lang="en-US" sz="1400" dirty="0"/>
          </a:p>
        </p:txBody>
      </p:sp>
      <p:sp>
        <p:nvSpPr>
          <p:cNvPr id="24" name="Text 21"/>
          <p:cNvSpPr/>
          <p:nvPr/>
        </p:nvSpPr>
        <p:spPr>
          <a:xfrm>
            <a:off x="1371600" y="4434840"/>
            <a:ext cx="9966960" cy="868680"/>
          </a:xfrm>
          <a:prstGeom prst="rect">
            <a:avLst/>
          </a:prstGeom>
          <a:noFill/>
          <a:ln/>
        </p:spPr>
        <p:txBody>
          <a:bodyPr wrap="square" lIns="0" tIns="0" rIns="0" bIns="0" rtlCol="0" anchor="ctr"/>
          <a:lstStyle/>
          <a:p>
            <a:pPr indent="0" marL="0">
              <a:lnSpc>
                <a:spcPct val="130000"/>
              </a:lnSpc>
              <a:buNone/>
            </a:pPr>
            <a:r>
              <a:rPr lang="en-US" sz="1300" dirty="0">
                <a:solidFill>
                  <a:srgbClr val="6B2020"/>
                </a:solidFill>
                <a:latin typeface="Calibri" pitchFamily="34" charset="0"/>
                <a:ea typeface="Calibri" pitchFamily="34" charset="-122"/>
                <a:cs typeface="Calibri" pitchFamily="34" charset="-120"/>
              </a:rPr>
              <a:t>2024 교육과정 PDF를 삭제해도, 벡터DB에는 2024년 chunk가 그대로 남아있어 챗봇이 계속 옛날 기준으로 답할 수 있다. 원본 문서가 벡터로 바뀌어 저장되면, 어떤 원본이 답변에 영향을 줬는지 추적하기 어려워지기 때문이다.</a:t>
            </a:r>
            <a:endParaRPr lang="en-US" sz="1300" dirty="0"/>
          </a:p>
        </p:txBody>
      </p:sp>
      <p:sp>
        <p:nvSpPr>
          <p:cNvPr id="25" name="Shape 22"/>
          <p:cNvSpPr/>
          <p:nvPr/>
        </p:nvSpPr>
        <p:spPr>
          <a:xfrm>
            <a:off x="640080" y="5577840"/>
            <a:ext cx="10881360" cy="868680"/>
          </a:xfrm>
          <a:prstGeom prst="roundRect">
            <a:avLst>
              <a:gd name="adj" fmla="val 8421"/>
            </a:avLst>
          </a:prstGeom>
          <a:solidFill>
            <a:srgbClr val="F4F7FA"/>
          </a:solidFill>
          <a:ln/>
        </p:spPr>
      </p:sp>
      <p:sp>
        <p:nvSpPr>
          <p:cNvPr id="26" name="Text 23"/>
          <p:cNvSpPr/>
          <p:nvPr/>
        </p:nvSpPr>
        <p:spPr>
          <a:xfrm>
            <a:off x="868680" y="5577840"/>
            <a:ext cx="10424160" cy="868680"/>
          </a:xfrm>
          <a:prstGeom prst="rect">
            <a:avLst/>
          </a:prstGeom>
          <a:noFill/>
          <a:ln/>
        </p:spPr>
        <p:txBody>
          <a:bodyPr wrap="square" lIns="0" tIns="0" rIns="0" bIns="0" rtlCol="0" anchor="ctr"/>
          <a:lstStyle/>
          <a:p>
            <a:pPr indent="0" marL="0">
              <a:lnSpc>
                <a:spcPct val="130000"/>
              </a:lnSpc>
              <a:buNone/>
            </a:pPr>
            <a:r>
              <a:rPr lang="en-US" sz="1350" b="1" dirty="0">
                <a:solidFill>
                  <a:srgbClr val="1C7293"/>
                </a:solidFill>
                <a:latin typeface="Cambria" pitchFamily="34" charset="0"/>
                <a:ea typeface="Cambria" pitchFamily="34" charset="-122"/>
                <a:cs typeface="Cambria" pitchFamily="34" charset="-120"/>
              </a:rPr>
              <a:t>대응 방안   </a:t>
            </a:r>
            <a:pPr indent="0" marL="0">
              <a:lnSpc>
                <a:spcPct val="130000"/>
              </a:lnSpc>
              <a:buNone/>
            </a:pPr>
            <a:r>
              <a:rPr lang="en-US" sz="1350" dirty="0">
                <a:solidFill>
                  <a:srgbClr val="18213D"/>
                </a:solidFill>
                <a:latin typeface="Cambria" pitchFamily="34" charset="0"/>
                <a:ea typeface="Cambria" pitchFamily="34" charset="-122"/>
                <a:cs typeface="Cambria" pitchFamily="34" charset="-120"/>
              </a:rPr>
              <a:t>문서 버전(version) 필드를 메타데이터에 필수로 포함하고, 학기가 바뀌면 이전 문서를 삭제하는 대신 status를 “active → archived”로 전환해 추적 가능하게 관리한다.</a:t>
            </a:r>
            <a:endParaRPr lang="en-US" sz="1350" dirty="0"/>
          </a:p>
        </p:txBody>
      </p:sp>
      <p:sp>
        <p:nvSpPr>
          <p:cNvPr id="27" name="Text 24"/>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C98A2C"/>
                </a:solidFill>
                <a:latin typeface="Calibri" pitchFamily="34" charset="0"/>
                <a:ea typeface="Calibri" pitchFamily="34" charset="-122"/>
                <a:cs typeface="Calibri" pitchFamily="34" charset="-120"/>
              </a:rPr>
              <a:t>APPLICATION</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실제 질문 하나로 보는 전체 흐름</a:t>
            </a:r>
            <a:endParaRPr lang="en-US" sz="2700" dirty="0"/>
          </a:p>
        </p:txBody>
      </p:sp>
      <p:sp>
        <p:nvSpPr>
          <p:cNvPr id="4" name="Text 2"/>
          <p:cNvSpPr/>
          <p:nvPr/>
        </p:nvSpPr>
        <p:spPr>
          <a:xfrm>
            <a:off x="640080" y="1298448"/>
            <a:ext cx="10058400" cy="365760"/>
          </a:xfrm>
          <a:prstGeom prst="rect">
            <a:avLst/>
          </a:prstGeom>
          <a:noFill/>
          <a:ln/>
        </p:spPr>
        <p:txBody>
          <a:bodyPr wrap="square" lIns="0" tIns="0" rIns="0" bIns="0" rtlCol="0" anchor="ctr"/>
          <a:lstStyle/>
          <a:p>
            <a:pPr indent="0" marL="0">
              <a:buNone/>
            </a:pPr>
            <a:r>
              <a:rPr lang="en-US" sz="1450" dirty="0">
                <a:solidFill>
                  <a:srgbClr val="CFE3ED"/>
                </a:solidFill>
                <a:latin typeface="Cambria" pitchFamily="34" charset="0"/>
                <a:ea typeface="Cambria" pitchFamily="34" charset="-122"/>
                <a:cs typeface="Cambria" pitchFamily="34" charset="-120"/>
              </a:rPr>
              <a:t>“편입생도 전공필수 과목을 전부 들어야 하나요?”</a:t>
            </a:r>
            <a:endParaRPr lang="en-US" sz="1450" dirty="0"/>
          </a:p>
        </p:txBody>
      </p:sp>
      <p:sp>
        <p:nvSpPr>
          <p:cNvPr id="5" name="Shape 3"/>
          <p:cNvSpPr/>
          <p:nvPr/>
        </p:nvSpPr>
        <p:spPr>
          <a:xfrm>
            <a:off x="640080" y="1783080"/>
            <a:ext cx="10881360" cy="1051560"/>
          </a:xfrm>
          <a:prstGeom prst="roundRect">
            <a:avLst>
              <a:gd name="adj" fmla="val 6957"/>
            </a:avLst>
          </a:prstGeom>
          <a:solidFill>
            <a:srgbClr val="065A82"/>
          </a:solidFill>
          <a:ln/>
        </p:spPr>
      </p:sp>
      <p:sp>
        <p:nvSpPr>
          <p:cNvPr id="6" name="Shape 4"/>
          <p:cNvSpPr/>
          <p:nvPr/>
        </p:nvSpPr>
        <p:spPr>
          <a:xfrm>
            <a:off x="822960" y="2061972"/>
            <a:ext cx="493776" cy="493776"/>
          </a:xfrm>
          <a:prstGeom prst="ellipse">
            <a:avLst/>
          </a:prstGeom>
          <a:solidFill>
            <a:srgbClr val="C98A2C"/>
          </a:solidFill>
          <a:ln/>
        </p:spPr>
      </p:sp>
      <p:sp>
        <p:nvSpPr>
          <p:cNvPr id="7" name="Text 5"/>
          <p:cNvSpPr/>
          <p:nvPr/>
        </p:nvSpPr>
        <p:spPr>
          <a:xfrm>
            <a:off x="822960" y="2061972"/>
            <a:ext cx="493776" cy="493776"/>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1508760" y="190195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질의 개선 (HyDE)</a:t>
            </a:r>
            <a:endParaRPr lang="en-US" sz="1400" dirty="0"/>
          </a:p>
        </p:txBody>
      </p:sp>
      <p:sp>
        <p:nvSpPr>
          <p:cNvPr id="9" name="Text 7"/>
          <p:cNvSpPr/>
          <p:nvPr/>
        </p:nvSpPr>
        <p:spPr>
          <a:xfrm>
            <a:off x="1508760" y="2240280"/>
            <a:ext cx="9235440" cy="502920"/>
          </a:xfrm>
          <a:prstGeom prst="rect">
            <a:avLst/>
          </a:prstGeom>
          <a:noFill/>
          <a:ln/>
        </p:spPr>
        <p:txBody>
          <a:bodyPr wrap="square" lIns="0" tIns="0" rIns="0" bIns="0" rtlCol="0" anchor="ctr"/>
          <a:lstStyle/>
          <a:p>
            <a:pPr indent="0" marL="0">
              <a:lnSpc>
                <a:spcPct val="120000"/>
              </a:lnSpc>
              <a:buNone/>
            </a:pPr>
            <a:r>
              <a:rPr lang="en-US" sz="1250" dirty="0">
                <a:solidFill>
                  <a:srgbClr val="CFE3ED"/>
                </a:solidFill>
                <a:latin typeface="Calibri" pitchFamily="34" charset="0"/>
                <a:ea typeface="Calibri" pitchFamily="34" charset="-122"/>
                <a:cs typeface="Calibri" pitchFamily="34" charset="-120"/>
              </a:rPr>
              <a:t>짧은 질문을 “편입생의 졸업 요건과 전공필수 과목 인정 기준…” 같은 구체적 표현으로 바꿔 검색한다</a:t>
            </a:r>
            <a:endParaRPr lang="en-US" sz="1250" dirty="0"/>
          </a:p>
        </p:txBody>
      </p:sp>
      <p:sp>
        <p:nvSpPr>
          <p:cNvPr id="10" name="Shape 8"/>
          <p:cNvSpPr/>
          <p:nvPr/>
        </p:nvSpPr>
        <p:spPr>
          <a:xfrm>
            <a:off x="640080" y="2926080"/>
            <a:ext cx="10881360" cy="1051560"/>
          </a:xfrm>
          <a:prstGeom prst="roundRect">
            <a:avLst>
              <a:gd name="adj" fmla="val 6957"/>
            </a:avLst>
          </a:prstGeom>
          <a:solidFill>
            <a:srgbClr val="065A82"/>
          </a:solidFill>
          <a:ln/>
        </p:spPr>
      </p:sp>
      <p:sp>
        <p:nvSpPr>
          <p:cNvPr id="11" name="Shape 9"/>
          <p:cNvSpPr/>
          <p:nvPr/>
        </p:nvSpPr>
        <p:spPr>
          <a:xfrm>
            <a:off x="822960" y="3204972"/>
            <a:ext cx="493776" cy="493776"/>
          </a:xfrm>
          <a:prstGeom prst="ellipse">
            <a:avLst/>
          </a:prstGeom>
          <a:solidFill>
            <a:srgbClr val="C98A2C"/>
          </a:solidFill>
          <a:ln/>
        </p:spPr>
      </p:sp>
      <p:sp>
        <p:nvSpPr>
          <p:cNvPr id="12" name="Text 10"/>
          <p:cNvSpPr/>
          <p:nvPr/>
        </p:nvSpPr>
        <p:spPr>
          <a:xfrm>
            <a:off x="822960" y="3204972"/>
            <a:ext cx="493776" cy="493776"/>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1508760" y="304495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검색 필요 판단 (Self-RAG)</a:t>
            </a:r>
            <a:endParaRPr lang="en-US" sz="1400" dirty="0"/>
          </a:p>
        </p:txBody>
      </p:sp>
      <p:sp>
        <p:nvSpPr>
          <p:cNvPr id="14" name="Text 12"/>
          <p:cNvSpPr/>
          <p:nvPr/>
        </p:nvSpPr>
        <p:spPr>
          <a:xfrm>
            <a:off x="1508760" y="3383280"/>
            <a:ext cx="9235440" cy="502920"/>
          </a:xfrm>
          <a:prstGeom prst="rect">
            <a:avLst/>
          </a:prstGeom>
          <a:noFill/>
          <a:ln/>
        </p:spPr>
        <p:txBody>
          <a:bodyPr wrap="square" lIns="0" tIns="0" rIns="0" bIns="0" rtlCol="0" anchor="ctr"/>
          <a:lstStyle/>
          <a:p>
            <a:pPr indent="0" marL="0">
              <a:lnSpc>
                <a:spcPct val="120000"/>
              </a:lnSpc>
              <a:buNone/>
            </a:pPr>
            <a:r>
              <a:rPr lang="en-US" sz="1250" dirty="0">
                <a:solidFill>
                  <a:srgbClr val="CFE3ED"/>
                </a:solidFill>
                <a:latin typeface="Calibri" pitchFamily="34" charset="0"/>
                <a:ea typeface="Calibri" pitchFamily="34" charset="-122"/>
                <a:cs typeface="Calibri" pitchFamily="34" charset="-120"/>
              </a:rPr>
              <a:t>학과 문서 검색이 필요한 질문이라고 판단하고, 관련 문서를 가져온다</a:t>
            </a:r>
            <a:endParaRPr lang="en-US" sz="1250" dirty="0"/>
          </a:p>
        </p:txBody>
      </p:sp>
      <p:sp>
        <p:nvSpPr>
          <p:cNvPr id="15" name="Shape 13"/>
          <p:cNvSpPr/>
          <p:nvPr/>
        </p:nvSpPr>
        <p:spPr>
          <a:xfrm>
            <a:off x="640080" y="4069080"/>
            <a:ext cx="10881360" cy="1051560"/>
          </a:xfrm>
          <a:prstGeom prst="roundRect">
            <a:avLst>
              <a:gd name="adj" fmla="val 6957"/>
            </a:avLst>
          </a:prstGeom>
          <a:solidFill>
            <a:srgbClr val="065A82"/>
          </a:solidFill>
          <a:ln/>
        </p:spPr>
      </p:sp>
      <p:sp>
        <p:nvSpPr>
          <p:cNvPr id="16" name="Shape 14"/>
          <p:cNvSpPr/>
          <p:nvPr/>
        </p:nvSpPr>
        <p:spPr>
          <a:xfrm>
            <a:off x="822960" y="4347972"/>
            <a:ext cx="493776" cy="493776"/>
          </a:xfrm>
          <a:prstGeom prst="ellipse">
            <a:avLst/>
          </a:prstGeom>
          <a:solidFill>
            <a:srgbClr val="C98A2C"/>
          </a:solidFill>
          <a:ln/>
        </p:spPr>
      </p:sp>
      <p:sp>
        <p:nvSpPr>
          <p:cNvPr id="17" name="Text 15"/>
          <p:cNvSpPr/>
          <p:nvPr/>
        </p:nvSpPr>
        <p:spPr>
          <a:xfrm>
            <a:off x="822960" y="4347972"/>
            <a:ext cx="493776" cy="493776"/>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3</a:t>
            </a:r>
            <a:endParaRPr lang="en-US" sz="1700" dirty="0"/>
          </a:p>
        </p:txBody>
      </p:sp>
      <p:sp>
        <p:nvSpPr>
          <p:cNvPr id="18" name="Text 16"/>
          <p:cNvSpPr/>
          <p:nvPr/>
        </p:nvSpPr>
        <p:spPr>
          <a:xfrm>
            <a:off x="1508760" y="418795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결과 검증 (CRAG)</a:t>
            </a:r>
            <a:endParaRPr lang="en-US" sz="1400" dirty="0"/>
          </a:p>
        </p:txBody>
      </p:sp>
      <p:sp>
        <p:nvSpPr>
          <p:cNvPr id="19" name="Text 17"/>
          <p:cNvSpPr/>
          <p:nvPr/>
        </p:nvSpPr>
        <p:spPr>
          <a:xfrm>
            <a:off x="1508760" y="4526280"/>
            <a:ext cx="9235440" cy="502920"/>
          </a:xfrm>
          <a:prstGeom prst="rect">
            <a:avLst/>
          </a:prstGeom>
          <a:noFill/>
          <a:ln/>
        </p:spPr>
        <p:txBody>
          <a:bodyPr wrap="square" lIns="0" tIns="0" rIns="0" bIns="0" rtlCol="0" anchor="ctr"/>
          <a:lstStyle/>
          <a:p>
            <a:pPr indent="0" marL="0">
              <a:lnSpc>
                <a:spcPct val="120000"/>
              </a:lnSpc>
              <a:buNone/>
            </a:pPr>
            <a:r>
              <a:rPr lang="en-US" sz="1250" dirty="0">
                <a:solidFill>
                  <a:srgbClr val="CFE3ED"/>
                </a:solidFill>
                <a:latin typeface="Calibri" pitchFamily="34" charset="0"/>
                <a:ea typeface="Calibri" pitchFamily="34" charset="-122"/>
                <a:cs typeface="Calibri" pitchFamily="34" charset="-120"/>
              </a:rPr>
              <a:t>검색된 문서가 편입생에게 실제로 적용되는지 검증하고, 일반 신입생 대상 문서나 오래된 문서는 걸러낸다</a:t>
            </a:r>
            <a:endParaRPr lang="en-US" sz="1250" dirty="0"/>
          </a:p>
        </p:txBody>
      </p:sp>
      <p:sp>
        <p:nvSpPr>
          <p:cNvPr id="20" name="Shape 18"/>
          <p:cNvSpPr/>
          <p:nvPr/>
        </p:nvSpPr>
        <p:spPr>
          <a:xfrm>
            <a:off x="640080" y="5212080"/>
            <a:ext cx="10881360" cy="1051560"/>
          </a:xfrm>
          <a:prstGeom prst="roundRect">
            <a:avLst>
              <a:gd name="adj" fmla="val 6957"/>
            </a:avLst>
          </a:prstGeom>
          <a:solidFill>
            <a:srgbClr val="065A82"/>
          </a:solidFill>
          <a:ln/>
        </p:spPr>
      </p:sp>
      <p:sp>
        <p:nvSpPr>
          <p:cNvPr id="21" name="Shape 19"/>
          <p:cNvSpPr/>
          <p:nvPr/>
        </p:nvSpPr>
        <p:spPr>
          <a:xfrm>
            <a:off x="822960" y="5490972"/>
            <a:ext cx="493776" cy="493776"/>
          </a:xfrm>
          <a:prstGeom prst="ellipse">
            <a:avLst/>
          </a:prstGeom>
          <a:solidFill>
            <a:srgbClr val="C98A2C"/>
          </a:solidFill>
          <a:ln/>
        </p:spPr>
      </p:sp>
      <p:sp>
        <p:nvSpPr>
          <p:cNvPr id="22" name="Text 20"/>
          <p:cNvSpPr/>
          <p:nvPr/>
        </p:nvSpPr>
        <p:spPr>
          <a:xfrm>
            <a:off x="822960" y="5490972"/>
            <a:ext cx="493776" cy="493776"/>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4</a:t>
            </a:r>
            <a:endParaRPr lang="en-US" sz="1700" dirty="0"/>
          </a:p>
        </p:txBody>
      </p:sp>
      <p:sp>
        <p:nvSpPr>
          <p:cNvPr id="23" name="Text 21"/>
          <p:cNvSpPr/>
          <p:nvPr/>
        </p:nvSpPr>
        <p:spPr>
          <a:xfrm>
            <a:off x="1508760" y="5330952"/>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답변 생성</a:t>
            </a:r>
            <a:endParaRPr lang="en-US" sz="1400" dirty="0"/>
          </a:p>
        </p:txBody>
      </p:sp>
      <p:sp>
        <p:nvSpPr>
          <p:cNvPr id="24" name="Text 22"/>
          <p:cNvSpPr/>
          <p:nvPr/>
        </p:nvSpPr>
        <p:spPr>
          <a:xfrm>
            <a:off x="1508760" y="5669280"/>
            <a:ext cx="9235440" cy="502920"/>
          </a:xfrm>
          <a:prstGeom prst="rect">
            <a:avLst/>
          </a:prstGeom>
          <a:noFill/>
          <a:ln/>
        </p:spPr>
        <p:txBody>
          <a:bodyPr wrap="square" lIns="0" tIns="0" rIns="0" bIns="0" rtlCol="0" anchor="ctr"/>
          <a:lstStyle/>
          <a:p>
            <a:pPr indent="0" marL="0">
              <a:lnSpc>
                <a:spcPct val="120000"/>
              </a:lnSpc>
              <a:buNone/>
            </a:pPr>
            <a:r>
              <a:rPr lang="en-US" sz="1250" dirty="0">
                <a:solidFill>
                  <a:srgbClr val="CFE3ED"/>
                </a:solidFill>
                <a:latin typeface="Calibri" pitchFamily="34" charset="0"/>
                <a:ea typeface="Calibri" pitchFamily="34" charset="-122"/>
                <a:cs typeface="Calibri" pitchFamily="34" charset="-120"/>
              </a:rPr>
              <a:t>검증된 문서를 근거로 답변하고, 문서 제목·게시일·원문 링크를 함께 표시한다</a:t>
            </a:r>
            <a:endParaRPr lang="en-US" sz="1250" dirty="0"/>
          </a:p>
        </p:txBody>
      </p:sp>
      <p:sp>
        <p:nvSpPr>
          <p:cNvPr id="25" name="Text 23"/>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ROADMAP</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8주 프로젝트, 무엇부터 할까</a:t>
            </a:r>
            <a:endParaRPr lang="en-US" sz="2700" dirty="0"/>
          </a:p>
        </p:txBody>
      </p:sp>
      <p:sp>
        <p:nvSpPr>
          <p:cNvPr id="4" name="Shape 2"/>
          <p:cNvSpPr/>
          <p:nvPr/>
        </p:nvSpPr>
        <p:spPr>
          <a:xfrm>
            <a:off x="640080" y="1371600"/>
            <a:ext cx="10881360" cy="841248"/>
          </a:xfrm>
          <a:prstGeom prst="roundRect">
            <a:avLst>
              <a:gd name="adj" fmla="val 7609"/>
            </a:avLst>
          </a:prstGeom>
          <a:solidFill>
            <a:srgbClr val="F0F4F8"/>
          </a:solidFill>
          <a:ln w="12700">
            <a:solidFill>
              <a:srgbClr val="E1E8ED"/>
            </a:solidFill>
            <a:prstDash val="solid"/>
          </a:ln>
        </p:spPr>
      </p:sp>
      <p:sp>
        <p:nvSpPr>
          <p:cNvPr id="5" name="Shape 3"/>
          <p:cNvSpPr/>
          <p:nvPr/>
        </p:nvSpPr>
        <p:spPr>
          <a:xfrm>
            <a:off x="804672" y="1591056"/>
            <a:ext cx="914400" cy="402336"/>
          </a:xfrm>
          <a:prstGeom prst="roundRect">
            <a:avLst>
              <a:gd name="adj" fmla="val 50000"/>
            </a:avLst>
          </a:prstGeom>
          <a:solidFill>
            <a:srgbClr val="21295C"/>
          </a:solidFill>
          <a:ln/>
        </p:spPr>
      </p:sp>
      <p:sp>
        <p:nvSpPr>
          <p:cNvPr id="6" name="Text 4"/>
          <p:cNvSpPr/>
          <p:nvPr/>
        </p:nvSpPr>
        <p:spPr>
          <a:xfrm>
            <a:off x="804672" y="1591056"/>
            <a:ext cx="9144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1순위</a:t>
            </a:r>
            <a:endParaRPr lang="en-US" sz="1250" dirty="0"/>
          </a:p>
        </p:txBody>
      </p:sp>
      <p:sp>
        <p:nvSpPr>
          <p:cNvPr id="7" name="Text 5"/>
          <p:cNvSpPr/>
          <p:nvPr/>
        </p:nvSpPr>
        <p:spPr>
          <a:xfrm>
            <a:off x="1874520" y="1591056"/>
            <a:ext cx="1051560" cy="40233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1~2주차</a:t>
            </a:r>
            <a:endParaRPr lang="en-US" sz="1300" dirty="0"/>
          </a:p>
        </p:txBody>
      </p:sp>
      <p:sp>
        <p:nvSpPr>
          <p:cNvPr id="8" name="Text 6"/>
          <p:cNvSpPr/>
          <p:nvPr/>
        </p:nvSpPr>
        <p:spPr>
          <a:xfrm>
            <a:off x="3017520" y="1463040"/>
            <a:ext cx="5486400" cy="658368"/>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문서 품질 관리 + 정확한 Chunking + Metadata 설계</a:t>
            </a:r>
            <a:endParaRPr lang="en-US" sz="1250" dirty="0"/>
          </a:p>
        </p:txBody>
      </p:sp>
      <p:sp>
        <p:nvSpPr>
          <p:cNvPr id="9" name="Text 7"/>
          <p:cNvSpPr/>
          <p:nvPr/>
        </p:nvSpPr>
        <p:spPr>
          <a:xfrm>
            <a:off x="8595360" y="1463040"/>
            <a:ext cx="2834640" cy="658368"/>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①②의 기본기 — 모든 것의 전제 조건</a:t>
            </a:r>
            <a:endParaRPr lang="en-US" sz="1150" dirty="0"/>
          </a:p>
        </p:txBody>
      </p:sp>
      <p:sp>
        <p:nvSpPr>
          <p:cNvPr id="10" name="Shape 8"/>
          <p:cNvSpPr/>
          <p:nvPr/>
        </p:nvSpPr>
        <p:spPr>
          <a:xfrm>
            <a:off x="640080" y="2304288"/>
            <a:ext cx="10881360" cy="841248"/>
          </a:xfrm>
          <a:prstGeom prst="roundRect">
            <a:avLst>
              <a:gd name="adj" fmla="val 7609"/>
            </a:avLst>
          </a:prstGeom>
          <a:solidFill>
            <a:srgbClr val="F0F4F8"/>
          </a:solidFill>
          <a:ln w="12700">
            <a:solidFill>
              <a:srgbClr val="E1E8ED"/>
            </a:solidFill>
            <a:prstDash val="solid"/>
          </a:ln>
        </p:spPr>
      </p:sp>
      <p:sp>
        <p:nvSpPr>
          <p:cNvPr id="11" name="Shape 9"/>
          <p:cNvSpPr/>
          <p:nvPr/>
        </p:nvSpPr>
        <p:spPr>
          <a:xfrm>
            <a:off x="804672" y="2523744"/>
            <a:ext cx="914400" cy="402336"/>
          </a:xfrm>
          <a:prstGeom prst="roundRect">
            <a:avLst>
              <a:gd name="adj" fmla="val 50000"/>
            </a:avLst>
          </a:prstGeom>
          <a:solidFill>
            <a:srgbClr val="065A82"/>
          </a:solidFill>
          <a:ln/>
        </p:spPr>
      </p:sp>
      <p:sp>
        <p:nvSpPr>
          <p:cNvPr id="12" name="Text 10"/>
          <p:cNvSpPr/>
          <p:nvPr/>
        </p:nvSpPr>
        <p:spPr>
          <a:xfrm>
            <a:off x="804672" y="2523744"/>
            <a:ext cx="9144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2순위</a:t>
            </a:r>
            <a:endParaRPr lang="en-US" sz="1250" dirty="0"/>
          </a:p>
        </p:txBody>
      </p:sp>
      <p:sp>
        <p:nvSpPr>
          <p:cNvPr id="13" name="Text 11"/>
          <p:cNvSpPr/>
          <p:nvPr/>
        </p:nvSpPr>
        <p:spPr>
          <a:xfrm>
            <a:off x="1874520" y="2523744"/>
            <a:ext cx="1051560" cy="40233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3~4주차</a:t>
            </a:r>
            <a:endParaRPr lang="en-US" sz="1300" dirty="0"/>
          </a:p>
        </p:txBody>
      </p:sp>
      <p:sp>
        <p:nvSpPr>
          <p:cNvPr id="14" name="Text 12"/>
          <p:cNvSpPr/>
          <p:nvPr/>
        </p:nvSpPr>
        <p:spPr>
          <a:xfrm>
            <a:off x="3017520" y="2395728"/>
            <a:ext cx="5486400" cy="658368"/>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기본 파이프라인 구축 (검색·생성 핵심 구조)</a:t>
            </a:r>
            <a:endParaRPr lang="en-US" sz="1250" dirty="0"/>
          </a:p>
        </p:txBody>
      </p:sp>
      <p:sp>
        <p:nvSpPr>
          <p:cNvPr id="15" name="Text 13"/>
          <p:cNvSpPr/>
          <p:nvPr/>
        </p:nvSpPr>
        <p:spPr>
          <a:xfrm>
            <a:off x="8595360" y="2395728"/>
            <a:ext cx="2834640" cy="658368"/>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①② 그대로 구현</a:t>
            </a:r>
            <a:endParaRPr lang="en-US" sz="1150" dirty="0"/>
          </a:p>
        </p:txBody>
      </p:sp>
      <p:sp>
        <p:nvSpPr>
          <p:cNvPr id="16" name="Shape 14"/>
          <p:cNvSpPr/>
          <p:nvPr/>
        </p:nvSpPr>
        <p:spPr>
          <a:xfrm>
            <a:off x="640080" y="3236976"/>
            <a:ext cx="10881360" cy="841248"/>
          </a:xfrm>
          <a:prstGeom prst="roundRect">
            <a:avLst>
              <a:gd name="adj" fmla="val 7609"/>
            </a:avLst>
          </a:prstGeom>
          <a:solidFill>
            <a:srgbClr val="F0F4F8"/>
          </a:solidFill>
          <a:ln w="12700">
            <a:solidFill>
              <a:srgbClr val="E1E8ED"/>
            </a:solidFill>
            <a:prstDash val="solid"/>
          </a:ln>
        </p:spPr>
      </p:sp>
      <p:sp>
        <p:nvSpPr>
          <p:cNvPr id="17" name="Shape 15"/>
          <p:cNvSpPr/>
          <p:nvPr/>
        </p:nvSpPr>
        <p:spPr>
          <a:xfrm>
            <a:off x="804672" y="3456432"/>
            <a:ext cx="914400" cy="402336"/>
          </a:xfrm>
          <a:prstGeom prst="roundRect">
            <a:avLst>
              <a:gd name="adj" fmla="val 50000"/>
            </a:avLst>
          </a:prstGeom>
          <a:solidFill>
            <a:srgbClr val="1C7293"/>
          </a:solidFill>
          <a:ln/>
        </p:spPr>
      </p:sp>
      <p:sp>
        <p:nvSpPr>
          <p:cNvPr id="18" name="Text 16"/>
          <p:cNvSpPr/>
          <p:nvPr/>
        </p:nvSpPr>
        <p:spPr>
          <a:xfrm>
            <a:off x="804672" y="3456432"/>
            <a:ext cx="9144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3순위</a:t>
            </a:r>
            <a:endParaRPr lang="en-US" sz="1250" dirty="0"/>
          </a:p>
        </p:txBody>
      </p:sp>
      <p:sp>
        <p:nvSpPr>
          <p:cNvPr id="19" name="Text 17"/>
          <p:cNvSpPr/>
          <p:nvPr/>
        </p:nvSpPr>
        <p:spPr>
          <a:xfrm>
            <a:off x="1874520" y="3456432"/>
            <a:ext cx="1051560" cy="40233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5주차</a:t>
            </a:r>
            <a:endParaRPr lang="en-US" sz="1300" dirty="0"/>
          </a:p>
        </p:txBody>
      </p:sp>
      <p:sp>
        <p:nvSpPr>
          <p:cNvPr id="20" name="Text 18"/>
          <p:cNvSpPr/>
          <p:nvPr/>
        </p:nvSpPr>
        <p:spPr>
          <a:xfrm>
            <a:off x="3017520" y="3328416"/>
            <a:ext cx="5486400" cy="658368"/>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Hybrid Search + HyDE 비교 실험 (정확도·응답속도 함께 측정)</a:t>
            </a:r>
            <a:endParaRPr lang="en-US" sz="1250" dirty="0"/>
          </a:p>
        </p:txBody>
      </p:sp>
      <p:sp>
        <p:nvSpPr>
          <p:cNvPr id="21" name="Text 19"/>
          <p:cNvSpPr/>
          <p:nvPr/>
        </p:nvSpPr>
        <p:spPr>
          <a:xfrm>
            <a:off x="8595360" y="3328416"/>
            <a:ext cx="2834640" cy="658368"/>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③의 아이디어를 직접 구현·측정</a:t>
            </a:r>
            <a:endParaRPr lang="en-US" sz="1150" dirty="0"/>
          </a:p>
        </p:txBody>
      </p:sp>
      <p:sp>
        <p:nvSpPr>
          <p:cNvPr id="22" name="Shape 20"/>
          <p:cNvSpPr/>
          <p:nvPr/>
        </p:nvSpPr>
        <p:spPr>
          <a:xfrm>
            <a:off x="640080" y="4169664"/>
            <a:ext cx="10881360" cy="841248"/>
          </a:xfrm>
          <a:prstGeom prst="roundRect">
            <a:avLst>
              <a:gd name="adj" fmla="val 7609"/>
            </a:avLst>
          </a:prstGeom>
          <a:solidFill>
            <a:srgbClr val="F0F4F8"/>
          </a:solidFill>
          <a:ln w="12700">
            <a:solidFill>
              <a:srgbClr val="E1E8ED"/>
            </a:solidFill>
            <a:prstDash val="solid"/>
          </a:ln>
        </p:spPr>
      </p:sp>
      <p:sp>
        <p:nvSpPr>
          <p:cNvPr id="23" name="Shape 21"/>
          <p:cNvSpPr/>
          <p:nvPr/>
        </p:nvSpPr>
        <p:spPr>
          <a:xfrm>
            <a:off x="804672" y="4389120"/>
            <a:ext cx="914400" cy="402336"/>
          </a:xfrm>
          <a:prstGeom prst="roundRect">
            <a:avLst>
              <a:gd name="adj" fmla="val 50000"/>
            </a:avLst>
          </a:prstGeom>
          <a:solidFill>
            <a:srgbClr val="2E7D6B"/>
          </a:solidFill>
          <a:ln/>
        </p:spPr>
      </p:sp>
      <p:sp>
        <p:nvSpPr>
          <p:cNvPr id="24" name="Text 22"/>
          <p:cNvSpPr/>
          <p:nvPr/>
        </p:nvSpPr>
        <p:spPr>
          <a:xfrm>
            <a:off x="804672" y="4389120"/>
            <a:ext cx="9144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4순위</a:t>
            </a:r>
            <a:endParaRPr lang="en-US" sz="1250" dirty="0"/>
          </a:p>
        </p:txBody>
      </p:sp>
      <p:sp>
        <p:nvSpPr>
          <p:cNvPr id="25" name="Text 23"/>
          <p:cNvSpPr/>
          <p:nvPr/>
        </p:nvSpPr>
        <p:spPr>
          <a:xfrm>
            <a:off x="1874520" y="4389120"/>
            <a:ext cx="1051560" cy="40233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6주차</a:t>
            </a:r>
            <a:endParaRPr lang="en-US" sz="1300" dirty="0"/>
          </a:p>
        </p:txBody>
      </p:sp>
      <p:sp>
        <p:nvSpPr>
          <p:cNvPr id="26" name="Text 24"/>
          <p:cNvSpPr/>
          <p:nvPr/>
        </p:nvSpPr>
        <p:spPr>
          <a:xfrm>
            <a:off x="3017520" y="4261104"/>
            <a:ext cx="5486400" cy="658368"/>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“근거 없으면 답변 거절” 프롬프트 설계</a:t>
            </a:r>
            <a:endParaRPr lang="en-US" sz="1250" dirty="0"/>
          </a:p>
        </p:txBody>
      </p:sp>
      <p:sp>
        <p:nvSpPr>
          <p:cNvPr id="27" name="Text 25"/>
          <p:cNvSpPr/>
          <p:nvPr/>
        </p:nvSpPr>
        <p:spPr>
          <a:xfrm>
            <a:off x="8595360" y="4261104"/>
            <a:ext cx="2834640" cy="658368"/>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④⑤의 철학을 프롬프트 레벨로 단순화</a:t>
            </a:r>
            <a:endParaRPr lang="en-US" sz="1150" dirty="0"/>
          </a:p>
        </p:txBody>
      </p:sp>
      <p:sp>
        <p:nvSpPr>
          <p:cNvPr id="28" name="Shape 26"/>
          <p:cNvSpPr/>
          <p:nvPr/>
        </p:nvSpPr>
        <p:spPr>
          <a:xfrm>
            <a:off x="640080" y="5102352"/>
            <a:ext cx="10881360" cy="841248"/>
          </a:xfrm>
          <a:prstGeom prst="roundRect">
            <a:avLst>
              <a:gd name="adj" fmla="val 7609"/>
            </a:avLst>
          </a:prstGeom>
          <a:solidFill>
            <a:srgbClr val="F4F7FA"/>
          </a:solidFill>
          <a:ln w="12700">
            <a:solidFill>
              <a:srgbClr val="E1E8ED"/>
            </a:solidFill>
            <a:prstDash val="solid"/>
          </a:ln>
        </p:spPr>
      </p:sp>
      <p:sp>
        <p:nvSpPr>
          <p:cNvPr id="29" name="Shape 27"/>
          <p:cNvSpPr/>
          <p:nvPr/>
        </p:nvSpPr>
        <p:spPr>
          <a:xfrm>
            <a:off x="804672" y="5321808"/>
            <a:ext cx="914400" cy="402336"/>
          </a:xfrm>
          <a:prstGeom prst="roundRect">
            <a:avLst>
              <a:gd name="adj" fmla="val 50000"/>
            </a:avLst>
          </a:prstGeom>
          <a:solidFill>
            <a:srgbClr val="5A6478"/>
          </a:solidFill>
          <a:ln/>
        </p:spPr>
      </p:sp>
      <p:sp>
        <p:nvSpPr>
          <p:cNvPr id="30" name="Text 28"/>
          <p:cNvSpPr/>
          <p:nvPr/>
        </p:nvSpPr>
        <p:spPr>
          <a:xfrm>
            <a:off x="804672" y="5321808"/>
            <a:ext cx="9144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5순위</a:t>
            </a:r>
            <a:endParaRPr lang="en-US" sz="1250" dirty="0"/>
          </a:p>
        </p:txBody>
      </p:sp>
      <p:sp>
        <p:nvSpPr>
          <p:cNvPr id="31" name="Text 29"/>
          <p:cNvSpPr/>
          <p:nvPr/>
        </p:nvSpPr>
        <p:spPr>
          <a:xfrm>
            <a:off x="1874520" y="5321808"/>
            <a:ext cx="1051560" cy="40233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7~8주차</a:t>
            </a:r>
            <a:endParaRPr lang="en-US" sz="1300" dirty="0"/>
          </a:p>
        </p:txBody>
      </p:sp>
      <p:sp>
        <p:nvSpPr>
          <p:cNvPr id="32" name="Text 30"/>
          <p:cNvSpPr/>
          <p:nvPr/>
        </p:nvSpPr>
        <p:spPr>
          <a:xfrm>
            <a:off x="3017520" y="5193792"/>
            <a:ext cx="5486400" cy="658368"/>
          </a:xfrm>
          <a:prstGeom prst="rect">
            <a:avLst/>
          </a:prstGeom>
          <a:noFill/>
          <a:ln/>
        </p:spPr>
        <p:txBody>
          <a:bodyPr wrap="square" lIns="0" tIns="0" rIns="0" bIns="0" rtlCol="0" anchor="ctr"/>
          <a:lstStyle/>
          <a:p>
            <a:pPr indent="0" marL="0">
              <a:lnSpc>
                <a:spcPct val="115000"/>
              </a:lnSpc>
              <a:buNone/>
            </a:pPr>
            <a:r>
              <a:rPr lang="en-US" sz="1250" dirty="0">
                <a:solidFill>
                  <a:srgbClr val="18213D"/>
                </a:solidFill>
                <a:latin typeface="Calibri" pitchFamily="34" charset="0"/>
                <a:ea typeface="Calibri" pitchFamily="34" charset="-122"/>
                <a:cs typeface="Calibri" pitchFamily="34" charset="-120"/>
              </a:rPr>
              <a:t>웹 서비스 통합 + 평가 + 발표 준비</a:t>
            </a:r>
            <a:endParaRPr lang="en-US" sz="1250" dirty="0"/>
          </a:p>
        </p:txBody>
      </p:sp>
      <p:sp>
        <p:nvSpPr>
          <p:cNvPr id="33" name="Text 31"/>
          <p:cNvSpPr/>
          <p:nvPr/>
        </p:nvSpPr>
        <p:spPr>
          <a:xfrm>
            <a:off x="8595360" y="5193792"/>
            <a:ext cx="2834640" cy="658368"/>
          </a:xfrm>
          <a:prstGeom prst="rect">
            <a:avLst/>
          </a:prstGeom>
          <a:noFill/>
          <a:ln/>
        </p:spPr>
        <p:txBody>
          <a:bodyPr wrap="square" lIns="0" tIns="0" rIns="0" bIns="0" rtlCol="0" anchor="ctr"/>
          <a:lstStyle/>
          <a:p>
            <a:pPr indent="0" marL="0">
              <a:lnSpc>
                <a:spcPct val="115000"/>
              </a:lnSpc>
              <a:buNone/>
            </a:pPr>
            <a:r>
              <a:rPr lang="en-US" sz="1150" dirty="0">
                <a:solidFill>
                  <a:srgbClr val="45506B"/>
                </a:solidFill>
                <a:latin typeface="Calibri" pitchFamily="34" charset="0"/>
                <a:ea typeface="Calibri" pitchFamily="34" charset="-122"/>
                <a:cs typeface="Calibri" pitchFamily="34" charset="-120"/>
              </a:rPr>
              <a:t>반성 토큰 학습·재귀 클러스터링은 발표 시 향후 과제로 언급</a:t>
            </a:r>
            <a:endParaRPr lang="en-US" sz="1150" dirty="0"/>
          </a:p>
        </p:txBody>
      </p:sp>
      <p:sp>
        <p:nvSpPr>
          <p:cNvPr id="34" name="Text 32"/>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EXPECTED IMPACT</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기대 효과와 차별화 포인트</a:t>
            </a:r>
            <a:endParaRPr lang="en-US" sz="2700" dirty="0"/>
          </a:p>
        </p:txBody>
      </p:sp>
      <p:sp>
        <p:nvSpPr>
          <p:cNvPr id="4" name="Shape 2"/>
          <p:cNvSpPr/>
          <p:nvPr/>
        </p:nvSpPr>
        <p:spPr>
          <a:xfrm>
            <a:off x="640080" y="1463040"/>
            <a:ext cx="3520440" cy="2194560"/>
          </a:xfrm>
          <a:prstGeom prst="roundRect">
            <a:avLst>
              <a:gd name="adj" fmla="val 4167"/>
            </a:avLst>
          </a:prstGeom>
          <a:solidFill>
            <a:srgbClr val="F4F7FA"/>
          </a:solidFill>
          <a:ln/>
        </p:spPr>
      </p:sp>
      <p:sp>
        <p:nvSpPr>
          <p:cNvPr id="5" name="Shape 3"/>
          <p:cNvSpPr/>
          <p:nvPr/>
        </p:nvSpPr>
        <p:spPr>
          <a:xfrm>
            <a:off x="2052828" y="1719072"/>
            <a:ext cx="694944" cy="694944"/>
          </a:xfrm>
          <a:prstGeom prst="ellipse">
            <a:avLst/>
          </a:prstGeom>
          <a:solidFill>
            <a:srgbClr val="21295C"/>
          </a:solidFill>
          <a:ln/>
        </p:spPr>
      </p:sp>
      <p:pic>
        <p:nvPicPr>
          <p:cNvPr id="6" name="Image 0" descr="/home/claude/rag_deck/icon_usergrad_white.png">    </p:cNvPr>
          <p:cNvPicPr>
            <a:picLocks noChangeAspect="1"/>
          </p:cNvPicPr>
          <p:nvPr/>
        </p:nvPicPr>
        <p:blipFill>
          <a:blip r:embed="rId1"/>
          <a:stretch>
            <a:fillRect/>
          </a:stretch>
        </p:blipFill>
        <p:spPr>
          <a:xfrm>
            <a:off x="2226564" y="1892808"/>
            <a:ext cx="347472" cy="347472"/>
          </a:xfrm>
          <a:prstGeom prst="rect">
            <a:avLst/>
          </a:prstGeom>
        </p:spPr>
      </p:pic>
      <p:sp>
        <p:nvSpPr>
          <p:cNvPr id="7" name="Text 4"/>
          <p:cNvSpPr/>
          <p:nvPr/>
        </p:nvSpPr>
        <p:spPr>
          <a:xfrm>
            <a:off x="822960" y="2560320"/>
            <a:ext cx="3154680" cy="36576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학생 측면</a:t>
            </a:r>
            <a:endParaRPr lang="en-US" sz="1500" dirty="0"/>
          </a:p>
        </p:txBody>
      </p:sp>
      <p:sp>
        <p:nvSpPr>
          <p:cNvPr id="8" name="Text 5"/>
          <p:cNvSpPr/>
          <p:nvPr/>
        </p:nvSpPr>
        <p:spPr>
          <a:xfrm>
            <a:off x="914400" y="2971800"/>
            <a:ext cx="2971800" cy="594360"/>
          </a:xfrm>
          <a:prstGeom prst="rect">
            <a:avLst/>
          </a:prstGeom>
          <a:noFill/>
          <a:ln/>
        </p:spPr>
        <p:txBody>
          <a:bodyPr wrap="square" lIns="0" tIns="0" rIns="0" bIns="0" rtlCol="0" anchor="ctr"/>
          <a:lstStyle/>
          <a:p>
            <a:pPr algn="ctr" indent="0" marL="0">
              <a:lnSpc>
                <a:spcPct val="125000"/>
              </a:lnSpc>
              <a:buNone/>
            </a:pPr>
            <a:r>
              <a:rPr lang="en-US" sz="1250" dirty="0">
                <a:solidFill>
                  <a:srgbClr val="18213D"/>
                </a:solidFill>
                <a:latin typeface="Calibri" pitchFamily="34" charset="0"/>
                <a:ea typeface="Calibri" pitchFamily="34" charset="-122"/>
                <a:cs typeface="Calibri" pitchFamily="34" charset="-120"/>
              </a:rPr>
              <a:t>출처가 명확한 답변으로 신뢰할 수 있는 학과 정보를 즉시 획득</a:t>
            </a:r>
            <a:endParaRPr lang="en-US" sz="1250" dirty="0"/>
          </a:p>
        </p:txBody>
      </p:sp>
      <p:sp>
        <p:nvSpPr>
          <p:cNvPr id="9" name="Shape 6"/>
          <p:cNvSpPr/>
          <p:nvPr/>
        </p:nvSpPr>
        <p:spPr>
          <a:xfrm>
            <a:off x="4416552" y="1463040"/>
            <a:ext cx="3520440" cy="2194560"/>
          </a:xfrm>
          <a:prstGeom prst="roundRect">
            <a:avLst>
              <a:gd name="adj" fmla="val 4167"/>
            </a:avLst>
          </a:prstGeom>
          <a:solidFill>
            <a:srgbClr val="F4F7FA"/>
          </a:solidFill>
          <a:ln/>
        </p:spPr>
      </p:sp>
      <p:sp>
        <p:nvSpPr>
          <p:cNvPr id="10" name="Shape 7"/>
          <p:cNvSpPr/>
          <p:nvPr/>
        </p:nvSpPr>
        <p:spPr>
          <a:xfrm>
            <a:off x="5829300" y="1719072"/>
            <a:ext cx="694944" cy="694944"/>
          </a:xfrm>
          <a:prstGeom prst="ellipse">
            <a:avLst/>
          </a:prstGeom>
          <a:solidFill>
            <a:srgbClr val="21295C"/>
          </a:solidFill>
          <a:ln/>
        </p:spPr>
      </p:sp>
      <p:pic>
        <p:nvPicPr>
          <p:cNvPr id="11" name="Image 1" descr="/home/claude/rag_deck/icon_book_white.png">    </p:cNvPr>
          <p:cNvPicPr>
            <a:picLocks noChangeAspect="1"/>
          </p:cNvPicPr>
          <p:nvPr/>
        </p:nvPicPr>
        <p:blipFill>
          <a:blip r:embed="rId2"/>
          <a:stretch>
            <a:fillRect/>
          </a:stretch>
        </p:blipFill>
        <p:spPr>
          <a:xfrm>
            <a:off x="6003036" y="1892808"/>
            <a:ext cx="347472" cy="347472"/>
          </a:xfrm>
          <a:prstGeom prst="rect">
            <a:avLst/>
          </a:prstGeom>
        </p:spPr>
      </p:pic>
      <p:sp>
        <p:nvSpPr>
          <p:cNvPr id="12" name="Text 8"/>
          <p:cNvSpPr/>
          <p:nvPr/>
        </p:nvSpPr>
        <p:spPr>
          <a:xfrm>
            <a:off x="4599432" y="2560320"/>
            <a:ext cx="3154680" cy="36576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학과 측면</a:t>
            </a:r>
            <a:endParaRPr lang="en-US" sz="1500" dirty="0"/>
          </a:p>
        </p:txBody>
      </p:sp>
      <p:sp>
        <p:nvSpPr>
          <p:cNvPr id="13" name="Text 9"/>
          <p:cNvSpPr/>
          <p:nvPr/>
        </p:nvSpPr>
        <p:spPr>
          <a:xfrm>
            <a:off x="4690872" y="2971800"/>
            <a:ext cx="2971800" cy="594360"/>
          </a:xfrm>
          <a:prstGeom prst="rect">
            <a:avLst/>
          </a:prstGeom>
          <a:noFill/>
          <a:ln/>
        </p:spPr>
        <p:txBody>
          <a:bodyPr wrap="square" lIns="0" tIns="0" rIns="0" bIns="0" rtlCol="0" anchor="ctr"/>
          <a:lstStyle/>
          <a:p>
            <a:pPr algn="ctr" indent="0" marL="0">
              <a:lnSpc>
                <a:spcPct val="125000"/>
              </a:lnSpc>
              <a:buNone/>
            </a:pPr>
            <a:r>
              <a:rPr lang="en-US" sz="1250" dirty="0">
                <a:solidFill>
                  <a:srgbClr val="18213D"/>
                </a:solidFill>
                <a:latin typeface="Calibri" pitchFamily="34" charset="0"/>
                <a:ea typeface="Calibri" pitchFamily="34" charset="-122"/>
                <a:cs typeface="Calibri" pitchFamily="34" charset="-120"/>
              </a:rPr>
              <a:t>산발적인 문의 대응 부담을 줄이고, 관심 있는 잠재 지원자에게도 정보 제공</a:t>
            </a:r>
            <a:endParaRPr lang="en-US" sz="1250" dirty="0"/>
          </a:p>
        </p:txBody>
      </p:sp>
      <p:sp>
        <p:nvSpPr>
          <p:cNvPr id="14" name="Shape 10"/>
          <p:cNvSpPr/>
          <p:nvPr/>
        </p:nvSpPr>
        <p:spPr>
          <a:xfrm>
            <a:off x="8193024" y="1463040"/>
            <a:ext cx="3520440" cy="2194560"/>
          </a:xfrm>
          <a:prstGeom prst="roundRect">
            <a:avLst>
              <a:gd name="adj" fmla="val 4167"/>
            </a:avLst>
          </a:prstGeom>
          <a:solidFill>
            <a:srgbClr val="F4F7FA"/>
          </a:solidFill>
          <a:ln/>
        </p:spPr>
      </p:sp>
      <p:sp>
        <p:nvSpPr>
          <p:cNvPr id="15" name="Shape 11"/>
          <p:cNvSpPr/>
          <p:nvPr/>
        </p:nvSpPr>
        <p:spPr>
          <a:xfrm>
            <a:off x="9605772" y="1719072"/>
            <a:ext cx="694944" cy="694944"/>
          </a:xfrm>
          <a:prstGeom prst="ellipse">
            <a:avLst/>
          </a:prstGeom>
          <a:solidFill>
            <a:srgbClr val="21295C"/>
          </a:solidFill>
          <a:ln/>
        </p:spPr>
      </p:sp>
      <p:pic>
        <p:nvPicPr>
          <p:cNvPr id="16" name="Image 2" descr="/home/claude/rag_deck/icon_usertie_white.png">    </p:cNvPr>
          <p:cNvPicPr>
            <a:picLocks noChangeAspect="1"/>
          </p:cNvPicPr>
          <p:nvPr/>
        </p:nvPicPr>
        <p:blipFill>
          <a:blip r:embed="rId3"/>
          <a:stretch>
            <a:fillRect/>
          </a:stretch>
        </p:blipFill>
        <p:spPr>
          <a:xfrm>
            <a:off x="9779508" y="1892808"/>
            <a:ext cx="347472" cy="347472"/>
          </a:xfrm>
          <a:prstGeom prst="rect">
            <a:avLst/>
          </a:prstGeom>
        </p:spPr>
      </p:pic>
      <p:sp>
        <p:nvSpPr>
          <p:cNvPr id="17" name="Text 12"/>
          <p:cNvSpPr/>
          <p:nvPr/>
        </p:nvSpPr>
        <p:spPr>
          <a:xfrm>
            <a:off x="8375904" y="2560320"/>
            <a:ext cx="3154680" cy="36576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멘토 측면</a:t>
            </a:r>
            <a:endParaRPr lang="en-US" sz="1500" dirty="0"/>
          </a:p>
        </p:txBody>
      </p:sp>
      <p:sp>
        <p:nvSpPr>
          <p:cNvPr id="18" name="Text 13"/>
          <p:cNvSpPr/>
          <p:nvPr/>
        </p:nvSpPr>
        <p:spPr>
          <a:xfrm>
            <a:off x="8467344" y="2971800"/>
            <a:ext cx="2971800" cy="594360"/>
          </a:xfrm>
          <a:prstGeom prst="rect">
            <a:avLst/>
          </a:prstGeom>
          <a:noFill/>
          <a:ln/>
        </p:spPr>
        <p:txBody>
          <a:bodyPr wrap="square" lIns="0" tIns="0" rIns="0" bIns="0" rtlCol="0" anchor="ctr"/>
          <a:lstStyle/>
          <a:p>
            <a:pPr algn="ctr" indent="0" marL="0">
              <a:lnSpc>
                <a:spcPct val="125000"/>
              </a:lnSpc>
              <a:buNone/>
            </a:pPr>
            <a:r>
              <a:rPr lang="en-US" sz="1250" dirty="0">
                <a:solidFill>
                  <a:srgbClr val="18213D"/>
                </a:solidFill>
                <a:latin typeface="Calibri" pitchFamily="34" charset="0"/>
                <a:ea typeface="Calibri" pitchFamily="34" charset="-122"/>
                <a:cs typeface="Calibri" pitchFamily="34" charset="-120"/>
              </a:rPr>
              <a:t>반복적인 안내 업무를 챗봇이 1차로 흡수해, 깊이 있는 상담에 집중 가능</a:t>
            </a:r>
            <a:endParaRPr lang="en-US" sz="1250" dirty="0"/>
          </a:p>
        </p:txBody>
      </p:sp>
      <p:sp>
        <p:nvSpPr>
          <p:cNvPr id="19" name="Text 14"/>
          <p:cNvSpPr/>
          <p:nvPr/>
        </p:nvSpPr>
        <p:spPr>
          <a:xfrm>
            <a:off x="640080" y="3931920"/>
            <a:ext cx="10058400" cy="36576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차별화 포인트 — “그냥 가져다 쓴 게 아니라, 직접 튜닝했다”</a:t>
            </a:r>
            <a:endParaRPr lang="en-US" sz="1400" dirty="0"/>
          </a:p>
        </p:txBody>
      </p:sp>
      <p:sp>
        <p:nvSpPr>
          <p:cNvPr id="20" name="Shape 15"/>
          <p:cNvSpPr/>
          <p:nvPr/>
        </p:nvSpPr>
        <p:spPr>
          <a:xfrm>
            <a:off x="868680" y="4407408"/>
            <a:ext cx="91440" cy="91440"/>
          </a:xfrm>
          <a:prstGeom prst="ellipse">
            <a:avLst/>
          </a:prstGeom>
          <a:solidFill>
            <a:srgbClr val="1C7293"/>
          </a:solidFill>
          <a:ln/>
        </p:spPr>
      </p:sp>
      <p:sp>
        <p:nvSpPr>
          <p:cNvPr id="21" name="Text 16"/>
          <p:cNvSpPr/>
          <p:nvPr/>
        </p:nvSpPr>
        <p:spPr>
          <a:xfrm>
            <a:off x="1097280" y="4297680"/>
            <a:ext cx="10241280" cy="365760"/>
          </a:xfrm>
          <a:prstGeom prst="rect">
            <a:avLst/>
          </a:prstGeom>
          <a:noFill/>
          <a:ln/>
        </p:spPr>
        <p:txBody>
          <a:bodyPr wrap="square" lIns="0" tIns="0" rIns="0" bIns="0" rtlCol="0" anchor="ctr"/>
          <a:lstStyle/>
          <a:p>
            <a:pPr indent="0" marL="0">
              <a:buNone/>
            </a:pPr>
            <a:r>
              <a:rPr lang="en-US" sz="1350" dirty="0">
                <a:solidFill>
                  <a:srgbClr val="18213D"/>
                </a:solidFill>
                <a:latin typeface="Calibri" pitchFamily="34" charset="0"/>
                <a:ea typeface="Calibri" pitchFamily="34" charset="-122"/>
                <a:cs typeface="Calibri" pitchFamily="34" charset="-120"/>
              </a:rPr>
              <a:t>단순 RAG가 아닌, 학사 문서 특성에 맞춘 청킹 전략을 직접 설계</a:t>
            </a:r>
            <a:endParaRPr lang="en-US" sz="1350" dirty="0"/>
          </a:p>
        </p:txBody>
      </p:sp>
      <p:sp>
        <p:nvSpPr>
          <p:cNvPr id="22" name="Shape 17"/>
          <p:cNvSpPr/>
          <p:nvPr/>
        </p:nvSpPr>
        <p:spPr>
          <a:xfrm>
            <a:off x="868680" y="4846320"/>
            <a:ext cx="91440" cy="91440"/>
          </a:xfrm>
          <a:prstGeom prst="ellipse">
            <a:avLst/>
          </a:prstGeom>
          <a:solidFill>
            <a:srgbClr val="1C7293"/>
          </a:solidFill>
          <a:ln/>
        </p:spPr>
      </p:sp>
      <p:sp>
        <p:nvSpPr>
          <p:cNvPr id="23" name="Text 18"/>
          <p:cNvSpPr/>
          <p:nvPr/>
        </p:nvSpPr>
        <p:spPr>
          <a:xfrm>
            <a:off x="1097280" y="4736592"/>
            <a:ext cx="10241280" cy="365760"/>
          </a:xfrm>
          <a:prstGeom prst="rect">
            <a:avLst/>
          </a:prstGeom>
          <a:noFill/>
          <a:ln/>
        </p:spPr>
        <p:txBody>
          <a:bodyPr wrap="square" lIns="0" tIns="0" rIns="0" bIns="0" rtlCol="0" anchor="ctr"/>
          <a:lstStyle/>
          <a:p>
            <a:pPr indent="0" marL="0">
              <a:buNone/>
            </a:pPr>
            <a:r>
              <a:rPr lang="en-US" sz="1350" dirty="0">
                <a:solidFill>
                  <a:srgbClr val="18213D"/>
                </a:solidFill>
                <a:latin typeface="Calibri" pitchFamily="34" charset="0"/>
                <a:ea typeface="Calibri" pitchFamily="34" charset="-122"/>
                <a:cs typeface="Calibri" pitchFamily="34" charset="-120"/>
              </a:rPr>
              <a:t>HyDE를 직접 구현·비교 실험해 정확도·속도 트레이드오프까지 정직하게 보고</a:t>
            </a:r>
            <a:endParaRPr lang="en-US" sz="1350" dirty="0"/>
          </a:p>
        </p:txBody>
      </p:sp>
      <p:sp>
        <p:nvSpPr>
          <p:cNvPr id="24" name="Shape 19"/>
          <p:cNvSpPr/>
          <p:nvPr/>
        </p:nvSpPr>
        <p:spPr>
          <a:xfrm>
            <a:off x="868680" y="5285232"/>
            <a:ext cx="91440" cy="91440"/>
          </a:xfrm>
          <a:prstGeom prst="ellipse">
            <a:avLst/>
          </a:prstGeom>
          <a:solidFill>
            <a:srgbClr val="1C7293"/>
          </a:solidFill>
          <a:ln/>
        </p:spPr>
      </p:sp>
      <p:sp>
        <p:nvSpPr>
          <p:cNvPr id="25" name="Text 20"/>
          <p:cNvSpPr/>
          <p:nvPr/>
        </p:nvSpPr>
        <p:spPr>
          <a:xfrm>
            <a:off x="1097280" y="5175504"/>
            <a:ext cx="10241280" cy="365760"/>
          </a:xfrm>
          <a:prstGeom prst="rect">
            <a:avLst/>
          </a:prstGeom>
          <a:noFill/>
          <a:ln/>
        </p:spPr>
        <p:txBody>
          <a:bodyPr wrap="square" lIns="0" tIns="0" rIns="0" bIns="0" rtlCol="0" anchor="ctr"/>
          <a:lstStyle/>
          <a:p>
            <a:pPr indent="0" marL="0">
              <a:buNone/>
            </a:pPr>
            <a:r>
              <a:rPr lang="en-US" sz="1350" dirty="0">
                <a:solidFill>
                  <a:srgbClr val="18213D"/>
                </a:solidFill>
                <a:latin typeface="Calibri" pitchFamily="34" charset="0"/>
                <a:ea typeface="Calibri" pitchFamily="34" charset="-122"/>
                <a:cs typeface="Calibri" pitchFamily="34" charset="-120"/>
              </a:rPr>
              <a:t>Self-RAG·CRAG의 철학을 8주 규모에 맞게 현실적으로 단순화 적용</a:t>
            </a:r>
            <a:endParaRPr lang="en-US" sz="1350" dirty="0"/>
          </a:p>
        </p:txBody>
      </p:sp>
      <p:sp>
        <p:nvSpPr>
          <p:cNvPr id="26" name="Shape 21"/>
          <p:cNvSpPr/>
          <p:nvPr/>
        </p:nvSpPr>
        <p:spPr>
          <a:xfrm>
            <a:off x="640080" y="5806440"/>
            <a:ext cx="10881360" cy="685800"/>
          </a:xfrm>
          <a:prstGeom prst="roundRect">
            <a:avLst>
              <a:gd name="adj" fmla="val 10667"/>
            </a:avLst>
          </a:prstGeom>
          <a:solidFill>
            <a:srgbClr val="21295C"/>
          </a:solidFill>
          <a:ln/>
        </p:spPr>
      </p:sp>
      <p:sp>
        <p:nvSpPr>
          <p:cNvPr id="27" name="Text 22"/>
          <p:cNvSpPr/>
          <p:nvPr/>
        </p:nvSpPr>
        <p:spPr>
          <a:xfrm>
            <a:off x="640080" y="5806440"/>
            <a:ext cx="10881360" cy="685800"/>
          </a:xfrm>
          <a:prstGeom prst="rect">
            <a:avLst/>
          </a:prstGeom>
          <a:noFill/>
          <a:ln/>
        </p:spPr>
        <p:txBody>
          <a:bodyPr wrap="square" lIns="0" tIns="0" rIns="0" bIns="0" rtlCol="0" anchor="ctr"/>
          <a:lstStyle/>
          <a:p>
            <a:pPr algn="ctr" indent="0" marL="0">
              <a:buNone/>
            </a:pPr>
            <a:r>
              <a:rPr lang="en-US" sz="1400" b="1" dirty="0">
                <a:solidFill>
                  <a:srgbClr val="C98A2C"/>
                </a:solidFill>
                <a:latin typeface="Calibri" pitchFamily="34" charset="0"/>
                <a:ea typeface="Calibri" pitchFamily="34" charset="-122"/>
                <a:cs typeface="Calibri" pitchFamily="34" charset="-120"/>
              </a:rPr>
              <a:t>최종 산출물: 학과 공식 자료 기반 출처 검증형 RAG 챗봇 (웹 서비스로 배포)</a:t>
            </a:r>
            <a:endParaRPr lang="en-US" sz="1400" dirty="0"/>
          </a:p>
        </p:txBody>
      </p:sp>
      <p:sp>
        <p:nvSpPr>
          <p:cNvPr id="28" name="Text 23"/>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961120" y="-1645920"/>
            <a:ext cx="4572000" cy="4572000"/>
          </a:xfrm>
          <a:prstGeom prst="ellipse">
            <a:avLst/>
          </a:prstGeom>
          <a:solidFill>
            <a:srgbClr val="065A82"/>
          </a:solidFill>
          <a:ln/>
        </p:spPr>
      </p:sp>
      <p:sp>
        <p:nvSpPr>
          <p:cNvPr id="3" name="Text 1"/>
          <p:cNvSpPr/>
          <p:nvPr/>
        </p:nvSpPr>
        <p:spPr>
          <a:xfrm>
            <a:off x="822960" y="1463040"/>
            <a:ext cx="7315200" cy="457200"/>
          </a:xfrm>
          <a:prstGeom prst="rect">
            <a:avLst/>
          </a:prstGeom>
          <a:noFill/>
          <a:ln/>
        </p:spPr>
        <p:txBody>
          <a:bodyPr wrap="square" lIns="0" tIns="0" rIns="0" bIns="0" rtlCol="0" anchor="ctr"/>
          <a:lstStyle/>
          <a:p>
            <a:pPr indent="0" marL="0">
              <a:buNone/>
            </a:pPr>
            <a:r>
              <a:rPr lang="en-US" sz="1600" b="1" spc="200" kern="0" dirty="0">
                <a:solidFill>
                  <a:srgbClr val="C98A2C"/>
                </a:solidFill>
                <a:latin typeface="Calibri" pitchFamily="34" charset="0"/>
                <a:ea typeface="Calibri" pitchFamily="34" charset="-122"/>
                <a:cs typeface="Calibri" pitchFamily="34" charset="-120"/>
              </a:rPr>
              <a:t>정리하면</a:t>
            </a:r>
            <a:endParaRPr lang="en-US" sz="1600" dirty="0"/>
          </a:p>
        </p:txBody>
      </p:sp>
      <p:sp>
        <p:nvSpPr>
          <p:cNvPr id="4" name="Text 2"/>
          <p:cNvSpPr/>
          <p:nvPr/>
        </p:nvSpPr>
        <p:spPr>
          <a:xfrm>
            <a:off x="822960" y="1920240"/>
            <a:ext cx="9601200" cy="146304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찾아보고, 판단하고,</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검증하며 답한다</a:t>
            </a:r>
            <a:endParaRPr lang="en-US" sz="3400" dirty="0"/>
          </a:p>
        </p:txBody>
      </p:sp>
      <p:sp>
        <p:nvSpPr>
          <p:cNvPr id="5" name="Shape 3"/>
          <p:cNvSpPr/>
          <p:nvPr/>
        </p:nvSpPr>
        <p:spPr>
          <a:xfrm>
            <a:off x="868680" y="3593592"/>
            <a:ext cx="146304" cy="146304"/>
          </a:xfrm>
          <a:prstGeom prst="ellipse">
            <a:avLst/>
          </a:prstGeom>
          <a:solidFill>
            <a:srgbClr val="C98A2C"/>
          </a:solidFill>
          <a:ln/>
        </p:spPr>
      </p:sp>
      <p:sp>
        <p:nvSpPr>
          <p:cNvPr id="6" name="Text 4"/>
          <p:cNvSpPr/>
          <p:nvPr/>
        </p:nvSpPr>
        <p:spPr>
          <a:xfrm>
            <a:off x="1188720" y="3429000"/>
            <a:ext cx="9875520" cy="502920"/>
          </a:xfrm>
          <a:prstGeom prst="rect">
            <a:avLst/>
          </a:prstGeom>
          <a:noFill/>
          <a:ln/>
        </p:spPr>
        <p:txBody>
          <a:bodyPr wrap="square" lIns="0" tIns="0" rIns="0" bIns="0" rtlCol="0" anchor="ctr"/>
          <a:lstStyle/>
          <a:p>
            <a:pPr indent="0" marL="0">
              <a:lnSpc>
                <a:spcPct val="125000"/>
              </a:lnSpc>
              <a:buNone/>
            </a:pPr>
            <a:r>
              <a:rPr lang="en-US" sz="1500" dirty="0">
                <a:solidFill>
                  <a:srgbClr val="CFE3ED"/>
                </a:solidFill>
                <a:latin typeface="Calibri" pitchFamily="34" charset="0"/>
                <a:ea typeface="Calibri" pitchFamily="34" charset="-122"/>
                <a:cs typeface="Calibri" pitchFamily="34" charset="-120"/>
              </a:rPr>
              <a:t>RAG는 LLM의 내부 지식에만 의존하지 않고, 외부 문서를 검색해 정확성과 최신성을 높인다</a:t>
            </a:r>
            <a:endParaRPr lang="en-US" sz="1500" dirty="0"/>
          </a:p>
        </p:txBody>
      </p:sp>
      <p:sp>
        <p:nvSpPr>
          <p:cNvPr id="7" name="Shape 5"/>
          <p:cNvSpPr/>
          <p:nvPr/>
        </p:nvSpPr>
        <p:spPr>
          <a:xfrm>
            <a:off x="868680" y="4215384"/>
            <a:ext cx="146304" cy="146304"/>
          </a:xfrm>
          <a:prstGeom prst="ellipse">
            <a:avLst/>
          </a:prstGeom>
          <a:solidFill>
            <a:srgbClr val="C98A2C"/>
          </a:solidFill>
          <a:ln/>
        </p:spPr>
      </p:sp>
      <p:sp>
        <p:nvSpPr>
          <p:cNvPr id="8" name="Text 6"/>
          <p:cNvSpPr/>
          <p:nvPr/>
        </p:nvSpPr>
        <p:spPr>
          <a:xfrm>
            <a:off x="1188720" y="4050792"/>
            <a:ext cx="9875520" cy="502920"/>
          </a:xfrm>
          <a:prstGeom prst="rect">
            <a:avLst/>
          </a:prstGeom>
          <a:noFill/>
          <a:ln/>
        </p:spPr>
        <p:txBody>
          <a:bodyPr wrap="square" lIns="0" tIns="0" rIns="0" bIns="0" rtlCol="0" anchor="ctr"/>
          <a:lstStyle/>
          <a:p>
            <a:pPr indent="0" marL="0">
              <a:lnSpc>
                <a:spcPct val="125000"/>
              </a:lnSpc>
              <a:buNone/>
            </a:pPr>
            <a:r>
              <a:rPr lang="en-US" sz="1500" dirty="0">
                <a:solidFill>
                  <a:srgbClr val="CFE3ED"/>
                </a:solidFill>
                <a:latin typeface="Calibri" pitchFamily="34" charset="0"/>
                <a:ea typeface="Calibri" pitchFamily="34" charset="-122"/>
                <a:cs typeface="Calibri" pitchFamily="34" charset="-120"/>
              </a:rPr>
              <a:t>HyDE는 검색 전 질문을, CRAG는 검색 후 결과를, Self-RAG는 검색 여부 자체를 개선한다</a:t>
            </a:r>
            <a:endParaRPr lang="en-US" sz="1500" dirty="0"/>
          </a:p>
        </p:txBody>
      </p:sp>
      <p:sp>
        <p:nvSpPr>
          <p:cNvPr id="9" name="Shape 7"/>
          <p:cNvSpPr/>
          <p:nvPr/>
        </p:nvSpPr>
        <p:spPr>
          <a:xfrm>
            <a:off x="868680" y="4837176"/>
            <a:ext cx="146304" cy="146304"/>
          </a:xfrm>
          <a:prstGeom prst="ellipse">
            <a:avLst/>
          </a:prstGeom>
          <a:solidFill>
            <a:srgbClr val="C98A2C"/>
          </a:solidFill>
          <a:ln/>
        </p:spPr>
      </p:sp>
      <p:sp>
        <p:nvSpPr>
          <p:cNvPr id="10" name="Text 8"/>
          <p:cNvSpPr/>
          <p:nvPr/>
        </p:nvSpPr>
        <p:spPr>
          <a:xfrm>
            <a:off x="1188720" y="4672584"/>
            <a:ext cx="9875520" cy="502920"/>
          </a:xfrm>
          <a:prstGeom prst="rect">
            <a:avLst/>
          </a:prstGeom>
          <a:noFill/>
          <a:ln/>
        </p:spPr>
        <p:txBody>
          <a:bodyPr wrap="square" lIns="0" tIns="0" rIns="0" bIns="0" rtlCol="0" anchor="ctr"/>
          <a:lstStyle/>
          <a:p>
            <a:pPr indent="0" marL="0">
              <a:lnSpc>
                <a:spcPct val="125000"/>
              </a:lnSpc>
              <a:buNone/>
            </a:pPr>
            <a:r>
              <a:rPr lang="en-US" sz="1500" dirty="0">
                <a:solidFill>
                  <a:srgbClr val="CFE3ED"/>
                </a:solidFill>
                <a:latin typeface="Calibri" pitchFamily="34" charset="0"/>
                <a:ea typeface="Calibri" pitchFamily="34" charset="-122"/>
                <a:cs typeface="Calibri" pitchFamily="34" charset="-120"/>
              </a:rPr>
              <a:t>이 여섯 가지 관점을 바탕으로, 정확한 근거를 갖춘 학과 소개 멘토링 챗봇을 8주간 만들어간다</a:t>
            </a:r>
            <a:endParaRPr lang="en-US" sz="1500" dirty="0"/>
          </a:p>
        </p:txBody>
      </p:sp>
      <p:sp>
        <p:nvSpPr>
          <p:cNvPr id="11" name="Text 9"/>
          <p:cNvSpPr/>
          <p:nvPr/>
        </p:nvSpPr>
        <p:spPr>
          <a:xfrm>
            <a:off x="822960" y="5760720"/>
            <a:ext cx="7315200" cy="457200"/>
          </a:xfrm>
          <a:prstGeom prst="rect">
            <a:avLst/>
          </a:prstGeom>
          <a:noFill/>
          <a:ln/>
        </p:spPr>
        <p:txBody>
          <a:bodyPr wrap="square" lIns="0" tIns="0" rIns="0" bIns="0" rtlCol="0" anchor="ctr"/>
          <a:lstStyle/>
          <a:p>
            <a:pPr indent="0" marL="0">
              <a:buNone/>
            </a:pPr>
            <a:r>
              <a:rPr lang="en-US" sz="2000" b="1" dirty="0">
                <a:solidFill>
                  <a:srgbClr val="C98A2C"/>
                </a:solidFill>
                <a:latin typeface="Cambria" pitchFamily="34" charset="0"/>
                <a:ea typeface="Cambria" pitchFamily="34" charset="-122"/>
                <a:cs typeface="Cambria" pitchFamily="34" charset="-120"/>
              </a:rPr>
              <a:t>감사합니다</a:t>
            </a:r>
            <a:endParaRPr lang="en-US" sz="2000" dirty="0"/>
          </a:p>
        </p:txBody>
      </p:sp>
      <p:sp>
        <p:nvSpPr>
          <p:cNvPr id="12" name="Text 10"/>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350" b="1" spc="200" kern="0" dirty="0">
                <a:solidFill>
                  <a:srgbClr val="1C7293"/>
                </a:solidFill>
                <a:latin typeface="Calibri" pitchFamily="34" charset="0"/>
                <a:ea typeface="Calibri" pitchFamily="34" charset="-122"/>
                <a:cs typeface="Calibri" pitchFamily="34" charset="-120"/>
              </a:rPr>
              <a:t>Q &amp; A</a:t>
            </a:r>
            <a:endParaRPr lang="en-US" sz="1350" dirty="0"/>
          </a:p>
        </p:txBody>
      </p:sp>
      <p:sp>
        <p:nvSpPr>
          <p:cNvPr id="3" name="Text 1"/>
          <p:cNvSpPr/>
          <p:nvPr/>
        </p:nvSpPr>
        <p:spPr>
          <a:xfrm>
            <a:off x="640080" y="658368"/>
            <a:ext cx="10789920" cy="594360"/>
          </a:xfrm>
          <a:prstGeom prst="rect">
            <a:avLst/>
          </a:prstGeom>
          <a:noFill/>
          <a:ln/>
        </p:spPr>
        <p:txBody>
          <a:bodyPr wrap="square" lIns="0" tIns="0" rIns="0" bIns="0" rtlCol="0" anchor="ctr"/>
          <a:lstStyle/>
          <a:p>
            <a:pPr indent="0" marL="0">
              <a:buNone/>
            </a:pPr>
            <a:r>
              <a:rPr lang="en-US" sz="2700" b="1" dirty="0">
                <a:solidFill>
                  <a:srgbClr val="18213D"/>
                </a:solidFill>
                <a:latin typeface="Cambria" pitchFamily="34" charset="0"/>
                <a:ea typeface="Cambria" pitchFamily="34" charset="-122"/>
                <a:cs typeface="Cambria" pitchFamily="34" charset="-120"/>
              </a:rPr>
              <a:t>예상 질문 준비</a:t>
            </a:r>
            <a:endParaRPr lang="en-US" sz="2700" dirty="0"/>
          </a:p>
        </p:txBody>
      </p:sp>
      <p:sp>
        <p:nvSpPr>
          <p:cNvPr id="4" name="Shape 2"/>
          <p:cNvSpPr/>
          <p:nvPr/>
        </p:nvSpPr>
        <p:spPr>
          <a:xfrm>
            <a:off x="640080" y="1691640"/>
            <a:ext cx="10881360" cy="1481328"/>
          </a:xfrm>
          <a:prstGeom prst="roundRect">
            <a:avLst>
              <a:gd name="adj" fmla="val 5556"/>
            </a:avLst>
          </a:prstGeom>
          <a:solidFill>
            <a:srgbClr val="F4F7FA"/>
          </a:solidFill>
          <a:ln/>
        </p:spPr>
      </p:sp>
      <p:sp>
        <p:nvSpPr>
          <p:cNvPr id="5" name="Shape 3"/>
          <p:cNvSpPr/>
          <p:nvPr/>
        </p:nvSpPr>
        <p:spPr>
          <a:xfrm>
            <a:off x="868680" y="1892808"/>
            <a:ext cx="502920" cy="502920"/>
          </a:xfrm>
          <a:prstGeom prst="ellipse">
            <a:avLst/>
          </a:prstGeom>
          <a:solidFill>
            <a:srgbClr val="21295C"/>
          </a:solidFill>
          <a:ln/>
        </p:spPr>
      </p:sp>
      <p:sp>
        <p:nvSpPr>
          <p:cNvPr id="6" name="Text 4"/>
          <p:cNvSpPr/>
          <p:nvPr/>
        </p:nvSpPr>
        <p:spPr>
          <a:xfrm>
            <a:off x="868680" y="1892808"/>
            <a:ext cx="502920" cy="50292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Q1</a:t>
            </a:r>
            <a:endParaRPr lang="en-US" sz="1450" dirty="0"/>
          </a:p>
        </p:txBody>
      </p:sp>
      <p:sp>
        <p:nvSpPr>
          <p:cNvPr id="7" name="Text 5"/>
          <p:cNvSpPr/>
          <p:nvPr/>
        </p:nvSpPr>
        <p:spPr>
          <a:xfrm>
            <a:off x="1554480" y="1828800"/>
            <a:ext cx="9692640" cy="45720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여섯 편 전부를 논문 그대로 구현하나요?</a:t>
            </a:r>
            <a:endParaRPr lang="en-US" sz="1400" dirty="0"/>
          </a:p>
        </p:txBody>
      </p:sp>
      <p:sp>
        <p:nvSpPr>
          <p:cNvPr id="8" name="Text 6"/>
          <p:cNvSpPr/>
          <p:nvPr/>
        </p:nvSpPr>
        <p:spPr>
          <a:xfrm>
            <a:off x="1554480" y="2267712"/>
            <a:ext cx="9692640" cy="841248"/>
          </a:xfrm>
          <a:prstGeom prst="rect">
            <a:avLst/>
          </a:prstGeom>
          <a:noFill/>
          <a:ln/>
        </p:spPr>
        <p:txBody>
          <a:bodyPr wrap="square" lIns="0" tIns="0" rIns="0" bIns="0" rtlCol="0" anchor="ctr"/>
          <a:lstStyle/>
          <a:p>
            <a:pPr indent="0" marL="0">
              <a:lnSpc>
                <a:spcPct val="122000"/>
              </a:lnSpc>
              <a:buNone/>
            </a:pPr>
            <a:r>
              <a:rPr lang="en-US" sz="1250" dirty="0">
                <a:solidFill>
                  <a:srgbClr val="18213D"/>
                </a:solidFill>
                <a:latin typeface="Calibri" pitchFamily="34" charset="0"/>
                <a:ea typeface="Calibri" pitchFamily="34" charset="-122"/>
                <a:cs typeface="Calibri" pitchFamily="34" charset="-120"/>
              </a:rPr>
              <a:t>아니요. ①②는 기본 구조로 그대로 구현하고, ③HyDE는 5주차에 실제로 구현·실험합니다. ④Self-RAG와 ⑥RAPTOR는 학습·클러스터링 비용이 커서 개념만 프롬프트·수동 요약으로 단순화해 적용합니다.</a:t>
            </a:r>
            <a:endParaRPr lang="en-US" sz="1250" dirty="0"/>
          </a:p>
        </p:txBody>
      </p:sp>
      <p:sp>
        <p:nvSpPr>
          <p:cNvPr id="9" name="Shape 7"/>
          <p:cNvSpPr/>
          <p:nvPr/>
        </p:nvSpPr>
        <p:spPr>
          <a:xfrm>
            <a:off x="640080" y="3310128"/>
            <a:ext cx="10881360" cy="1481328"/>
          </a:xfrm>
          <a:prstGeom prst="roundRect">
            <a:avLst>
              <a:gd name="adj" fmla="val 5556"/>
            </a:avLst>
          </a:prstGeom>
          <a:solidFill>
            <a:srgbClr val="F4F7FA"/>
          </a:solidFill>
          <a:ln/>
        </p:spPr>
      </p:sp>
      <p:sp>
        <p:nvSpPr>
          <p:cNvPr id="10" name="Shape 8"/>
          <p:cNvSpPr/>
          <p:nvPr/>
        </p:nvSpPr>
        <p:spPr>
          <a:xfrm>
            <a:off x="868680" y="3511296"/>
            <a:ext cx="502920" cy="502920"/>
          </a:xfrm>
          <a:prstGeom prst="ellipse">
            <a:avLst/>
          </a:prstGeom>
          <a:solidFill>
            <a:srgbClr val="21295C"/>
          </a:solidFill>
          <a:ln/>
        </p:spPr>
      </p:sp>
      <p:sp>
        <p:nvSpPr>
          <p:cNvPr id="11" name="Text 9"/>
          <p:cNvSpPr/>
          <p:nvPr/>
        </p:nvSpPr>
        <p:spPr>
          <a:xfrm>
            <a:off x="868680" y="3511296"/>
            <a:ext cx="502920" cy="50292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Q2</a:t>
            </a:r>
            <a:endParaRPr lang="en-US" sz="1450" dirty="0"/>
          </a:p>
        </p:txBody>
      </p:sp>
      <p:sp>
        <p:nvSpPr>
          <p:cNvPr id="12" name="Text 10"/>
          <p:cNvSpPr/>
          <p:nvPr/>
        </p:nvSpPr>
        <p:spPr>
          <a:xfrm>
            <a:off x="1554480" y="3447288"/>
            <a:ext cx="9692640" cy="45720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일반 ChatGPT에 학과 정보를 물어보는 것과 뭐가 다른가요?</a:t>
            </a:r>
            <a:endParaRPr lang="en-US" sz="1400" dirty="0"/>
          </a:p>
        </p:txBody>
      </p:sp>
      <p:sp>
        <p:nvSpPr>
          <p:cNvPr id="13" name="Text 11"/>
          <p:cNvSpPr/>
          <p:nvPr/>
        </p:nvSpPr>
        <p:spPr>
          <a:xfrm>
            <a:off x="1554480" y="3886200"/>
            <a:ext cx="9692640" cy="841248"/>
          </a:xfrm>
          <a:prstGeom prst="rect">
            <a:avLst/>
          </a:prstGeom>
          <a:noFill/>
          <a:ln/>
        </p:spPr>
        <p:txBody>
          <a:bodyPr wrap="square" lIns="0" tIns="0" rIns="0" bIns="0" rtlCol="0" anchor="ctr"/>
          <a:lstStyle/>
          <a:p>
            <a:pPr indent="0" marL="0">
              <a:lnSpc>
                <a:spcPct val="122000"/>
              </a:lnSpc>
              <a:buNone/>
            </a:pPr>
            <a:r>
              <a:rPr lang="en-US" sz="1250" dirty="0">
                <a:solidFill>
                  <a:srgbClr val="18213D"/>
                </a:solidFill>
                <a:latin typeface="Calibri" pitchFamily="34" charset="0"/>
                <a:ea typeface="Calibri" pitchFamily="34" charset="-122"/>
                <a:cs typeface="Calibri" pitchFamily="34" charset="-120"/>
              </a:rPr>
              <a:t>일반 챗봇은 학과 내부 정보를 학습한 적이 없어 추측성 답변을 할 수 있습니다. 저희 챗봇은 학과 공식 문서를 검색해 근거로 삼고, 출처까지 함께 표시해 신뢰도를 높입니다.</a:t>
            </a:r>
            <a:endParaRPr lang="en-US" sz="1250" dirty="0"/>
          </a:p>
        </p:txBody>
      </p:sp>
      <p:sp>
        <p:nvSpPr>
          <p:cNvPr id="14" name="Shape 12"/>
          <p:cNvSpPr/>
          <p:nvPr/>
        </p:nvSpPr>
        <p:spPr>
          <a:xfrm>
            <a:off x="640080" y="4928616"/>
            <a:ext cx="10881360" cy="1481328"/>
          </a:xfrm>
          <a:prstGeom prst="roundRect">
            <a:avLst>
              <a:gd name="adj" fmla="val 5556"/>
            </a:avLst>
          </a:prstGeom>
          <a:solidFill>
            <a:srgbClr val="F4F7FA"/>
          </a:solidFill>
          <a:ln/>
        </p:spPr>
      </p:sp>
      <p:sp>
        <p:nvSpPr>
          <p:cNvPr id="15" name="Shape 13"/>
          <p:cNvSpPr/>
          <p:nvPr/>
        </p:nvSpPr>
        <p:spPr>
          <a:xfrm>
            <a:off x="868680" y="5129784"/>
            <a:ext cx="502920" cy="502920"/>
          </a:xfrm>
          <a:prstGeom prst="ellipse">
            <a:avLst/>
          </a:prstGeom>
          <a:solidFill>
            <a:srgbClr val="21295C"/>
          </a:solidFill>
          <a:ln/>
        </p:spPr>
      </p:sp>
      <p:sp>
        <p:nvSpPr>
          <p:cNvPr id="16" name="Text 14"/>
          <p:cNvSpPr/>
          <p:nvPr/>
        </p:nvSpPr>
        <p:spPr>
          <a:xfrm>
            <a:off x="868680" y="5129784"/>
            <a:ext cx="502920" cy="50292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Q3</a:t>
            </a:r>
            <a:endParaRPr lang="en-US" sz="1450" dirty="0"/>
          </a:p>
        </p:txBody>
      </p:sp>
      <p:sp>
        <p:nvSpPr>
          <p:cNvPr id="17" name="Text 15"/>
          <p:cNvSpPr/>
          <p:nvPr/>
        </p:nvSpPr>
        <p:spPr>
          <a:xfrm>
            <a:off x="1554480" y="5065776"/>
            <a:ext cx="9692640" cy="45720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검색된 문서가 틀렸을 땐 어떻게 되나요?</a:t>
            </a:r>
            <a:endParaRPr lang="en-US" sz="1400" dirty="0"/>
          </a:p>
        </p:txBody>
      </p:sp>
      <p:sp>
        <p:nvSpPr>
          <p:cNvPr id="18" name="Text 16"/>
          <p:cNvSpPr/>
          <p:nvPr/>
        </p:nvSpPr>
        <p:spPr>
          <a:xfrm>
            <a:off x="1554480" y="5504688"/>
            <a:ext cx="9692640" cy="841248"/>
          </a:xfrm>
          <a:prstGeom prst="rect">
            <a:avLst/>
          </a:prstGeom>
          <a:noFill/>
          <a:ln/>
        </p:spPr>
        <p:txBody>
          <a:bodyPr wrap="square" lIns="0" tIns="0" rIns="0" bIns="0" rtlCol="0" anchor="ctr"/>
          <a:lstStyle/>
          <a:p>
            <a:pPr indent="0" marL="0">
              <a:lnSpc>
                <a:spcPct val="122000"/>
              </a:lnSpc>
              <a:buNone/>
            </a:pPr>
            <a:r>
              <a:rPr lang="en-US" sz="1250" dirty="0">
                <a:solidFill>
                  <a:srgbClr val="18213D"/>
                </a:solidFill>
                <a:latin typeface="Calibri" pitchFamily="34" charset="0"/>
                <a:ea typeface="Calibri" pitchFamily="34" charset="-122"/>
                <a:cs typeface="Calibri" pitchFamily="34" charset="-120"/>
              </a:rPr>
              <a:t>CRAG의 아이디어를 적용해 검색 결과의 관련성을 먼저 평가합니다. 관련성이 낮으면 그 문서로 답하는 대신 “확인된 자료가 없습니다”로 답하거나 다시 검색하도록 설계합니다.</a:t>
            </a:r>
            <a:endParaRPr lang="en-US" sz="1250" dirty="0"/>
          </a:p>
        </p:txBody>
      </p:sp>
      <p:sp>
        <p:nvSpPr>
          <p:cNvPr id="19" name="Text 17"/>
          <p:cNvSpPr/>
          <p:nvPr/>
        </p:nvSpPr>
        <p:spPr>
          <a:xfrm>
            <a:off x="11338560" y="6400800"/>
            <a:ext cx="548640" cy="274320"/>
          </a:xfrm>
          <a:prstGeom prst="rect">
            <a:avLst/>
          </a:prstGeom>
          <a:noFill/>
          <a:ln/>
        </p:spPr>
        <p:txBody>
          <a:bodyPr wrap="square" lIns="0" tIns="0" rIns="0" bIns="0" rtlCol="0" anchor="ctr"/>
          <a:lstStyle/>
          <a:p>
            <a:pPr algn="r" indent="0" marL="0">
              <a:buNone/>
            </a:pPr>
            <a:r>
              <a:rPr lang="en-US" sz="1200" dirty="0">
                <a:solidFill>
                  <a:srgbClr val="45506B"/>
                </a:solidFill>
                <a:latin typeface="Calibri" pitchFamily="34" charset="0"/>
                <a:ea typeface="Calibri" pitchFamily="34" charset="-122"/>
                <a:cs typeface="Calibri" pitchFamily="34" charset="-120"/>
              </a:rPr>
              <a:t>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기술의 원리와 한계 개선 연구</dc:title>
  <dc:subject>PptxGenJS Presentation</dc:subject>
  <dc:creator>SE 멘토봇 팀</dc:creator>
  <cp:lastModifiedBy>SE 멘토봇 팀</cp:lastModifiedBy>
  <cp:revision>1</cp:revision>
  <dcterms:created xsi:type="dcterms:W3CDTF">2026-07-19T17:36:06Z</dcterms:created>
  <dcterms:modified xsi:type="dcterms:W3CDTF">2026-07-19T17:36:06Z</dcterms:modified>
</cp:coreProperties>
</file>