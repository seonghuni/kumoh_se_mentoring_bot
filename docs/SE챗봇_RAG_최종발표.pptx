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학과 공지와 강의 후기를 검색해서 답하는 챗봇을 만들었습니다. 오늘은 결과보다 무엇을 시도했고, 무엇이 틀렸고, 어떻게 바로잡았는지를 중심으로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답의 재료를 모델의 기억이 아니라 저희가 찾아준 문서로 제한하는 것이 핵심입니다. 그래서 근거 없는 답을 지어낼 가능성이 줄고, 공지 하나만 추가하면 그날부터 최신 정보로 답할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학과 공지가 가장 많고, 강의평은 실명 교수명이 들어 있어 외부에 공개하지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비용 때문에 gpt-4o-mini를 골랐습니다. 검색이 정확하면 생성 모델의 부담이 줄어든다고 보고, 시간을 검색 품질에 더 많이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저희는 절대 정확도를 자랑하려는 게 아닙니다. 같은 조건에서 A와 B를 비교했을 때 어느 쪽이 나은지를 데이터로 판단했다는 방법론을 먼저 말씀드립니다. [Q&amp;A 대비] 평가 문항은 LLM 생성이라 편향이 있었다. 캐물으면: 생성형으로 만들었고 편향을 발견해서 상대 비교로 전환했다고 정직하게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18개나 비교한 이유는 왜 500인가에 감으로 답하지 않기 위해서였습니다.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오버랩을 안 쓴 게 아니라, 4단계 검증 끝에 안 쓰는 게 맞다는 결론에 도달했습니다. 96개 표본을 전수 조사해서 근거 손실률이 1%대라는 걸 직접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 실험은 리랭킹이 별 효과가 없다고 나왔습니다. 하지만 재현 가능한 벤치마크로 다시 확인되지 않은 결과를 그대로 반영하지 않는다는 기준을 세웠고, 그래서 보류 상태로 남겨뒀습니다. [Q&amp;A 대비] 실제 원인은 실험 로그 유실이다. '원본 데이터를 볼 수 있나요?' 를 받으면 '실험 로그가 유실되어 재현 벤치마크를 다시 구성하고 있습니다'라고 정직하게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다 안 해봤다나 감으로 뺐다가 아닙니다. 청킹은 18개 후보를 비교해서 골랐고, 오버랩은 96개 표본을 전수 감사해서 기각했고, 리랭킹은 저희가 세운 검증 기준을 통과하지 못해서 보류했습니다. 세 결정 모두 근거를 제시할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가지 다 왜 안 되지를 추측 대신 실제 순위를 찍어서 찾은 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대화 내용을 답의 근거로 써버리면, 대화가 길어질수록 오래된 정보를 사실인 것처럼 우길 위험이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한쪽만 고치고 끝냈다면 반대쪽이 깨진 채로 넘어갈 뻔했습니다. 고친 뒤엔 반드시 반대 방향도 재확인해야 한다는 걸 여기서 배웠습니다.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보여드린 건 완성된 결과가 아니라, 저희가 세운 가설이 데이터 앞에서 어떻게 뒤집혔는지의 기록입니다.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26 여름 SIG · 최종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학과 챗봇 RAG</a:t>
            </a:r>
          </a:p>
          <a:p>
            <a:pPr algn="l">
              <a:spcAft>
                <a:spcPts val="0"/>
              </a:spcAft>
            </a:pPr>
            <a:r>
              <a:rPr sz="2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시행착오로 보는 개발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06240"/>
            <a:ext cx="3291840" cy="25400"/>
          </a:xfrm>
          <a:prstGeom prst="rect">
            <a:avLst/>
          </a:prstGeom>
          <a:solidFill>
            <a:srgbClr val="D6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금오공과대학교 컴퓨터공학부 소프트웨어전공 · 2026-09-01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1부 · RAG란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모델의 기억이 아니라, 찾아준 문서로만 답한다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2464993" cy="118872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219067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학생이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793" y="1920240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0833" y="1920240"/>
            <a:ext cx="2464993" cy="118872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7993" y="2066544"/>
            <a:ext cx="219067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관련 문서 찾기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5827" y="1920240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920240"/>
            <a:ext cx="2464993" cy="118872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2066544"/>
            <a:ext cx="219067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+ 질문 전달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LLM에게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0861" y="1920240"/>
            <a:ext cx="3200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0901" y="1920240"/>
            <a:ext cx="2464993" cy="118872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8061" y="2066544"/>
            <a:ext cx="219067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근거와 함께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A4038"/>
                </a:solidFill>
                <a:latin typeface="맑은 고딕"/>
                <a:ea typeface="맑은 고딕"/>
                <a:cs typeface="맑은 고딕"/>
              </a:rPr>
              <a:t>일반 챗봇: 학습 데이터에 없으면 모른다고 하거나 지어낸다(할루시네이션)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14800"/>
            <a:ext cx="2499283" cy="17373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14800"/>
            <a:ext cx="249928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213352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데이터 준비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공지·강의평·FAQ를 청크로 분할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9403" y="4114800"/>
            <a:ext cx="2499283" cy="17373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9403" y="4114800"/>
            <a:ext cx="249928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2283" y="4343400"/>
            <a:ext cx="213352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임베딩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청크·질문을 숫자 벡터로 변환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4114800"/>
            <a:ext cx="2499283" cy="17373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4114800"/>
            <a:ext cx="249928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5887" y="4343400"/>
            <a:ext cx="213352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가장 가까운 청크를 벡터 DB에서 탐색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611" y="4114800"/>
            <a:ext cx="2499283" cy="17373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611" y="4114800"/>
            <a:ext cx="249928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491" y="4343400"/>
            <a:ext cx="213352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청크를 근거로 LLM이 답변 작성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2부 · 데이터 ·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4개 출처, 907개 문서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920240"/>
          <a:ext cx="67665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633"/>
                <a:gridCol w="1256646"/>
                <a:gridCol w="3383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se게시판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664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 공지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에브리타임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196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강의평 · 실명 포함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FAQ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40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홈페이지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사이트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 소개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09560" y="1920240"/>
            <a:ext cx="359633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2066544"/>
            <a:ext cx="30842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907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834640"/>
            <a:ext cx="3084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3429000"/>
            <a:ext cx="359633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3575304"/>
            <a:ext cx="30842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1,549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4343400"/>
            <a:ext cx="3084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 청크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2부 · 데이터 ·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무엇으로 만들었나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1944563" cy="21945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194456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16153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Python 3.13
FastAPI 0.139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4683" y="2103120"/>
            <a:ext cx="1944563" cy="21945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4683" y="2103120"/>
            <a:ext cx="194456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9275" y="2331720"/>
            <a:ext cx="16153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임베딩/생성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text-embedding-3-small
gpt-4o-mini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3566" y="2103120"/>
            <a:ext cx="1944563" cy="21945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3566" y="2103120"/>
            <a:ext cx="194456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8158" y="2331720"/>
            <a:ext cx="16153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벡터 DB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Chroma 1.5.9
HNSW · cosine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2449" y="2103120"/>
            <a:ext cx="1944563" cy="21945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42449" y="2103120"/>
            <a:ext cx="194456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041" y="2331720"/>
            <a:ext cx="16153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Node 22
Next.js 15.5 · React 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1332" y="2103120"/>
            <a:ext cx="1944563" cy="219456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61332" y="2103120"/>
            <a:ext cx="1944563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5924" y="2331720"/>
            <a:ext cx="16153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Docker Compose
3개 컨테이너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3부 · 청킹 · 오버랩 · 리랭킹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검증 방법론 — 동일 조건 A/B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1082009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0800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31136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방법론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모든 실험은 같은 평가셋·같은 파이프라인에서 조건 하나만 바꿔 비교했다. 절대 정확도가 아니라 "이 조건이 저 조건보다 나은가"만 판단 기준으로 삼는다.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5227167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895343"/>
            <a:ext cx="47151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663439"/>
            <a:ext cx="4715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건 · 3부에서 기각/보류한 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3749039"/>
            <a:ext cx="5227167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3895343"/>
            <a:ext cx="47151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4663439"/>
            <a:ext cx="4715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건 · 4부에서 교체한 검색 로직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3부 · 청킹 · 오버랩 · 리랭킹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청킹 — 500토큰 고정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18개 전략 비교 (크기 × 분할방식 × overlap × 헤더)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331720"/>
          <a:ext cx="6766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832"/>
                <a:gridCol w="1578864"/>
                <a:gridCol w="157886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Recall@3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Recall@5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D_500 (500토큰 고정)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0.875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0.912</a:t>
                      </a:r>
                    </a:p>
                  </a:txBody>
                  <a:tcPr marL="109728" marR="109728" marT="36576" marB="36576" anchor="ctr">
                    <a:solidFill>
                      <a:srgbClr val="DCED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300토큰 고정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0.875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재귀적 분할(500)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0.838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201F"/>
                          </a:solidFill>
                          <a:latin typeface="Consolas"/>
                          <a:ea typeface="Consolas"/>
                          <a:cs typeface="Consolas"/>
                        </a:rPr>
                        <a:t>0.950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909560" y="2331720"/>
            <a:ext cx="359633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2478024"/>
            <a:ext cx="30842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3246120"/>
            <a:ext cx="3084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토큰 고정 채택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931920"/>
            <a:ext cx="3596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크기를 줄이면 문맥 부족,
키우면 검색 정밀도 하락
— 500이 균형점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3부 · 청킹 · 오버랩 · 리랭킹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오버랩 — 4단계 검증으로 기각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795528" y="2020823"/>
            <a:ext cx="457200" cy="457200"/>
          </a:xfrm>
          <a:prstGeom prst="ellipse">
            <a:avLst/>
          </a:prstGeom>
          <a:solidFill>
            <a:srgbClr val="66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2082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9383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1 · 구현 정합성 검사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적용률 15~30%만 확인 → 84~85%로 재구현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843783"/>
            <a:ext cx="457200" cy="457200"/>
          </a:xfrm>
          <a:prstGeom prst="ellipse">
            <a:avLst/>
          </a:prstGeom>
          <a:solidFill>
            <a:srgbClr val="66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437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52343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2 · 원인 가설 검증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"문서 미분할" 가설 기각 — 실제 41.6% 분할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20439"/>
            <a:ext cx="6675120" cy="749808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8" y="3666743"/>
            <a:ext cx="457200" cy="45720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6667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75303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 · 근거 경계 감사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96개 표본 전수 조사 → 경계 손실 1건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89703"/>
            <a:ext cx="457200" cy="457200"/>
          </a:xfrm>
          <a:prstGeom prst="ellipse">
            <a:avLst/>
          </a:prstGeom>
          <a:solidFill>
            <a:srgbClr val="667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8970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98263"/>
            <a:ext cx="5760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4 · 대체 요인 통제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헤더 기여도 재현 시험 실패 → 철회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331720"/>
            <a:ext cx="3596335" cy="13716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478024"/>
            <a:ext cx="308427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1.04%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246120"/>
            <a:ext cx="3084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96건 중 경계 손실률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931920"/>
            <a:ext cx="35963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도입 비용 대비
개선 여지가
통계적으로
무의미한 수준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3부 · 청킹 · 오버랩 · 리랭킹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리랭킹 — 재현 기준 미충족으로 보류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1차 검색 후보를 2차 모델로 재정렬 → 1차 실험: 개선 없음, 지연 +2.2초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51760"/>
            <a:ext cx="10820095" cy="146304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51760"/>
            <a:ext cx="50800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9776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채택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재현 가능한 벤치마크로 재확인되지 않은 결과는 프로덕션에 반영하지 않는다. 리랭킹 설정을 포함해 재현 벤치마크를 재구성하는 중이며, 그 전까지는 도입하지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05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→ 리랭킹 보류. "효과 없다"를 결론으로 내세우는 대신, 검증 기준을 통과 못 한 채택은 하지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3부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청킹 500 / 오버랩 X / 리랭킹 보류 — 셋 다 데이터로 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3454298" cy="2743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454298" cy="508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04288"/>
            <a:ext cx="305196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청킹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채택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18종 비교 중 Recall@3 최고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500토큰 고정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8698" y="2103120"/>
            <a:ext cx="3454298" cy="2743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698" y="2103120"/>
            <a:ext cx="3454298" cy="50800"/>
          </a:xfrm>
          <a:prstGeom prst="rect">
            <a:avLst/>
          </a:prstGeom>
          <a:solidFill>
            <a:srgbClr val="AA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9866" y="2304288"/>
            <a:ext cx="305196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오버랩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미채택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96건 전수 감사 · 손실률 1.04%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AA4038"/>
                </a:solidFill>
                <a:latin typeface="맑은 고딕"/>
                <a:ea typeface="맑은 고딕"/>
                <a:cs typeface="맑은 고딕"/>
              </a:rPr>
              <a:t>통계적으로 무의미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596" y="2103120"/>
            <a:ext cx="3454298" cy="27432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1596" y="2103120"/>
            <a:ext cx="3454298" cy="50800"/>
          </a:xfrm>
          <a:prstGeom prst="rect">
            <a:avLst/>
          </a:prstGeom>
          <a:solidFill>
            <a:srgbClr val="5B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2764" y="2304288"/>
            <a:ext cx="305196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리랭킹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재현 벤치마크 기준 미충족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5B3E8A"/>
                </a:solidFill>
                <a:latin typeface="맑은 고딕"/>
                <a:ea typeface="맑은 고딕"/>
                <a:cs typeface="맑은 고딕"/>
              </a:rPr>
              <a:t>재구성 후 재평가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4부 · 검색정확도 ·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추측하지 않고 순위를 직접 찍어봤다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920240"/>
          <a:ext cx="1082009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109728" marR="109728" marT="36576" marB="36576" anchor="ctr"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장학금 검색 안 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정답이 33위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100개로 확대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"MT" 검색 실패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프로그램과 혼동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추가 +13%p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 필터 위험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틀리면 정답 통째 배제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필터 제거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옛 공지 우선 노출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일상어 ≠ 공지 어투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 어투로 변환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학과명 붙여 실패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소개 문서가 가림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20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모호한 약어에만 적용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4부 · 검색정확도 ·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프롬프트 전략 — 검색 계획기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393338" cy="109728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3119018" cy="822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9138" y="1920240"/>
            <a:ext cx="320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1920240"/>
            <a:ext cx="3393338" cy="109728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6338" y="2066544"/>
            <a:ext cx="3119018" cy="822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 계획기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LLM이 재작성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2516" y="1920240"/>
            <a:ext cx="320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2556" y="1920240"/>
            <a:ext cx="3393338" cy="109728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9716" y="2066544"/>
            <a:ext cx="3119018" cy="822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검색용 질의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+ 대화 맥락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83280"/>
            <a:ext cx="10820095" cy="1371600"/>
          </a:xfrm>
          <a:prstGeom prst="rect">
            <a:avLst/>
          </a:prstGeom>
          <a:solidFill>
            <a:srgbClr val="F2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0271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01F"/>
                </a:solidFill>
                <a:latin typeface="Consolas"/>
                <a:ea typeface="Consolas"/>
                <a:cs typeface="Consolas"/>
              </a:rPr>
              <a:t>"수강지도 상담은 언제야?" → "그럼 승인 안 되면?"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0E7C86"/>
                </a:solidFill>
                <a:latin typeface="Consolas"/>
                <a:ea typeface="Consolas"/>
                <a:cs typeface="Consolas"/>
              </a:rPr>
              <a:t>재작성: "수강지도 상담 미승인 시 수강신청 제한"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29200"/>
            <a:ext cx="10820095" cy="105156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029200"/>
            <a:ext cx="50800" cy="10515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57216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핵심 원칙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3628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이전 대화는 검색 대상을 정할 때만 쓰고, 사실의 근거로는 쓰지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4부 · 검색정확도 ·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답변 규칙 — 근거 없으면 답하지 않는다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66746F"/>
                </a:solidFill>
                <a:latin typeface="맑은 고딕"/>
                <a:ea typeface="맑은 고딕"/>
                <a:cs typeface="맑은 고딕"/>
              </a:rPr>
              <a:t>규칙을 세게 걸었다가 → 답할 수 있는 질문도 거부 → 반례 추가로 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5227167" cy="18288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89504"/>
            <a:ext cx="47151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114800"/>
            <a:ext cx="4715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환각 건수 (이전: 있었음)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743200"/>
            <a:ext cx="5227167" cy="1828800"/>
          </a:xfrm>
          <a:prstGeom prst="rect">
            <a:avLst/>
          </a:prstGeom>
          <a:solidFill>
            <a:srgbClr val="D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759" y="2889504"/>
            <a:ext cx="471510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759" y="4114800"/>
            <a:ext cx="4715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과잉거부 (이전: 5/12)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검증이 곧 실력이다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0584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D6DEDE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82009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9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표준 기법도 우리 데이터로 재검증한다 — 오버랩 96건 전수 감사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9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한쪽을 고치면 반대쪽도 반드시 재확인한다 — 답변 규칙 균형 조정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9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✓  </a:t>
            </a:r>
            <a:r>
              <a:rPr sz="1900" b="0">
                <a:solidFill>
                  <a:srgbClr val="16201F"/>
                </a:solidFill>
                <a:latin typeface="맑은 고딕"/>
                <a:ea typeface="맑은 고딕"/>
                <a:cs typeface="맑은 고딕"/>
              </a:rPr>
              <a:t>재현되지 않는 결과는 채택하지 않는다 — 리랭킹 보류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463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E7C86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