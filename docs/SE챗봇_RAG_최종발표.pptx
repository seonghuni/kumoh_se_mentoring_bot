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학과 공지와 강의 후기를 검색해서 답하는 챗봇을 만들었습니다. 오늘은 결과보다 무엇을 시도했고, 무엇이 틀렸고, 어떻게 바로잡았는지를 중심으로 말씀드리겠습니다.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답의 재료를 모델의 기억이 아니라 저희가 찾아준 문서로 제한하는 것이 핵심입니다. 그래서 근거 없는 답을 지어낼 가능성이 줄고, 공지 하나만 추가하면 그날부터 최신 정보로 답할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학과 공지가 가장 많고, 강의평은 실명 교수명이 들어 있어 외부에 공개하지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비용 때문에 gpt-4o-mini를 골랐습니다. 검색이 정확하면 생성 모델의 부담이 줄어든다고 보고, 시간을 검색 품질에 더 많이 썼습니다.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뒤로 나오는 모든 수치는 절대적인 정확도가 아니라 이 방식이 저 방식보다 나았다는 비교입니다. 이 점을 먼저 말씀드리고 싶었습니다.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18개나 비교한 이유는 왜 500인가에 감으로 답하지 않기 위해서였습니다.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공지문은 소설과 달리 문단이 서로 독립적이라, overlap이 필요한 상황 자체가 우리 데이터엔 거의 없었습니다.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솔직히 말씀드리면 이 프로젝트에서 유일하게 결론이 완전히 확정되지 않은 항목입니다.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정리하면 이렇습니다. 셋 다 해봤는데 필요 없더라가 아니라, 각각 왜 필요 없었는지 데이터로 확인했다는 점이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가지 다 왜 안 되지를 추측 대신 실제 순위를 찍어서 찾은 원인입니다.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대화 내용을 답의 근거로 써버리면, 대화가 길어질수록 오래된 정보를 사실인 것처럼 우길 위험이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한쪽만 고치고 끝냈다면 반대쪽이 깨진 채로 넘어갈 뻔했습니다. 고친 뒤엔 반드시 반대 방향도 재확인해야 한다는 걸 여기서 배웠습니다.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보여드린 건 완성된 결과가 아니라, 저희가 세운 가설이 데이터 앞에서 어떻게 뒤집혔는지의 기록입니다.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26 여름 SIG · 최종 발표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학과 챗봇 RAG</a:t>
            </a:r>
          </a:p>
          <a:p>
            <a:pPr algn="l">
              <a:spcAft>
                <a:spcPts val="0"/>
              </a:spcAft>
            </a:pPr>
            <a:r>
              <a:rPr sz="26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시행착오로 보는 개발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4206240"/>
            <a:ext cx="3291840" cy="25400"/>
          </a:xfrm>
          <a:prstGeom prst="rect">
            <a:avLst/>
          </a:prstGeom>
          <a:solidFill>
            <a:srgbClr val="D6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3891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금오공과대학교 컴퓨터공학부 소프트웨어전공 · 2026-09-01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1부 · RAG란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200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모델의 기억이 아니라, 찾아준 문서로만 답한다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0584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D6DEDE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2464993" cy="1188720"/>
          </a:xfrm>
          <a:prstGeom prst="rect">
            <a:avLst/>
          </a:prstGeom>
          <a:solidFill>
            <a:srgbClr val="D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66544"/>
            <a:ext cx="219067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질문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학생이 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0793" y="1920240"/>
            <a:ext cx="32004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0833" y="1920240"/>
            <a:ext cx="2464993" cy="1188720"/>
          </a:xfrm>
          <a:prstGeom prst="rect">
            <a:avLst/>
          </a:prstGeom>
          <a:solidFill>
            <a:srgbClr val="F2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7993" y="2066544"/>
            <a:ext cx="219067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검색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관련 문서 찾기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35827" y="1920240"/>
            <a:ext cx="32004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5867" y="1920240"/>
            <a:ext cx="2464993" cy="1188720"/>
          </a:xfrm>
          <a:prstGeom prst="rect">
            <a:avLst/>
          </a:prstGeom>
          <a:solidFill>
            <a:srgbClr val="D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66544"/>
            <a:ext cx="219067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+ 질문 전달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LLM에게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20861" y="1920240"/>
            <a:ext cx="32004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40901" y="1920240"/>
            <a:ext cx="2464993" cy="1188720"/>
          </a:xfrm>
          <a:prstGeom prst="rect">
            <a:avLst/>
          </a:prstGeom>
          <a:solidFill>
            <a:srgbClr val="F2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8061" y="2066544"/>
            <a:ext cx="219067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답변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근거와 함께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42900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AA4038"/>
                </a:solidFill>
                <a:latin typeface="맑은 고딕"/>
                <a:ea typeface="맑은 고딕"/>
                <a:cs typeface="맑은 고딕"/>
              </a:rPr>
              <a:t>일반 챗봇: 학습 데이터에 없으면 모른다고 하거나 지어낸다(할루시네이션)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114800"/>
            <a:ext cx="2499283" cy="1737360"/>
          </a:xfrm>
          <a:prstGeom prst="rect">
            <a:avLst/>
          </a:prstGeom>
          <a:solidFill>
            <a:srgbClr val="F2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4114800"/>
            <a:ext cx="2499283" cy="50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343400"/>
            <a:ext cx="213352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E7C86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데이터 준비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공지·강의평·FAQ를 청크로 분할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59403" y="4114800"/>
            <a:ext cx="2499283" cy="1737360"/>
          </a:xfrm>
          <a:prstGeom prst="rect">
            <a:avLst/>
          </a:prstGeom>
          <a:solidFill>
            <a:srgbClr val="F2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59403" y="4114800"/>
            <a:ext cx="2499283" cy="50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42283" y="4343400"/>
            <a:ext cx="213352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E7C86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임베딩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청크·질문을 숫자 벡터로 변환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4114800"/>
            <a:ext cx="2499283" cy="1737360"/>
          </a:xfrm>
          <a:prstGeom prst="rect">
            <a:avLst/>
          </a:prstGeom>
          <a:solidFill>
            <a:srgbClr val="F2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3007" y="4114800"/>
            <a:ext cx="2499283" cy="50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5887" y="4343400"/>
            <a:ext cx="213352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E7C86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검색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가장 가까운 청크를 벡터 DB에서 탐색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611" y="4114800"/>
            <a:ext cx="2499283" cy="1737360"/>
          </a:xfrm>
          <a:prstGeom prst="rect">
            <a:avLst/>
          </a:prstGeom>
          <a:solidFill>
            <a:srgbClr val="F2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06611" y="4114800"/>
            <a:ext cx="2499283" cy="50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9491" y="4343400"/>
            <a:ext cx="213352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E7C86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생성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청크를 근거로 LLM이 답변 작성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2부 · 데이터 · 환경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200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4개 출처, 907개 문서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0584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D6DEDE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920240"/>
          <a:ext cx="676655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6633"/>
                <a:gridCol w="1256646"/>
                <a:gridCol w="33832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marL="109728" marR="109728" marT="36576" marB="36576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수</a:t>
                      </a:r>
                    </a:p>
                  </a:txBody>
                  <a:tcPr marL="109728" marR="109728" marT="36576" marB="36576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marL="109728" marR="109728" marT="36576" marB="36576" anchor="ctr">
                    <a:solidFill>
                      <a:srgbClr val="0E7C8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se게시판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201F"/>
                          </a:solidFill>
                          <a:latin typeface="Consolas"/>
                          <a:ea typeface="Consolas"/>
                          <a:cs typeface="Consolas"/>
                        </a:rPr>
                        <a:t>664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학과 공지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에브리타임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201F"/>
                          </a:solidFill>
                          <a:latin typeface="Consolas"/>
                          <a:ea typeface="Consolas"/>
                          <a:cs typeface="Consolas"/>
                        </a:rPr>
                        <a:t>196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강의평 · 실명 포함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 FAQ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201F"/>
                          </a:solidFill>
                          <a:latin typeface="Consolas"/>
                          <a:ea typeface="Consolas"/>
                          <a:cs typeface="Consolas"/>
                        </a:rPr>
                        <a:t>40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홈페이지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공식 사이트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201F"/>
                          </a:solidFill>
                          <a:latin typeface="Consolas"/>
                          <a:ea typeface="Consolas"/>
                          <a:cs typeface="Consolas"/>
                        </a:rPr>
                        <a:t>7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학과 소개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09560" y="1920240"/>
            <a:ext cx="3596335" cy="1371600"/>
          </a:xfrm>
          <a:prstGeom prst="rect">
            <a:avLst/>
          </a:prstGeom>
          <a:solidFill>
            <a:srgbClr val="D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65592" y="2066544"/>
            <a:ext cx="308427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600" b="1">
                <a:solidFill>
                  <a:srgbClr val="0E7C86"/>
                </a:solidFill>
                <a:latin typeface="Consolas"/>
                <a:ea typeface="Consolas"/>
                <a:cs typeface="Consolas"/>
              </a:rPr>
              <a:t>907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834640"/>
            <a:ext cx="308427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09560" y="3429000"/>
            <a:ext cx="3596335" cy="1371600"/>
          </a:xfrm>
          <a:prstGeom prst="rect">
            <a:avLst/>
          </a:prstGeom>
          <a:solidFill>
            <a:srgbClr val="D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65592" y="3575304"/>
            <a:ext cx="308427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600" b="1">
                <a:solidFill>
                  <a:srgbClr val="0E7C86"/>
                </a:solidFill>
                <a:latin typeface="Consolas"/>
                <a:ea typeface="Consolas"/>
                <a:cs typeface="Consolas"/>
              </a:rPr>
              <a:t>1,549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4343400"/>
            <a:ext cx="308427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검색 청크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2부 · 데이터 · 환경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200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무엇으로 만들었나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0584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D6DEDE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03120"/>
            <a:ext cx="1944563" cy="2194560"/>
          </a:xfrm>
          <a:prstGeom prst="rect">
            <a:avLst/>
          </a:prstGeom>
          <a:solidFill>
            <a:srgbClr val="F2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03120"/>
            <a:ext cx="1944563" cy="50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331720"/>
            <a:ext cx="161537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5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백엔드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Python 3.13
FastAPI 0.139</a:t>
            </a:r>
          </a:p>
        </p:txBody>
      </p:sp>
      <p:sp>
        <p:nvSpPr>
          <p:cNvPr id="9" name="Rectangle 8"/>
          <p:cNvSpPr/>
          <p:nvPr/>
        </p:nvSpPr>
        <p:spPr>
          <a:xfrm>
            <a:off x="2904683" y="2103120"/>
            <a:ext cx="1944563" cy="2194560"/>
          </a:xfrm>
          <a:prstGeom prst="rect">
            <a:avLst/>
          </a:prstGeom>
          <a:solidFill>
            <a:srgbClr val="F2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04683" y="2103120"/>
            <a:ext cx="1944563" cy="50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9275" y="2331720"/>
            <a:ext cx="161537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5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임베딩/생성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text-embedding-3-small
gpt-4o-mini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3566" y="2103120"/>
            <a:ext cx="1944563" cy="2194560"/>
          </a:xfrm>
          <a:prstGeom prst="rect">
            <a:avLst/>
          </a:prstGeom>
          <a:solidFill>
            <a:srgbClr val="F2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3566" y="2103120"/>
            <a:ext cx="1944563" cy="50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88158" y="2331720"/>
            <a:ext cx="161537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5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벡터 DB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Chroma 1.5.9
HNSW · cosine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42449" y="2103120"/>
            <a:ext cx="1944563" cy="2194560"/>
          </a:xfrm>
          <a:prstGeom prst="rect">
            <a:avLst/>
          </a:prstGeom>
          <a:solidFill>
            <a:srgbClr val="F2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42449" y="2103120"/>
            <a:ext cx="1944563" cy="50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07041" y="2331720"/>
            <a:ext cx="161537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5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프론트엔드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Node 22
Next.js 15.5 · React 19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61332" y="2103120"/>
            <a:ext cx="1944563" cy="2194560"/>
          </a:xfrm>
          <a:prstGeom prst="rect">
            <a:avLst/>
          </a:prstGeom>
          <a:solidFill>
            <a:srgbClr val="F2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61332" y="2103120"/>
            <a:ext cx="1944563" cy="50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25924" y="2331720"/>
            <a:ext cx="161537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5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배포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Docker Compose
3개 컨테이너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3부 · 청킹 · 오버랩 · 리랭킹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200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수치를 보는 방법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0584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D6DEDE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03120"/>
            <a:ext cx="10820095" cy="1188720"/>
          </a:xfrm>
          <a:prstGeom prst="rect">
            <a:avLst/>
          </a:prstGeom>
          <a:solidFill>
            <a:srgbClr val="D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03120"/>
            <a:ext cx="50800" cy="118872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31136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원칙 1 · 절대 수치를 주장하지 않는다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평가 문항이 LLM 생성이라 편향이 있었다. 그래서 같은 평가셋으로 잰 상대 비교로만 쓴다.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20440"/>
            <a:ext cx="10820095" cy="1188720"/>
          </a:xfrm>
          <a:prstGeom prst="rect">
            <a:avLst/>
          </a:prstGeom>
          <a:solidFill>
            <a:srgbClr val="F2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520440"/>
            <a:ext cx="50800" cy="1188720"/>
          </a:xfrm>
          <a:prstGeom prst="rect">
            <a:avLst/>
          </a:prstGeom>
          <a:solidFill>
            <a:srgbClr val="667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48456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원칙 2 · 숫자보다 확실한 증거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59352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실제로 챗봇을 돌려보는 시연이 어떤 표보다 신뢰할 수 있는 증거다.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3부 · 청킹 · 오버랩 · 리랭킹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200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청킹 — 500토큰 고정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0584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D6DEDE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18개 전략 비교 (크기 × 분할방식 × overlap × 헤더)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331720"/>
          <a:ext cx="676656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8832"/>
                <a:gridCol w="1578864"/>
                <a:gridCol w="1578864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실험</a:t>
                      </a:r>
                    </a:p>
                  </a:txBody>
                  <a:tcPr marL="109728" marR="109728" marT="36576" marB="36576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Recall@3</a:t>
                      </a:r>
                    </a:p>
                  </a:txBody>
                  <a:tcPr marL="109728" marR="109728" marT="36576" marB="36576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Recall@5</a:t>
                      </a:r>
                    </a:p>
                  </a:txBody>
                  <a:tcPr marL="109728" marR="109728" marT="36576" marB="36576" anchor="ctr">
                    <a:solidFill>
                      <a:srgbClr val="0E7C8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D_500 (500토큰 고정)</a:t>
                      </a:r>
                    </a:p>
                  </a:txBody>
                  <a:tcPr marL="109728" marR="109728" marT="36576" marB="36576" anchor="ctr">
                    <a:solidFill>
                      <a:srgbClr val="DCE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16201F"/>
                          </a:solidFill>
                          <a:latin typeface="Consolas"/>
                          <a:ea typeface="Consolas"/>
                          <a:cs typeface="Consolas"/>
                        </a:rPr>
                        <a:t>0.875</a:t>
                      </a:r>
                    </a:p>
                  </a:txBody>
                  <a:tcPr marL="109728" marR="109728" marT="36576" marB="36576" anchor="ctr">
                    <a:solidFill>
                      <a:srgbClr val="DCE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16201F"/>
                          </a:solidFill>
                          <a:latin typeface="Consolas"/>
                          <a:ea typeface="Consolas"/>
                          <a:cs typeface="Consolas"/>
                        </a:rPr>
                        <a:t>0.912</a:t>
                      </a:r>
                    </a:p>
                  </a:txBody>
                  <a:tcPr marL="109728" marR="109728" marT="36576" marB="36576" anchor="ctr">
                    <a:solidFill>
                      <a:srgbClr val="DCED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300토큰 고정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201F"/>
                          </a:solidFill>
                          <a:latin typeface="Consolas"/>
                          <a:ea typeface="Consolas"/>
                          <a:cs typeface="Consolas"/>
                        </a:rPr>
                        <a:t>0.800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201F"/>
                          </a:solidFill>
                          <a:latin typeface="Consolas"/>
                          <a:ea typeface="Consolas"/>
                          <a:cs typeface="Consolas"/>
                        </a:rPr>
                        <a:t>0.875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재귀적 분할(500)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201F"/>
                          </a:solidFill>
                          <a:latin typeface="Consolas"/>
                          <a:ea typeface="Consolas"/>
                          <a:cs typeface="Consolas"/>
                        </a:rPr>
                        <a:t>0.838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201F"/>
                          </a:solidFill>
                          <a:latin typeface="Consolas"/>
                          <a:ea typeface="Consolas"/>
                          <a:cs typeface="Consolas"/>
                        </a:rPr>
                        <a:t>0.950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909560" y="2331720"/>
            <a:ext cx="3596335" cy="1371600"/>
          </a:xfrm>
          <a:prstGeom prst="rect">
            <a:avLst/>
          </a:prstGeom>
          <a:solidFill>
            <a:srgbClr val="D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65592" y="2478024"/>
            <a:ext cx="308427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>
                <a:solidFill>
                  <a:srgbClr val="0E7C86"/>
                </a:solidFill>
                <a:latin typeface="Consolas"/>
                <a:ea typeface="Consolas"/>
                <a:cs typeface="Consolas"/>
              </a:rPr>
              <a:t>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5592" y="3246120"/>
            <a:ext cx="308427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토큰 고정 채택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3931920"/>
            <a:ext cx="35963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크기를 줄이면 문맥 부족,
키우면 검색 정밀도 하락
— 500이 균형점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3부 · 청킹 · 오버랩 · 리랭킹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200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오버랩 — 네 번의 반전 끝에 미사용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0584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D6DEDE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6" name="Oval 5"/>
          <p:cNvSpPr/>
          <p:nvPr/>
        </p:nvSpPr>
        <p:spPr>
          <a:xfrm>
            <a:off x="795528" y="2020823"/>
            <a:ext cx="457200" cy="457200"/>
          </a:xfrm>
          <a:prstGeom prst="ellipse">
            <a:avLst/>
          </a:prstGeom>
          <a:solidFill>
            <a:srgbClr val="667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020823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929383"/>
            <a:ext cx="57607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반전 1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구현 버그로 적용률 15~30%뿐. 고쳐도 성능 그대로</a:t>
            </a:r>
          </a:p>
        </p:txBody>
      </p:sp>
      <p:sp>
        <p:nvSpPr>
          <p:cNvPr id="9" name="Oval 8"/>
          <p:cNvSpPr/>
          <p:nvPr/>
        </p:nvSpPr>
        <p:spPr>
          <a:xfrm>
            <a:off x="795528" y="2843783"/>
            <a:ext cx="457200" cy="457200"/>
          </a:xfrm>
          <a:prstGeom prst="ellipse">
            <a:avLst/>
          </a:prstGeom>
          <a:solidFill>
            <a:srgbClr val="667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843783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52343"/>
            <a:ext cx="57607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반전 2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"문서가 안 잘림" 설명 오류 — 실제 41.6% 분할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20439"/>
            <a:ext cx="6675120" cy="749808"/>
          </a:xfrm>
          <a:prstGeom prst="rect">
            <a:avLst/>
          </a:prstGeom>
          <a:solidFill>
            <a:srgbClr val="D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95528" y="3666743"/>
            <a:ext cx="457200" cy="457200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3666743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575303"/>
            <a:ext cx="57607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반전 3 · 핵심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근거 문장이 경계에 걸린 경우 96건 중 1건</a:t>
            </a:r>
          </a:p>
        </p:txBody>
      </p:sp>
      <p:sp>
        <p:nvSpPr>
          <p:cNvPr id="16" name="Oval 15"/>
          <p:cNvSpPr/>
          <p:nvPr/>
        </p:nvSpPr>
        <p:spPr>
          <a:xfrm>
            <a:off x="795528" y="4489703"/>
            <a:ext cx="457200" cy="457200"/>
          </a:xfrm>
          <a:prstGeom prst="ellipse">
            <a:avLst/>
          </a:prstGeom>
          <a:solidFill>
            <a:srgbClr val="667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4489703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98263"/>
            <a:ext cx="57607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반전 4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"헤더 효과" 주장도 재현 안 돼 철회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09560" y="2331720"/>
            <a:ext cx="3596335" cy="1371600"/>
          </a:xfrm>
          <a:prstGeom prst="rect">
            <a:avLst/>
          </a:prstGeom>
          <a:solidFill>
            <a:srgbClr val="D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5592" y="2478024"/>
            <a:ext cx="308427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0E7C86"/>
                </a:solidFill>
                <a:latin typeface="Consolas"/>
                <a:ea typeface="Consolas"/>
                <a:cs typeface="Consolas"/>
              </a:rPr>
              <a:t>96건 중 1건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5592" y="3246120"/>
            <a:ext cx="308427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경계에 걸린 근거 문장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931920"/>
            <a:ext cx="359633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overlap은 그 1건을
100% 복구했다.
효과가 없던 게 아니라
기회가 없었을 뿐.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3부 · 청킹 · 오버랩 · 리랭킹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200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리랭킹 — 미사용, 단 근거는 불완전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0584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D6DEDE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1차 검색 후보를 2차 모델로 재정렬 → 개선 미미, 지연 +2.2초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51760"/>
            <a:ext cx="658368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600" b="0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6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실험 원본 데이터 유실 — 측정 문항 수 확인 불가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600" b="0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6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입력 길이(max_length) 설정 오류 가능성 재검증 못함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97680"/>
            <a:ext cx="10820095" cy="1143000"/>
          </a:xfrm>
          <a:prstGeom prst="rect">
            <a:avLst/>
          </a:prstGeom>
          <a:solidFill>
            <a:srgbClr val="ECE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4297680"/>
            <a:ext cx="50800" cy="1143000"/>
          </a:xfrm>
          <a:prstGeom prst="rect">
            <a:avLst/>
          </a:prstGeom>
          <a:solidFill>
            <a:srgbClr val="5B3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25696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B3E8A"/>
                </a:solidFill>
                <a:latin typeface="맑은 고딕"/>
                <a:ea typeface="맑은 고딕"/>
                <a:cs typeface="맑은 고딕"/>
              </a:rPr>
              <a:t>이 프로젝트에서 유일하게 확정되지 않은 결론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36592"/>
            <a:ext cx="1036289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근거 자료가 남아 있지 않아, 재검증 전까지는 "현재 설정 기준"이라는 단서를 붙인다.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3부 ·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200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최종 채택 — 청킹 500 / 오버랩 X / 리랭킹 X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0584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D6DEDE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03120"/>
            <a:ext cx="3454298" cy="2743200"/>
          </a:xfrm>
          <a:prstGeom prst="rect">
            <a:avLst/>
          </a:prstGeom>
          <a:solidFill>
            <a:srgbClr val="F2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03120"/>
            <a:ext cx="3454298" cy="508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04288"/>
            <a:ext cx="305196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청킹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500토큰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18종 비교 중 Recall@3 최고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2E7D5B"/>
                </a:solidFill>
                <a:latin typeface="맑은 고딕"/>
                <a:ea typeface="맑은 고딕"/>
                <a:cs typeface="맑은 고딕"/>
              </a:rPr>
              <a:t>채택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8698" y="2103120"/>
            <a:ext cx="3454298" cy="2743200"/>
          </a:xfrm>
          <a:prstGeom prst="rect">
            <a:avLst/>
          </a:prstGeom>
          <a:solidFill>
            <a:srgbClr val="F2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68698" y="2103120"/>
            <a:ext cx="3454298" cy="50800"/>
          </a:xfrm>
          <a:prstGeom prst="rect">
            <a:avLst/>
          </a:prstGeom>
          <a:solidFill>
            <a:srgbClr val="AA4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9866" y="2304288"/>
            <a:ext cx="305196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오버랩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미사용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경계 걸림 96건 중 1건뿐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AA4038"/>
                </a:solidFill>
                <a:latin typeface="맑은 고딕"/>
                <a:ea typeface="맑은 고딕"/>
                <a:cs typeface="맑은 고딕"/>
              </a:rPr>
              <a:t>미채택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51596" y="2103120"/>
            <a:ext cx="3454298" cy="2743200"/>
          </a:xfrm>
          <a:prstGeom prst="rect">
            <a:avLst/>
          </a:prstGeom>
          <a:solidFill>
            <a:srgbClr val="F2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51596" y="2103120"/>
            <a:ext cx="3454298" cy="50800"/>
          </a:xfrm>
          <a:prstGeom prst="rect">
            <a:avLst/>
          </a:prstGeom>
          <a:solidFill>
            <a:srgbClr val="5B3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2764" y="2304288"/>
            <a:ext cx="305196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리랭킹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미사용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2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개선 미미 + 지연 증가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5B3E8A"/>
                </a:solidFill>
                <a:latin typeface="맑은 고딕"/>
                <a:ea typeface="맑은 고딕"/>
                <a:cs typeface="맑은 고딕"/>
              </a:rPr>
              <a:t>미채택 (재검증 필요)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4부 · 검색정확도 · 프롬프트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200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추측하지 않고 순위를 직접 찍어봤다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0584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D6DEDE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920240"/>
          <a:ext cx="10820094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6698"/>
                <a:gridCol w="3606698"/>
                <a:gridCol w="3606698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증상</a:t>
                      </a:r>
                    </a:p>
                  </a:txBody>
                  <a:tcPr marL="109728" marR="109728" marT="36576" marB="36576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109728" marR="109728" marT="36576" marB="36576" anchor="ctr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조치</a:t>
                      </a:r>
                    </a:p>
                  </a:txBody>
                  <a:tcPr marL="109728" marR="109728" marT="36576" marB="36576" anchor="ctr">
                    <a:solidFill>
                      <a:srgbClr val="0E7C8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장학금 검색 안 됨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정답이 33위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100개로 확대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"MT" 검색 실패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다른 프로그램과 혼동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 추가 +13%p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 필터 위험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틀리면 정답 통째 배제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 제거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옛 공지 우선 노출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일상어 ≠ 공지 어투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공지 어투로 변환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학과명 붙여 실패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소개 문서가 가림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6201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모호한 약어에만 적용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4부 · 검색정확도 · 프롬프트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200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프롬프트 전략 — 검색 계획기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0584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D6DEDE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3393338" cy="1097280"/>
          </a:xfrm>
          <a:prstGeom prst="rect">
            <a:avLst/>
          </a:prstGeom>
          <a:solidFill>
            <a:srgbClr val="D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66544"/>
            <a:ext cx="3119018" cy="8229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질문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79138" y="1920240"/>
            <a:ext cx="3200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399178" y="1920240"/>
            <a:ext cx="3393338" cy="1097280"/>
          </a:xfrm>
          <a:prstGeom prst="rect">
            <a:avLst/>
          </a:prstGeom>
          <a:solidFill>
            <a:srgbClr val="F2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6338" y="2066544"/>
            <a:ext cx="3119018" cy="8229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검색 계획기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LLM이 재작성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2516" y="1920240"/>
            <a:ext cx="3200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12556" y="1920240"/>
            <a:ext cx="3393338" cy="1097280"/>
          </a:xfrm>
          <a:prstGeom prst="rect">
            <a:avLst/>
          </a:prstGeom>
          <a:solidFill>
            <a:srgbClr val="D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9716" y="2066544"/>
            <a:ext cx="3119018" cy="8229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검색용 질의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+ 대화 맥락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383280"/>
            <a:ext cx="10820095" cy="1371600"/>
          </a:xfrm>
          <a:prstGeom prst="rect">
            <a:avLst/>
          </a:prstGeom>
          <a:solidFill>
            <a:srgbClr val="F2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566160"/>
            <a:ext cx="102714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6201F"/>
                </a:solidFill>
                <a:latin typeface="Consolas"/>
                <a:ea typeface="Consolas"/>
                <a:cs typeface="Consolas"/>
              </a:rPr>
              <a:t>"수강지도 상담은 언제야?" → "그럼 승인 안 되면?"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0E7C86"/>
                </a:solidFill>
                <a:latin typeface="Consolas"/>
                <a:ea typeface="Consolas"/>
                <a:cs typeface="Consolas"/>
              </a:rPr>
              <a:t>재작성: "수강지도 상담 미승인 시 수강신청 제한"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029200"/>
            <a:ext cx="10820095" cy="1051560"/>
          </a:xfrm>
          <a:prstGeom prst="rect">
            <a:avLst/>
          </a:prstGeom>
          <a:solidFill>
            <a:srgbClr val="D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5029200"/>
            <a:ext cx="50800" cy="10515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157216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핵심 원칙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68112"/>
            <a:ext cx="103628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이전 대화는 검색 대상을 정할 때만 쓰고, 사실의 근거로는 쓰지 않는다.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4부 · 검색정확도 · 프롬프트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200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답변 규칙 — 근거 없으면 답하지 않는다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0584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D6DEDE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66746F"/>
                </a:solidFill>
                <a:latin typeface="맑은 고딕"/>
                <a:ea typeface="맑은 고딕"/>
                <a:cs typeface="맑은 고딕"/>
              </a:rPr>
              <a:t>규칙을 세게 걸었다가 → 답할 수 있는 질문도 거부 → 반례 추가로 균형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743200"/>
            <a:ext cx="5227167" cy="1828800"/>
          </a:xfrm>
          <a:prstGeom prst="rect">
            <a:avLst/>
          </a:prstGeom>
          <a:solidFill>
            <a:srgbClr val="D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889504"/>
            <a:ext cx="471510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5400" b="1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4114800"/>
            <a:ext cx="47151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환각 건수 (이전: 있었음)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2743200"/>
            <a:ext cx="5227167" cy="1828800"/>
          </a:xfrm>
          <a:prstGeom prst="rect">
            <a:avLst/>
          </a:prstGeom>
          <a:solidFill>
            <a:srgbClr val="DC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4759" y="2889504"/>
            <a:ext cx="471510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5400" b="1">
                <a:solidFill>
                  <a:srgbClr val="2E7D5B"/>
                </a:solidFill>
                <a:latin typeface="Consolas"/>
                <a:ea typeface="Consolas"/>
                <a:cs typeface="Consolas"/>
              </a:rPr>
              <a:t>0/14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4759" y="4114800"/>
            <a:ext cx="47151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과잉거부 (이전: 5/12)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마무리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108200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결과보다 과정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81328"/>
            <a:ext cx="1005840" cy="381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D6DEDE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1082009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✓  </a:t>
            </a:r>
            <a:r>
              <a:rPr sz="1900" b="0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기본이라고 알려진 것도 우리 데이터에서 직접 확인해야 한다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✓  </a:t>
            </a:r>
            <a:r>
              <a:rPr sz="1900" b="0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한쪽을 고치면 반대쪽이 깨질 수 있다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 b="1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✓  </a:t>
            </a:r>
            <a:r>
              <a:rPr sz="1900" b="0">
                <a:solidFill>
                  <a:srgbClr val="16201F"/>
                </a:solidFill>
                <a:latin typeface="맑은 고딕"/>
                <a:ea typeface="맑은 고딕"/>
                <a:cs typeface="맑은 고딕"/>
              </a:rPr>
              <a:t>평가셋도 의심하고 검증해야 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4632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E7C86"/>
                </a:solidFill>
                <a:latin typeface="맑은 고딕"/>
                <a:ea typeface="맑은 고딕"/>
                <a:cs typeface="맑은 고딕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