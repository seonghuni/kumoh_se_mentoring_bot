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맑은 고딕"/>
                <a:ea typeface="맑은 고딕"/>
                <a:cs typeface="맑은 고딕"/>
              </a:rPr>
              <a:t>소프트웨어전공 SIG · 2차 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100584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4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잘 된 것보다
안 된 것을 공유합니다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RAG 성능을 올리려고 당연하게 적용했던 두 가지 기법이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왜 우리 데이터에서는 통하지 않았는가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5394960"/>
            <a:ext cx="3291840" cy="25400"/>
          </a:xfrm>
          <a:prstGeom prst="rect">
            <a:avLst/>
          </a:prstGeom>
          <a:solidFill>
            <a:srgbClr val="D6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55778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Overlap · 리랭킹(Reranking)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E7C86"/>
                </a:solidFill>
                <a:latin typeface="맑은 고딕"/>
                <a:ea typeface="맑은 고딕"/>
                <a:cs typeface="맑은 고딕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200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오늘 할 이야기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72768"/>
            <a:ext cx="100584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5725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D6DEDE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10820095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1100"/>
              </a:spcAft>
            </a:pPr>
            <a:r>
              <a:rPr sz="1800" b="0">
                <a:solidFill>
                  <a:srgbClr val="0E7C86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800" b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지난 발표에서 청킹 방식을 정했습니다 — 문서를 500 토큰씩 자르기</a:t>
            </a:r>
          </a:p>
          <a:p>
            <a:pPr>
              <a:lnSpc>
                <a:spcPct val="130000"/>
              </a:lnSpc>
              <a:spcAft>
                <a:spcPts val="1100"/>
              </a:spcAft>
            </a:pPr>
            <a:r>
              <a:rPr sz="1800" b="0">
                <a:solidFill>
                  <a:srgbClr val="0E7C86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800" b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이번엔 성능을 더 올리려고 두 가지 기법을 추가로 적용했습니다</a:t>
            </a:r>
          </a:p>
          <a:p>
            <a:pPr>
              <a:lnSpc>
                <a:spcPct val="130000"/>
              </a:lnSpc>
              <a:spcAft>
                <a:spcPts val="1100"/>
              </a:spcAft>
            </a:pPr>
            <a:r>
              <a:rPr sz="1800" b="0">
                <a:solidFill>
                  <a:srgbClr val="0E7C86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8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결과는 둘 다 실패였습니다. 오늘은 그 과정을 공유합니다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953" y="3749040"/>
            <a:ext cx="3454298" cy="2011680"/>
          </a:xfrm>
          <a:prstGeom prst="rect">
            <a:avLst/>
          </a:prstGeom>
          <a:solidFill>
            <a:srgbClr val="F2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953" y="3749040"/>
            <a:ext cx="3454298" cy="508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985" y="4023360"/>
            <a:ext cx="2942234" cy="9489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dirty="0" err="1">
                <a:solidFill>
                  <a:srgbClr val="0E7C86"/>
                </a:solidFill>
                <a:latin typeface="맑은 고딕"/>
                <a:ea typeface="맑은 고딕"/>
                <a:cs typeface="맑은 고딕"/>
              </a:rPr>
              <a:t>시도</a:t>
            </a:r>
            <a:r>
              <a:rPr sz="1200" b="1" dirty="0">
                <a:solidFill>
                  <a:srgbClr val="0E7C86"/>
                </a:solidFill>
                <a:latin typeface="맑은 고딕"/>
                <a:ea typeface="맑은 고딕"/>
                <a:cs typeface="맑은 고딕"/>
              </a:rPr>
              <a:t> ①</a:t>
            </a:r>
          </a:p>
          <a:p>
            <a:pPr algn="l">
              <a:spcAft>
                <a:spcPts val="800"/>
              </a:spcAft>
            </a:pPr>
            <a:r>
              <a:rPr sz="2400" b="1" dirty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Overlap</a:t>
            </a:r>
          </a:p>
          <a:p>
            <a:pPr algn="l">
              <a:spcAft>
                <a:spcPts val="1200"/>
              </a:spcAft>
            </a:pPr>
            <a:r>
              <a:rPr sz="1400" b="0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청크를</a:t>
            </a:r>
            <a:r>
              <a:rPr sz="1400" b="0" dirty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겹쳐서</a:t>
            </a:r>
            <a:r>
              <a:rPr sz="1400" b="0" dirty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자르기</a:t>
            </a:r>
            <a:endParaRPr sz="1400" b="0" dirty="0">
              <a:solidFill>
                <a:srgbClr val="66746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68851" y="3749040"/>
            <a:ext cx="3454298" cy="2011680"/>
          </a:xfrm>
          <a:prstGeom prst="rect">
            <a:avLst/>
          </a:prstGeom>
          <a:solidFill>
            <a:srgbClr val="F2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68851" y="3749040"/>
            <a:ext cx="3454298" cy="508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24883" y="4023360"/>
            <a:ext cx="2942234" cy="9489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dirty="0" err="1">
                <a:solidFill>
                  <a:srgbClr val="0E7C86"/>
                </a:solidFill>
                <a:latin typeface="맑은 고딕"/>
                <a:ea typeface="맑은 고딕"/>
                <a:cs typeface="맑은 고딕"/>
              </a:rPr>
              <a:t>시도</a:t>
            </a:r>
            <a:r>
              <a:rPr sz="1200" b="1" dirty="0">
                <a:solidFill>
                  <a:srgbClr val="0E7C86"/>
                </a:solidFill>
                <a:latin typeface="맑은 고딕"/>
                <a:ea typeface="맑은 고딕"/>
                <a:cs typeface="맑은 고딕"/>
              </a:rPr>
              <a:t> ②</a:t>
            </a:r>
          </a:p>
          <a:p>
            <a:pPr algn="l">
              <a:spcAft>
                <a:spcPts val="800"/>
              </a:spcAft>
            </a:pPr>
            <a:r>
              <a:rPr sz="2400" b="1" dirty="0" err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리랭킹</a:t>
            </a:r>
            <a:endParaRPr sz="2400" b="1" dirty="0">
              <a:solidFill>
                <a:srgbClr val="16201F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Aft>
                <a:spcPts val="1200"/>
              </a:spcAft>
            </a:pPr>
            <a:r>
              <a:rPr sz="1400" b="0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검색</a:t>
            </a:r>
            <a:r>
              <a:rPr sz="1400" b="0" dirty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결과</a:t>
            </a:r>
            <a:r>
              <a:rPr sz="1400" b="0" dirty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순위</a:t>
            </a:r>
            <a:r>
              <a:rPr sz="1400" b="0" dirty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다시</a:t>
            </a:r>
            <a:r>
              <a:rPr sz="1400" b="0" dirty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매기기</a:t>
            </a:r>
            <a:endParaRPr sz="1400" b="0" dirty="0">
              <a:solidFill>
                <a:srgbClr val="66746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051749" y="3749040"/>
            <a:ext cx="3454298" cy="2011680"/>
          </a:xfrm>
          <a:prstGeom prst="rect">
            <a:avLst/>
          </a:prstGeom>
          <a:solidFill>
            <a:srgbClr val="F2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51749" y="3749040"/>
            <a:ext cx="3454298" cy="50800"/>
          </a:xfrm>
          <a:prstGeom prst="rect">
            <a:avLst/>
          </a:prstGeom>
          <a:solidFill>
            <a:srgbClr val="667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7781" y="4023360"/>
            <a:ext cx="2942234" cy="9489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다음</a:t>
            </a:r>
            <a:endParaRPr sz="1200" b="1" dirty="0">
              <a:solidFill>
                <a:srgbClr val="66746F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Aft>
                <a:spcPts val="800"/>
              </a:spcAft>
            </a:pPr>
            <a:r>
              <a:rPr sz="2400" b="1" dirty="0" err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프롬프트</a:t>
            </a:r>
            <a:r>
              <a:rPr sz="2400" b="1" dirty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400" b="1" dirty="0" err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전략</a:t>
            </a:r>
            <a:endParaRPr sz="2400" b="1" dirty="0">
              <a:solidFill>
                <a:srgbClr val="16201F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Aft>
                <a:spcPts val="1200"/>
              </a:spcAft>
            </a:pPr>
            <a:r>
              <a:rPr sz="1400" b="0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대화</a:t>
            </a:r>
            <a:r>
              <a:rPr sz="1400" b="0" dirty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맥락</a:t>
            </a:r>
            <a:r>
              <a:rPr sz="1400" b="0" dirty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처리하기</a:t>
            </a:r>
            <a:endParaRPr sz="1400" b="0" dirty="0">
              <a:solidFill>
                <a:srgbClr val="66746F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E7C86"/>
                </a:solidFill>
                <a:latin typeface="맑은 고딕"/>
                <a:ea typeface="맑은 고딕"/>
                <a:cs typeface="맑은 고딕"/>
              </a:rPr>
              <a:t>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200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먼저, 어떻게 평가했는지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72768"/>
            <a:ext cx="100584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5725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D6DEDE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5852160" cy="642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 dirty="0" err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질문</a:t>
            </a:r>
            <a:r>
              <a:rPr sz="1700" b="0" dirty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1700" dirty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300</a:t>
            </a:r>
            <a:r>
              <a:rPr sz="1700" b="0" dirty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개와 </a:t>
            </a:r>
            <a:r>
              <a:rPr sz="1700" b="0" dirty="0" err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정답을</a:t>
            </a:r>
            <a:r>
              <a:rPr sz="1700" b="0" dirty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00" b="0" dirty="0" err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미리</a:t>
            </a:r>
            <a:r>
              <a:rPr sz="1700" b="0" dirty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00" b="0" dirty="0" err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만들어두고</a:t>
            </a:r>
            <a:r>
              <a:rPr sz="1700" b="0" dirty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700" b="0" dirty="0" err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검색이</a:t>
            </a:r>
            <a:r>
              <a:rPr sz="1700" b="0" dirty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00" b="0" dirty="0" err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정답을</a:t>
            </a:r>
            <a:r>
              <a:rPr sz="1700" b="0" dirty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00" b="0" dirty="0" err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찾아내는지</a:t>
            </a:r>
            <a:r>
              <a:rPr sz="1700" b="0" dirty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00" b="0" dirty="0" err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셌습니다</a:t>
            </a:r>
            <a:r>
              <a:rPr sz="1700" b="0" dirty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E70D85AD-DABD-EB05-C7A6-5395DFD64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460" y="2819010"/>
            <a:ext cx="3358495" cy="28086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25D2BAB-2397-C285-FF05-CB908FF36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0835" y="3316765"/>
            <a:ext cx="3717125" cy="24577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E7C86"/>
                </a:solidFill>
                <a:latin typeface="맑은 고딕"/>
                <a:ea typeface="맑은 고딕"/>
                <a:cs typeface="맑은 고딕"/>
              </a:rPr>
              <a:t>시행착오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20095" cy="482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dirty="0" err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Overlap을</a:t>
            </a:r>
            <a:r>
              <a:rPr sz="3000" b="1" dirty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3000" b="1" dirty="0" err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넣었는데</a:t>
            </a:r>
            <a:r>
              <a:rPr sz="3000" b="1" dirty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3000" b="1" dirty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효과가 들쭉날쭉했다</a:t>
            </a:r>
            <a:r>
              <a:rPr lang="en-US" altLang="ko-KR" sz="3000" b="1" dirty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sz="3000" b="1" dirty="0">
              <a:solidFill>
                <a:srgbClr val="16201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572768"/>
            <a:ext cx="100584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5725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D6DEDE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20095" cy="6048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dirty="0">
                <a:latin typeface="맑은 고딕"/>
                <a:ea typeface="맑은 고딕"/>
                <a:cs typeface="맑은 고딕"/>
              </a:rPr>
              <a:t>Overlap = </a:t>
            </a:r>
            <a:r>
              <a:rPr sz="1600" b="0" dirty="0" err="1">
                <a:latin typeface="맑은 고딕"/>
                <a:ea typeface="맑은 고딕"/>
                <a:cs typeface="맑은 고딕"/>
              </a:rPr>
              <a:t>청크를</a:t>
            </a:r>
            <a:r>
              <a:rPr sz="16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latin typeface="맑은 고딕"/>
                <a:ea typeface="맑은 고딕"/>
                <a:cs typeface="맑은 고딕"/>
              </a:rPr>
              <a:t>자를</a:t>
            </a:r>
            <a:r>
              <a:rPr sz="1600" b="0" dirty="0">
                <a:latin typeface="맑은 고딕"/>
                <a:ea typeface="맑은 고딕"/>
                <a:cs typeface="맑은 고딕"/>
              </a:rPr>
              <a:t> 때 </a:t>
            </a:r>
            <a:r>
              <a:rPr sz="1600" b="0" dirty="0" err="1">
                <a:latin typeface="맑은 고딕"/>
                <a:ea typeface="맑은 고딕"/>
                <a:cs typeface="맑은 고딕"/>
              </a:rPr>
              <a:t>앞부분을</a:t>
            </a:r>
            <a:r>
              <a:rPr sz="16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latin typeface="맑은 고딕"/>
                <a:ea typeface="맑은 고딕"/>
                <a:cs typeface="맑은 고딕"/>
              </a:rPr>
              <a:t>조금</a:t>
            </a:r>
            <a:r>
              <a:rPr sz="16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latin typeface="맑은 고딕"/>
                <a:ea typeface="맑은 고딕"/>
                <a:cs typeface="맑은 고딕"/>
              </a:rPr>
              <a:t>겹쳐서</a:t>
            </a:r>
            <a:r>
              <a:rPr sz="16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latin typeface="맑은 고딕"/>
                <a:ea typeface="맑은 고딕"/>
                <a:cs typeface="맑은 고딕"/>
              </a:rPr>
              <a:t>자르는</a:t>
            </a:r>
            <a:r>
              <a:rPr sz="16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latin typeface="맑은 고딕"/>
                <a:ea typeface="맑은 고딕"/>
                <a:cs typeface="맑은 고딕"/>
              </a:rPr>
              <a:t>방법</a:t>
            </a:r>
            <a:r>
              <a:rPr sz="1600" b="0" dirty="0">
                <a:latin typeface="맑은 고딕"/>
                <a:ea typeface="맑은 고딕"/>
                <a:cs typeface="맑은 고딕"/>
              </a:rPr>
              <a:t>. </a:t>
            </a:r>
            <a:r>
              <a:rPr sz="1600" b="0" dirty="0" err="1">
                <a:latin typeface="맑은 고딕"/>
                <a:ea typeface="맑은 고딕"/>
                <a:cs typeface="맑은 고딕"/>
              </a:rPr>
              <a:t>문장이</a:t>
            </a:r>
            <a:r>
              <a:rPr sz="16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latin typeface="맑은 고딕"/>
                <a:ea typeface="맑은 고딕"/>
                <a:cs typeface="맑은 고딕"/>
              </a:rPr>
              <a:t>중간에</a:t>
            </a:r>
            <a:r>
              <a:rPr sz="16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latin typeface="맑은 고딕"/>
                <a:ea typeface="맑은 고딕"/>
                <a:cs typeface="맑은 고딕"/>
              </a:rPr>
              <a:t>끊기는</a:t>
            </a:r>
            <a:r>
              <a:rPr sz="1600" b="0" dirty="0">
                <a:latin typeface="맑은 고딕"/>
                <a:ea typeface="맑은 고딕"/>
                <a:cs typeface="맑은 고딕"/>
              </a:rPr>
              <a:t> 걸 </a:t>
            </a:r>
            <a:r>
              <a:rPr sz="1600" b="0" dirty="0" err="1">
                <a:latin typeface="맑은 고딕"/>
                <a:ea typeface="맑은 고딕"/>
                <a:cs typeface="맑은 고딕"/>
              </a:rPr>
              <a:t>막으려고</a:t>
            </a:r>
            <a:r>
              <a:rPr sz="16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latin typeface="맑은 고딕"/>
                <a:ea typeface="맑은 고딕"/>
                <a:cs typeface="맑은 고딕"/>
              </a:rPr>
              <a:t>대부분의</a:t>
            </a:r>
            <a:r>
              <a:rPr sz="16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latin typeface="맑은 고딕"/>
                <a:ea typeface="맑은 고딕"/>
                <a:cs typeface="맑은 고딕"/>
              </a:rPr>
              <a:t>RAG가</a:t>
            </a:r>
            <a:r>
              <a:rPr sz="1600" b="0" dirty="0">
                <a:latin typeface="맑은 고딕"/>
                <a:ea typeface="맑은 고딕"/>
                <a:cs typeface="맑은 고딕"/>
              </a:rPr>
              <a:t> </a:t>
            </a:r>
            <a:endParaRPr lang="en-US" sz="1600" b="0" dirty="0"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dirty="0" err="1">
                <a:latin typeface="맑은 고딕"/>
                <a:ea typeface="맑은 고딕"/>
                <a:cs typeface="맑은 고딕"/>
              </a:rPr>
              <a:t>기본</a:t>
            </a:r>
            <a:r>
              <a:rPr lang="ko-KR" altLang="en-US" sz="1600" b="0" dirty="0">
                <a:latin typeface="맑은 고딕"/>
                <a:ea typeface="맑은 고딕"/>
                <a:cs typeface="맑은 고딕"/>
              </a:rPr>
              <a:t>적</a:t>
            </a:r>
            <a:r>
              <a:rPr sz="1600" b="0" dirty="0" err="1">
                <a:latin typeface="맑은 고딕"/>
                <a:ea typeface="맑은 고딕"/>
                <a:cs typeface="맑은 고딕"/>
              </a:rPr>
              <a:t>으로</a:t>
            </a:r>
            <a:r>
              <a:rPr sz="16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latin typeface="맑은 고딕"/>
                <a:ea typeface="맑은 고딕"/>
                <a:cs typeface="맑은 고딕"/>
              </a:rPr>
              <a:t>씁니다</a:t>
            </a:r>
            <a:r>
              <a:rPr sz="1600" b="0" dirty="0"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7848546"/>
              </p:ext>
            </p:extLst>
          </p:nvPr>
        </p:nvGraphicFramePr>
        <p:xfrm>
          <a:off x="685800" y="2606040"/>
          <a:ext cx="10820094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7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5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7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7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7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겹치는 양</a:t>
                      </a:r>
                    </a:p>
                  </a:txBody>
                  <a:tcPr marL="109728" marR="109728" marT="36576" marB="36576" anchor="ctr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 (안 겹침)</a:t>
                      </a:r>
                    </a:p>
                  </a:txBody>
                  <a:tcPr marL="109728" marR="109728" marT="36576" marB="36576" anchor="ctr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</a:t>
                      </a:r>
                    </a:p>
                  </a:txBody>
                  <a:tcPr marL="109728" marR="109728" marT="36576" marB="36576" anchor="ctr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</a:t>
                      </a:r>
                    </a:p>
                  </a:txBody>
                  <a:tcPr marL="109728" marR="109728" marT="36576" marB="36576" anchor="ctr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150</a:t>
                      </a:r>
                    </a:p>
                  </a:txBody>
                  <a:tcPr marL="109728" marR="109728" marT="36576" marB="36576" anchor="ctr"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Recall@3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0.875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0.850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0.838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0.863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Recall@5</a:t>
                      </a:r>
                    </a:p>
                  </a:txBody>
                  <a:tcPr marL="109728" marR="109728" marT="36576" marB="36576" anchor="ctr">
                    <a:solidFill>
                      <a:srgbClr val="DCE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0.912</a:t>
                      </a:r>
                    </a:p>
                  </a:txBody>
                  <a:tcPr marL="109728" marR="109728" marT="36576" marB="36576" anchor="ctr">
                    <a:solidFill>
                      <a:srgbClr val="DCE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0.950</a:t>
                      </a:r>
                    </a:p>
                  </a:txBody>
                  <a:tcPr marL="109728" marR="109728" marT="36576" marB="36576" anchor="ctr">
                    <a:solidFill>
                      <a:srgbClr val="DCE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0.900</a:t>
                      </a:r>
                    </a:p>
                  </a:txBody>
                  <a:tcPr marL="109728" marR="109728" marT="36576" marB="36576" anchor="ctr">
                    <a:solidFill>
                      <a:srgbClr val="DCE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0.938</a:t>
                      </a:r>
                    </a:p>
                  </a:txBody>
                  <a:tcPr marL="109728" marR="109728" marT="36576" marB="36576" anchor="ctr">
                    <a:solidFill>
                      <a:srgbClr val="DCED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청크</a:t>
                      </a:r>
                      <a:r>
                        <a:rPr sz="1500" b="1" dirty="0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개수</a:t>
                      </a:r>
                      <a:endParaRPr sz="1500" b="1" dirty="0">
                        <a:solidFill>
                          <a:srgbClr val="16201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1,474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1,503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1,531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1,581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85800" y="4480560"/>
            <a:ext cx="10820095" cy="1051560"/>
          </a:xfrm>
          <a:prstGeom prst="rect">
            <a:avLst/>
          </a:prstGeom>
          <a:solidFill>
            <a:srgbClr val="F6E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4480560"/>
            <a:ext cx="50800" cy="1051560"/>
          </a:xfrm>
          <a:prstGeom prst="rect">
            <a:avLst/>
          </a:prstGeom>
          <a:solidFill>
            <a:srgbClr val="8A6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608576"/>
            <a:ext cx="103628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A6212"/>
                </a:solidFill>
                <a:latin typeface="맑은 고딕"/>
                <a:ea typeface="맑은 고딕"/>
                <a:cs typeface="맑은 고딕"/>
              </a:rPr>
              <a:t>이상한 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19472"/>
            <a:ext cx="103628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겹치는 양을 50 → 100 → 150으로 늘렸는데 점수가 오르락내리락합니다. 진짜 효과가 있다면 이렇게 들쭉날쭉하지 않습니다.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E7C86"/>
                </a:solidFill>
                <a:latin typeface="맑은 고딕"/>
                <a:ea typeface="맑은 고딕"/>
                <a:cs typeface="맑은 고딕"/>
              </a:rPr>
              <a:t>원인을 찾아보니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200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문서 절반 이상은 애초에 잘리지도 않았다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72768"/>
            <a:ext cx="100584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5725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D6DEDE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2011680"/>
          <a:ext cx="56692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문서가 나뉜 개수</a:t>
                      </a:r>
                    </a:p>
                  </a:txBody>
                  <a:tcPr marL="109728" marR="109728" marT="36576" marB="36576" anchor="ctr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 수</a:t>
                      </a:r>
                    </a:p>
                  </a:txBody>
                  <a:tcPr marL="109728" marR="109728" marT="36576" marB="36576" anchor="ctr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비율</a:t>
                      </a:r>
                    </a:p>
                  </a:txBody>
                  <a:tcPr marL="109728" marR="109728" marT="36576" marB="36576" anchor="ctr"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1개 (안 나뉨)</a:t>
                      </a:r>
                    </a:p>
                  </a:txBody>
                  <a:tcPr marL="109728" marR="109728" marT="36576" marB="36576" anchor="ctr">
                    <a:solidFill>
                      <a:srgbClr val="DCED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496</a:t>
                      </a:r>
                    </a:p>
                  </a:txBody>
                  <a:tcPr marL="109728" marR="109728" marT="36576" marB="36576" anchor="ctr">
                    <a:solidFill>
                      <a:srgbClr val="DCED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58.4%</a:t>
                      </a:r>
                    </a:p>
                  </a:txBody>
                  <a:tcPr marL="109728" marR="109728" marT="36576" marB="36576" anchor="ctr">
                    <a:solidFill>
                      <a:srgbClr val="DCED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2개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208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24.5%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3개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79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9.3%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4개 이상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67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7.9%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812280" y="2011680"/>
            <a:ext cx="4693615" cy="1371600"/>
          </a:xfrm>
          <a:prstGeom prst="rect">
            <a:avLst/>
          </a:prstGeom>
          <a:solidFill>
            <a:srgbClr val="D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86600" y="2176272"/>
            <a:ext cx="414497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5000" b="1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58.4%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2926080"/>
            <a:ext cx="41449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문서 하나가 청크 하나 — 자를 일이 없었음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3611880"/>
            <a:ext cx="469361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dirty="0" err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우리</a:t>
            </a:r>
            <a:r>
              <a:rPr sz="1400" b="1" dirty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문서</a:t>
            </a:r>
            <a:r>
              <a:rPr sz="1400" b="1" dirty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길이</a:t>
            </a:r>
            <a:r>
              <a:rPr sz="1400" b="1" dirty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중간값</a:t>
            </a:r>
            <a:endParaRPr sz="1400" b="1" dirty="0">
              <a:solidFill>
                <a:srgbClr val="16201F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Aft>
                <a:spcPts val="400"/>
              </a:spcAft>
            </a:pPr>
            <a:r>
              <a:rPr sz="3000" b="1" dirty="0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445 </a:t>
            </a:r>
            <a:r>
              <a:rPr sz="3000" b="1" dirty="0" err="1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토큰</a:t>
            </a:r>
            <a:endParaRPr sz="3000" b="1" dirty="0">
              <a:solidFill>
                <a:srgbClr val="0E7C86"/>
              </a:solidFill>
              <a:latin typeface="Consolas"/>
              <a:ea typeface="Consolas"/>
              <a:cs typeface="Consolas"/>
            </a:endParaRPr>
          </a:p>
          <a:p>
            <a:pPr algn="l">
              <a:spcAft>
                <a:spcPts val="0"/>
              </a:spcAft>
            </a:pPr>
            <a:r>
              <a:rPr sz="1400" b="0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자르는</a:t>
            </a:r>
            <a:r>
              <a:rPr sz="1400" b="0" dirty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기준</a:t>
            </a:r>
            <a:r>
              <a:rPr sz="1400" b="0" dirty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(500 </a:t>
            </a:r>
            <a:r>
              <a:rPr sz="1400" b="0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토큰</a:t>
            </a:r>
            <a:r>
              <a:rPr sz="1400" b="0" dirty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)</a:t>
            </a:r>
            <a:r>
              <a:rPr sz="1400" b="0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보다</a:t>
            </a:r>
            <a:r>
              <a:rPr sz="1400" b="0" dirty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짧다</a:t>
            </a:r>
            <a:endParaRPr sz="1400" b="0" dirty="0">
              <a:solidFill>
                <a:srgbClr val="66746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5800" y="4937760"/>
            <a:ext cx="10820095" cy="1051560"/>
          </a:xfrm>
          <a:prstGeom prst="rect">
            <a:avLst/>
          </a:prstGeom>
          <a:solidFill>
            <a:srgbClr val="F6E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4937760"/>
            <a:ext cx="50800" cy="1051560"/>
          </a:xfrm>
          <a:prstGeom prst="rect">
            <a:avLst/>
          </a:prstGeom>
          <a:solidFill>
            <a:srgbClr val="8A6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5065776"/>
            <a:ext cx="103628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A6212"/>
                </a:solidFill>
                <a:latin typeface="맑은 고딕"/>
                <a:ea typeface="맑은 고딕"/>
                <a:cs typeface="맑은 고딕"/>
              </a:rPr>
              <a:t>그래서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76672"/>
            <a:ext cx="103628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문서가 안 나뉘면 겹칠 앞부분 자체가 없습니다. 전체의 58%에서는 Overlap이 물리적으로 적용될 수가 없었습니다.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E7C86"/>
                </a:solidFill>
                <a:latin typeface="맑은 고딕"/>
                <a:ea typeface="맑은 고딕"/>
                <a:cs typeface="맑은 고딕"/>
              </a:rPr>
              <a:t>원인을 찾아보니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200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dirty="0" err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공지사항은</a:t>
            </a:r>
            <a:r>
              <a:rPr sz="3000" b="1" dirty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3000" b="1" dirty="0" err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소설이</a:t>
            </a:r>
            <a:r>
              <a:rPr sz="3000" b="1" dirty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3000" b="1" dirty="0" err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아니다</a:t>
            </a:r>
            <a:endParaRPr sz="3000" b="1" dirty="0">
              <a:solidFill>
                <a:srgbClr val="16201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572768"/>
            <a:ext cx="100584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5725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D6DEDE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54864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AA4038"/>
                </a:solidFill>
                <a:latin typeface="맑은 고딕"/>
                <a:ea typeface="맑은 고딕"/>
                <a:cs typeface="맑은 고딕"/>
              </a:rPr>
              <a:t>Overlap이 필요한 문서</a:t>
            </a:r>
          </a:p>
          <a:p>
            <a:pPr algn="l">
              <a:lnSpc>
                <a:spcPct val="130000"/>
              </a:lnSpc>
              <a:spcAft>
                <a:spcPts val="2000"/>
              </a:spcAft>
            </a:pPr>
            <a:r>
              <a:rPr sz="1600" b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소설 · 논문처럼 앞 내용을 알아야
뒤 내용이 이해되는 글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E7C86"/>
                </a:solidFill>
                <a:latin typeface="맑은 고딕"/>
                <a:ea typeface="맑은 고딕"/>
                <a:cs typeface="맑은 고딕"/>
              </a:rPr>
              <a:t>우리 문서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"신청 기간", "제출 서류", "유의사항"처럼
문단마다 내용이 따로 노는 공지사항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7960" y="1920240"/>
            <a:ext cx="4967935" cy="1371600"/>
          </a:xfrm>
          <a:prstGeom prst="rect">
            <a:avLst/>
          </a:prstGeom>
          <a:solidFill>
            <a:srgbClr val="D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12280" y="2084832"/>
            <a:ext cx="441929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5200" b="1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89%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2834640"/>
            <a:ext cx="4419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청크가 나뉜 지점이
문장 단위로 깔끔하게 끊김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3520440"/>
            <a:ext cx="496793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우리는 자를 때 문단 → 목록 → 문장 순서로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자연스러운 경계에서만 자릅니다.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892040"/>
            <a:ext cx="10820095" cy="1051560"/>
          </a:xfrm>
          <a:prstGeom prst="rect">
            <a:avLst/>
          </a:prstGeom>
          <a:solidFill>
            <a:srgbClr val="F6E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4892040"/>
            <a:ext cx="50800" cy="1051560"/>
          </a:xfrm>
          <a:prstGeom prst="rect">
            <a:avLst/>
          </a:prstGeom>
          <a:solidFill>
            <a:srgbClr val="8A6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5020056"/>
            <a:ext cx="103628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A6212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30952"/>
            <a:ext cx="103628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문장이 중간에 끊기는 경우가 10%뿐이었습니다. Overlap이 고쳐줄 문제가 거의 없었던 겁니다.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E7C86"/>
                </a:solidFill>
                <a:latin typeface="맑은 고딕"/>
                <a:ea typeface="맑은 고딕"/>
                <a:cs typeface="맑은 고딕"/>
              </a:rPr>
              <a:t>그럼 확인해보자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200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문서가 길어지면 Overlap이 살아날까?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72768"/>
            <a:ext cx="100584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5725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D6DEDE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같은 데이터를 문서 길이별로 나눠서 다시 계산해봤습니다.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423160"/>
          <a:ext cx="7863838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7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9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0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40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89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정답 문서 길이</a:t>
                      </a:r>
                    </a:p>
                  </a:txBody>
                  <a:tcPr marL="109728" marR="109728" marT="36576" marB="36576" anchor="ctr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질문 수</a:t>
                      </a:r>
                    </a:p>
                  </a:txBody>
                  <a:tcPr marL="109728" marR="109728" marT="36576" marB="36576" anchor="ctr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Overlap 없음</a:t>
                      </a:r>
                    </a:p>
                  </a:txBody>
                  <a:tcPr marL="109728" marR="109728" marT="36576" marB="36576" anchor="ctr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Overlap 적용</a:t>
                      </a:r>
                    </a:p>
                  </a:txBody>
                  <a:tcPr marL="109728" marR="109728" marT="36576" marB="36576" anchor="ctr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차이</a:t>
                      </a:r>
                    </a:p>
                  </a:txBody>
                  <a:tcPr marL="109728" marR="109728" marT="36576" marB="36576" anchor="ctr"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500 토큰 이하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dirty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142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dirty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0.634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dirty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0.613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AA4038"/>
                          </a:solidFill>
                          <a:latin typeface="Consolas"/>
                          <a:ea typeface="Consolas"/>
                          <a:cs typeface="Consolas"/>
                        </a:rPr>
                        <a:t>−0.021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500 ~ 1,000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dirty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90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dirty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0.589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dirty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0.578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AA4038"/>
                          </a:solidFill>
                          <a:latin typeface="Consolas"/>
                          <a:ea typeface="Consolas"/>
                          <a:cs typeface="Consolas"/>
                        </a:rPr>
                        <a:t>−0.011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1,000 ~ 1,500</a:t>
                      </a:r>
                    </a:p>
                  </a:txBody>
                  <a:tcPr marL="109728" marR="109728" marT="36576" marB="36576" anchor="ctr">
                    <a:solidFill>
                      <a:srgbClr val="DCED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dirty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40</a:t>
                      </a:r>
                    </a:p>
                  </a:txBody>
                  <a:tcPr marL="109728" marR="109728" marT="36576" marB="36576" anchor="ctr">
                    <a:solidFill>
                      <a:srgbClr val="DCED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dirty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0.525</a:t>
                      </a:r>
                    </a:p>
                  </a:txBody>
                  <a:tcPr marL="109728" marR="109728" marT="36576" marB="36576" anchor="ctr">
                    <a:solidFill>
                      <a:srgbClr val="DCED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dirty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0.625</a:t>
                      </a:r>
                    </a:p>
                  </a:txBody>
                  <a:tcPr marL="109728" marR="109728" marT="36576" marB="36576" anchor="ctr">
                    <a:solidFill>
                      <a:srgbClr val="DCED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2E7D5B"/>
                          </a:solidFill>
                          <a:latin typeface="Consolas"/>
                          <a:ea typeface="Consolas"/>
                          <a:cs typeface="Consolas"/>
                        </a:rPr>
                        <a:t>+0.100</a:t>
                      </a:r>
                    </a:p>
                  </a:txBody>
                  <a:tcPr marL="109728" marR="109728" marT="36576" marB="36576" anchor="ctr">
                    <a:solidFill>
                      <a:srgbClr val="DCED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1,500 </a:t>
                      </a:r>
                      <a:r>
                        <a:rPr sz="1500" b="1" dirty="0" err="1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이상</a:t>
                      </a:r>
                      <a:endParaRPr sz="1500" b="1" dirty="0">
                        <a:solidFill>
                          <a:srgbClr val="16201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09728" marR="109728" marT="36576" marB="36576" anchor="ctr">
                    <a:solidFill>
                      <a:srgbClr val="DCED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dirty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28</a:t>
                      </a:r>
                    </a:p>
                  </a:txBody>
                  <a:tcPr marL="109728" marR="109728" marT="36576" marB="36576" anchor="ctr">
                    <a:solidFill>
                      <a:srgbClr val="DCED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dirty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0.500</a:t>
                      </a:r>
                    </a:p>
                  </a:txBody>
                  <a:tcPr marL="109728" marR="109728" marT="36576" marB="36576" anchor="ctr">
                    <a:solidFill>
                      <a:srgbClr val="DCED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dirty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0.571</a:t>
                      </a:r>
                    </a:p>
                  </a:txBody>
                  <a:tcPr marL="109728" marR="109728" marT="36576" marB="36576" anchor="ctr">
                    <a:solidFill>
                      <a:srgbClr val="DCED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dirty="0">
                          <a:solidFill>
                            <a:srgbClr val="2E7D5B"/>
                          </a:solidFill>
                          <a:latin typeface="Consolas"/>
                          <a:ea typeface="Consolas"/>
                          <a:cs typeface="Consolas"/>
                        </a:rPr>
                        <a:t>+0.071</a:t>
                      </a:r>
                    </a:p>
                  </a:txBody>
                  <a:tcPr marL="109728" marR="109728" marT="36576" marB="36576" anchor="ctr">
                    <a:solidFill>
                      <a:srgbClr val="DCED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915400" y="2423160"/>
            <a:ext cx="2590495" cy="960120"/>
          </a:xfrm>
          <a:prstGeom prst="rect">
            <a:avLst/>
          </a:prstGeom>
          <a:solidFill>
            <a:srgbClr val="D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0" y="2560320"/>
            <a:ext cx="213329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2E7D5B"/>
                </a:solidFill>
                <a:latin typeface="맑은 고딕"/>
                <a:ea typeface="맑은 고딕"/>
                <a:cs typeface="맑은 고딕"/>
              </a:rPr>
              <a:t>긴 문서에서는</a:t>
            </a:r>
          </a:p>
          <a:p>
            <a:pPr algn="l">
              <a:spcAft>
                <a:spcPts val="0"/>
              </a:spcAft>
            </a:pPr>
            <a:r>
              <a:rPr sz="2000" b="1">
                <a:solidFill>
                  <a:srgbClr val="2E7D5B"/>
                </a:solidFill>
                <a:latin typeface="맑은 고딕"/>
                <a:ea typeface="맑은 고딕"/>
                <a:cs typeface="맑은 고딕"/>
              </a:rPr>
              <a:t>효과가 나타났다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15400" y="3520440"/>
            <a:ext cx="2590495" cy="960120"/>
          </a:xfrm>
          <a:prstGeom prst="rect">
            <a:avLst/>
          </a:prstGeom>
          <a:solidFill>
            <a:srgbClr val="F2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0" y="3639312"/>
            <a:ext cx="21332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긴 문서를 묻는 질문은</a:t>
            </a:r>
          </a:p>
          <a:p>
            <a:pPr algn="l">
              <a:spcAft>
                <a:spcPts val="0"/>
              </a:spcAft>
            </a:pPr>
            <a:r>
              <a:rPr sz="2400" b="1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23%뿐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892040"/>
            <a:ext cx="10820095" cy="1051560"/>
          </a:xfrm>
          <a:prstGeom prst="rect">
            <a:avLst/>
          </a:prstGeom>
          <a:solidFill>
            <a:srgbClr val="F6E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4892040"/>
            <a:ext cx="50800" cy="1051560"/>
          </a:xfrm>
          <a:prstGeom prst="rect">
            <a:avLst/>
          </a:prstGeom>
          <a:solidFill>
            <a:srgbClr val="8A6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5020056"/>
            <a:ext cx="103628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A6212"/>
                </a:solidFill>
                <a:latin typeface="맑은 고딕"/>
                <a:ea typeface="맑은 고딕"/>
                <a:cs typeface="맑은 고딕"/>
              </a:rPr>
              <a:t>그래서 이렇게 정리했습니다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30952"/>
            <a:ext cx="103628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Overlap은 쓸모없는 기법이 아닙니다. 효과가 나는 조건이 있고, 우리 데이터의 23%만 거기에 해당해서 전체적으로는 상쇄됐습니다.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E7C86"/>
                </a:solidFill>
                <a:latin typeface="맑은 고딕"/>
                <a:ea typeface="맑은 고딕"/>
                <a:cs typeface="맑은 고딕"/>
              </a:rPr>
              <a:t>시행착오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200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"500 토큰에서만 본 거 아니야?" — 다시 해봤다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72768"/>
            <a:ext cx="100584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5725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D6DEDE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200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처음엔 500 토큰 하나에서만 실험했습니다. 지적을 받고 자르는 크기와 자르는 방식을 바꿔가며 다시 측정했습니다.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651760"/>
          <a:ext cx="749807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92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4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4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8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실험 설정</a:t>
                      </a:r>
                    </a:p>
                  </a:txBody>
                  <a:tcPr marL="109728" marR="109728" marT="36576" marB="36576" anchor="ctr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Overlap 없음</a:t>
                      </a:r>
                    </a:p>
                  </a:txBody>
                  <a:tcPr marL="109728" marR="109728" marT="36576" marB="36576" anchor="ctr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Overlap 적용</a:t>
                      </a:r>
                    </a:p>
                  </a:txBody>
                  <a:tcPr marL="109728" marR="109728" marT="36576" marB="36576" anchor="ctr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차이</a:t>
                      </a:r>
                    </a:p>
                  </a:txBody>
                  <a:tcPr marL="109728" marR="109728" marT="36576" marB="36576" anchor="ctr"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300 토큰씩 자르기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dirty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0.617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dirty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0.610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AA4038"/>
                          </a:solidFill>
                          <a:latin typeface="Consolas"/>
                          <a:ea typeface="Consolas"/>
                          <a:cs typeface="Consolas"/>
                        </a:rPr>
                        <a:t>−0.007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500 토큰씩 자르기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0.593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dirty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0.600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E7D5B"/>
                          </a:solidFill>
                          <a:latin typeface="Consolas"/>
                          <a:ea typeface="Consolas"/>
                          <a:cs typeface="Consolas"/>
                        </a:rPr>
                        <a:t>+0.007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1000 토큰씩 자르기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0.623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dirty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0.620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AA4038"/>
                          </a:solidFill>
                          <a:latin typeface="Consolas"/>
                          <a:ea typeface="Consolas"/>
                          <a:cs typeface="Consolas"/>
                        </a:rPr>
                        <a:t>−0.003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다른 방식(recursive) 500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0.597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dirty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0.587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dirty="0">
                          <a:solidFill>
                            <a:srgbClr val="AA4038"/>
                          </a:solidFill>
                          <a:latin typeface="Consolas"/>
                          <a:ea typeface="Consolas"/>
                          <a:cs typeface="Consolas"/>
                        </a:rPr>
                        <a:t>−0.010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549640" y="2651760"/>
            <a:ext cx="2956255" cy="1371600"/>
          </a:xfrm>
          <a:prstGeom prst="rect">
            <a:avLst/>
          </a:prstGeom>
          <a:solidFill>
            <a:srgbClr val="D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23960" y="2816352"/>
            <a:ext cx="240761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600" b="1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0.01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3566160"/>
            <a:ext cx="24076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어떤 설정에서도
차이는 이 정도 미만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754880"/>
            <a:ext cx="10820095" cy="1051560"/>
          </a:xfrm>
          <a:prstGeom prst="rect">
            <a:avLst/>
          </a:prstGeom>
          <a:solidFill>
            <a:srgbClr val="F6E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4754880"/>
            <a:ext cx="50800" cy="1051560"/>
          </a:xfrm>
          <a:prstGeom prst="rect">
            <a:avLst/>
          </a:prstGeom>
          <a:solidFill>
            <a:srgbClr val="8A6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882896"/>
            <a:ext cx="103628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A6212"/>
                </a:solidFill>
                <a:latin typeface="맑은 고딕"/>
                <a:ea typeface="맑은 고딕"/>
                <a:cs typeface="맑은 고딕"/>
              </a:rPr>
              <a:t>추가로 확인한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93792"/>
            <a:ext cx="103628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혹시 Overlap이 제대로 안 걸린 건 아닌지도 봤습니다. recursive 방식에서는 모든 경계에 100% 적용됐는데도 결과는 같았습니다.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E7C86"/>
                </a:solidFill>
                <a:latin typeface="맑은 고딕"/>
                <a:ea typeface="맑은 고딕"/>
                <a:cs typeface="맑은 고딕"/>
              </a:rPr>
              <a:t>시행착오 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200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리랭킹도 붙여봤지만 마찬가지였다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72768"/>
            <a:ext cx="100584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5725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D6DEDE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200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리랭킹</a:t>
            </a:r>
            <a:r>
              <a:rPr sz="1600" b="0" dirty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 = </a:t>
            </a:r>
            <a:r>
              <a:rPr sz="1600" b="0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검색으로</a:t>
            </a:r>
            <a:r>
              <a:rPr sz="1600" b="0" dirty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후보</a:t>
            </a:r>
            <a:r>
              <a:rPr sz="1600" b="0" dirty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 50개를 </a:t>
            </a:r>
            <a:r>
              <a:rPr sz="1600" b="0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넉넉히</a:t>
            </a:r>
            <a:r>
              <a:rPr sz="1600" b="0" dirty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가져온</a:t>
            </a:r>
            <a:r>
              <a:rPr sz="1600" b="0" dirty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 뒤, 더 </a:t>
            </a:r>
            <a:r>
              <a:rPr sz="1600" b="0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똑똑한</a:t>
            </a:r>
            <a:r>
              <a:rPr sz="1600" b="0" dirty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모델로</a:t>
            </a:r>
            <a:r>
              <a:rPr sz="1600" b="0" dirty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순위를</a:t>
            </a:r>
            <a:r>
              <a:rPr sz="1600" b="0" dirty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다시</a:t>
            </a:r>
            <a:r>
              <a:rPr sz="1600" b="0" dirty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매기는</a:t>
            </a:r>
            <a:r>
              <a:rPr sz="1600" b="0" dirty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방법</a:t>
            </a:r>
            <a:r>
              <a:rPr sz="1600" b="0" dirty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878237"/>
              </p:ext>
            </p:extLst>
          </p:nvPr>
        </p:nvGraphicFramePr>
        <p:xfrm>
          <a:off x="685800" y="2560320"/>
          <a:ext cx="6949437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0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50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50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92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방식</a:t>
                      </a:r>
                    </a:p>
                  </a:txBody>
                  <a:tcPr marL="109728" marR="109728" marT="36576" marB="36576" anchor="ctr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Recall@3</a:t>
                      </a:r>
                    </a:p>
                  </a:txBody>
                  <a:tcPr marL="109728" marR="109728" marT="36576" marB="36576" anchor="ctr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Recall@5</a:t>
                      </a:r>
                    </a:p>
                  </a:txBody>
                  <a:tcPr marL="109728" marR="109728" marT="36576" marB="36576" anchor="ctr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걸린 시간</a:t>
                      </a:r>
                    </a:p>
                  </a:txBody>
                  <a:tcPr marL="109728" marR="109728" marT="36576" marB="36576" anchor="ctr"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리랭킹 안 함 (기준)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0.593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dirty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0.740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0 ms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 b="1" dirty="0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BGE </a:t>
                      </a:r>
                      <a:r>
                        <a:rPr sz="1600" b="1" dirty="0" err="1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  <a:endParaRPr sz="1600" b="1" dirty="0">
                        <a:solidFill>
                          <a:srgbClr val="16201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0.520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dirty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0.690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1,736 ms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 b="1" dirty="0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Qwen3 </a:t>
                      </a:r>
                      <a:r>
                        <a:rPr sz="1600" b="1" dirty="0" err="1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  <a:endParaRPr sz="1600" b="1" dirty="0">
                        <a:solidFill>
                          <a:srgbClr val="16201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0.630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dirty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0.727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dirty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2,222 </a:t>
                      </a:r>
                      <a:r>
                        <a:rPr sz="1600" b="0" dirty="0" err="1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ms</a:t>
                      </a:r>
                      <a:endParaRPr sz="1600" b="0" dirty="0">
                        <a:solidFill>
                          <a:srgbClr val="16201F"/>
                        </a:solidFill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001000" y="2560320"/>
            <a:ext cx="3504895" cy="1371600"/>
          </a:xfrm>
          <a:prstGeom prst="rect">
            <a:avLst/>
          </a:prstGeom>
          <a:solidFill>
            <a:srgbClr val="D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75320" y="2724912"/>
            <a:ext cx="295625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600" b="1">
                <a:solidFill>
                  <a:srgbClr val="AA4038"/>
                </a:solidFill>
                <a:latin typeface="Consolas"/>
                <a:ea typeface="Consolas"/>
                <a:cs typeface="Consolas"/>
              </a:rPr>
              <a:t>500배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3474720"/>
            <a:ext cx="29562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검색은 3ms인데
리랭킹은 2.2초가 걸립니다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434840"/>
            <a:ext cx="10820095" cy="1051560"/>
          </a:xfrm>
          <a:prstGeom prst="rect">
            <a:avLst/>
          </a:prstGeom>
          <a:solidFill>
            <a:srgbClr val="F5E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4434840"/>
            <a:ext cx="50800" cy="1051560"/>
          </a:xfrm>
          <a:prstGeom prst="rect">
            <a:avLst/>
          </a:prstGeom>
          <a:solidFill>
            <a:srgbClr val="AA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562856"/>
            <a:ext cx="103628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AA4038"/>
                </a:solidFill>
                <a:latin typeface="맑은 고딕"/>
                <a:ea typeface="맑은 고딕"/>
                <a:cs typeface="맑은 고딕"/>
              </a:rPr>
              <a:t>판단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73752"/>
            <a:ext cx="103628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점수는 거의 그대로인데 응답이 2초 넘게 느려집니다. 지금 단계에서는 그만한 값어치가 없다고 봤습니다.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E7C86"/>
                </a:solidFill>
                <a:latin typeface="맑은 고딕"/>
                <a:ea typeface="맑은 고딕"/>
                <a:cs typeface="맑은 고딕"/>
              </a:rPr>
              <a:t>왜 그럴까 (추정)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200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우리 문서들이 서로 너무 비슷하다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72768"/>
            <a:ext cx="100584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5725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D6DEDE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20095" cy="6048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dirty="0" err="1">
                <a:latin typeface="맑은 고딕"/>
                <a:ea typeface="맑은 고딕"/>
                <a:cs typeface="맑은 고딕"/>
              </a:rPr>
              <a:t>리랭커는</a:t>
            </a:r>
            <a:r>
              <a:rPr sz="1600" b="0" dirty="0">
                <a:latin typeface="맑은 고딕"/>
                <a:ea typeface="맑은 고딕"/>
                <a:cs typeface="맑은 고딕"/>
              </a:rPr>
              <a:t> '</a:t>
            </a:r>
            <a:r>
              <a:rPr sz="1600" b="0" dirty="0" err="1">
                <a:latin typeface="맑은 고딕"/>
                <a:ea typeface="맑은 고딕"/>
                <a:cs typeface="맑은 고딕"/>
              </a:rPr>
              <a:t>관련</a:t>
            </a:r>
            <a:r>
              <a:rPr sz="16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latin typeface="맑은 고딕"/>
                <a:ea typeface="맑은 고딕"/>
                <a:cs typeface="맑은 고딕"/>
              </a:rPr>
              <a:t>있는</a:t>
            </a:r>
            <a:r>
              <a:rPr sz="16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latin typeface="맑은 고딕"/>
                <a:ea typeface="맑은 고딕"/>
                <a:cs typeface="맑은 고딕"/>
              </a:rPr>
              <a:t>문서'와</a:t>
            </a:r>
            <a:r>
              <a:rPr sz="1600" b="0" dirty="0">
                <a:latin typeface="맑은 고딕"/>
                <a:ea typeface="맑은 고딕"/>
                <a:cs typeface="맑은 고딕"/>
              </a:rPr>
              <a:t> '</a:t>
            </a:r>
            <a:r>
              <a:rPr sz="1600" b="0" dirty="0" err="1">
                <a:latin typeface="맑은 고딕"/>
                <a:ea typeface="맑은 고딕"/>
                <a:cs typeface="맑은 고딕"/>
              </a:rPr>
              <a:t>관련</a:t>
            </a:r>
            <a:r>
              <a:rPr sz="16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latin typeface="맑은 고딕"/>
                <a:ea typeface="맑은 고딕"/>
                <a:cs typeface="맑은 고딕"/>
              </a:rPr>
              <a:t>없는</a:t>
            </a:r>
            <a:r>
              <a:rPr sz="16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latin typeface="맑은 고딕"/>
                <a:ea typeface="맑은 고딕"/>
                <a:cs typeface="맑은 고딕"/>
              </a:rPr>
              <a:t>문서'를</a:t>
            </a:r>
            <a:r>
              <a:rPr sz="16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latin typeface="맑은 고딕"/>
                <a:ea typeface="맑은 고딕"/>
                <a:cs typeface="맑은 고딕"/>
              </a:rPr>
              <a:t>가려내는</a:t>
            </a:r>
            <a:r>
              <a:rPr sz="1600" b="0" dirty="0">
                <a:latin typeface="맑은 고딕"/>
                <a:ea typeface="맑은 고딕"/>
                <a:cs typeface="맑은 고딕"/>
              </a:rPr>
              <a:t> 데 </a:t>
            </a:r>
            <a:r>
              <a:rPr sz="1600" b="0" dirty="0" err="1">
                <a:latin typeface="맑은 고딕"/>
                <a:ea typeface="맑은 고딕"/>
                <a:cs typeface="맑은 고딕"/>
              </a:rPr>
              <a:t>강합니다</a:t>
            </a:r>
            <a:r>
              <a:rPr sz="1600" b="0" dirty="0">
                <a:latin typeface="맑은 고딕"/>
                <a:ea typeface="맑은 고딕"/>
                <a:cs typeface="맑은 고딕"/>
              </a:rPr>
              <a:t>. </a:t>
            </a:r>
            <a:r>
              <a:rPr sz="1600" b="0" dirty="0" err="1">
                <a:latin typeface="맑은 고딕"/>
                <a:ea typeface="맑은 고딕"/>
                <a:cs typeface="맑은 고딕"/>
              </a:rPr>
              <a:t>그런데</a:t>
            </a:r>
            <a:r>
              <a:rPr sz="16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latin typeface="맑은 고딕"/>
                <a:ea typeface="맑은 고딕"/>
                <a:cs typeface="맑은 고딕"/>
              </a:rPr>
              <a:t>우리</a:t>
            </a:r>
            <a:r>
              <a:rPr sz="16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latin typeface="맑은 고딕"/>
                <a:ea typeface="맑은 고딕"/>
                <a:cs typeface="맑은 고딕"/>
              </a:rPr>
              <a:t>후보는</a:t>
            </a:r>
            <a:r>
              <a:rPr sz="16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latin typeface="맑은 고딕"/>
                <a:ea typeface="맑은 고딕"/>
                <a:cs typeface="맑은 고딕"/>
              </a:rPr>
              <a:t>전부</a:t>
            </a:r>
            <a:r>
              <a:rPr sz="16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latin typeface="맑은 고딕"/>
                <a:ea typeface="맑은 고딕"/>
                <a:cs typeface="맑은 고딕"/>
              </a:rPr>
              <a:t>어느</a:t>
            </a:r>
            <a:r>
              <a:rPr sz="16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latin typeface="맑은 고딕"/>
                <a:ea typeface="맑은 고딕"/>
                <a:cs typeface="맑은 고딕"/>
              </a:rPr>
              <a:t>정도</a:t>
            </a:r>
            <a:r>
              <a:rPr sz="16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latin typeface="맑은 고딕"/>
                <a:ea typeface="맑은 고딕"/>
                <a:cs typeface="맑은 고딕"/>
              </a:rPr>
              <a:t>관련</a:t>
            </a:r>
            <a:r>
              <a:rPr sz="16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latin typeface="맑은 고딕"/>
                <a:ea typeface="맑은 고딕"/>
                <a:cs typeface="맑은 고딕"/>
              </a:rPr>
              <a:t>있는</a:t>
            </a:r>
            <a:r>
              <a:rPr sz="16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latin typeface="맑은 고딕"/>
                <a:ea typeface="맑은 고딕"/>
                <a:cs typeface="맑은 고딕"/>
              </a:rPr>
              <a:t>비슷한</a:t>
            </a:r>
            <a:r>
              <a:rPr sz="16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latin typeface="맑은 고딕"/>
                <a:ea typeface="맑은 고딕"/>
                <a:cs typeface="맑은 고딕"/>
              </a:rPr>
              <a:t>문서였습니다</a:t>
            </a:r>
            <a:r>
              <a:rPr sz="1600" b="0" dirty="0"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606040"/>
            <a:ext cx="3423818" cy="1600200"/>
          </a:xfrm>
          <a:prstGeom prst="rect">
            <a:avLst/>
          </a:prstGeom>
          <a:solidFill>
            <a:srgbClr val="F2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834640"/>
            <a:ext cx="287517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 dirty="0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76%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데이터의</a:t>
            </a:r>
            <a:r>
              <a:rPr sz="1400" b="0" dirty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대부분이</a:t>
            </a:r>
            <a:r>
              <a:rPr sz="1400" b="0" dirty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
</a:t>
            </a:r>
            <a:r>
              <a:rPr sz="1400" b="0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학과</a:t>
            </a:r>
            <a:r>
              <a:rPr sz="1400" b="0" dirty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게시판</a:t>
            </a:r>
            <a:r>
              <a:rPr sz="1400" b="0" dirty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 한 </a:t>
            </a:r>
            <a:r>
              <a:rPr sz="1400" b="0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곳에서</a:t>
            </a:r>
            <a:r>
              <a:rPr sz="1400" b="0" dirty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나옴</a:t>
            </a:r>
            <a:endParaRPr sz="1400" b="0" dirty="0">
              <a:solidFill>
                <a:srgbClr val="66746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83938" y="2606040"/>
            <a:ext cx="3423818" cy="1600200"/>
          </a:xfrm>
          <a:prstGeom prst="rect">
            <a:avLst/>
          </a:prstGeom>
          <a:solidFill>
            <a:srgbClr val="F2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58258" y="2834640"/>
            <a:ext cx="287517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30%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연도·학기만 다른
똑같은 제목의 공지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82076" y="2606040"/>
            <a:ext cx="3423818" cy="1600200"/>
          </a:xfrm>
          <a:prstGeom prst="rect">
            <a:avLst/>
          </a:prstGeom>
          <a:solidFill>
            <a:srgbClr val="F2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56396" y="2834640"/>
            <a:ext cx="287517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55%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검색 상위 5개의 점수가
거의 붙어 있는 질문 비율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434840"/>
            <a:ext cx="108200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학과 게시판 3년치를 모은 데이터라, 한 분야 안의 비슷한 문서만 있습니다. 리랭커 입장에서는 우열을 가릴 단서가 부족했던 것으로 보입니다.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5120640"/>
            <a:ext cx="10820095" cy="914400"/>
          </a:xfrm>
          <a:prstGeom prst="rect">
            <a:avLst/>
          </a:prstGeom>
          <a:solidFill>
            <a:srgbClr val="F6E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5120640"/>
            <a:ext cx="50800" cy="914400"/>
          </a:xfrm>
          <a:prstGeom prst="rect">
            <a:avLst/>
          </a:prstGeom>
          <a:solidFill>
            <a:srgbClr val="8A6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248656"/>
            <a:ext cx="103628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A6212"/>
                </a:solidFill>
                <a:latin typeface="맑은 고딕"/>
                <a:ea typeface="맑은 고딕"/>
                <a:cs typeface="맑은 고딕"/>
              </a:rPr>
              <a:t>다만 — 아직 확실하지 않습니다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59552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이건 저희 추정이고, 검증이 끝난 결론은 아닙니다. 다음 장에서 설명하겠습니다.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E7C86"/>
                </a:solidFill>
                <a:latin typeface="맑은 고딕"/>
                <a:ea typeface="맑은 고딕"/>
                <a:cs typeface="맑은 고딕"/>
              </a:rPr>
              <a:t>다음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200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이제 프롬프트 전략을 만듭니다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72768"/>
            <a:ext cx="100584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5725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D6DEDE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200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지금 챗봇은 질문 하나만 받습니다. "그럼 승인 안 되면?" 같은 이어지는 질문을 못 알아듣습니다.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560320"/>
            <a:ext cx="502920" cy="9601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816352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688336"/>
            <a:ext cx="99056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dirty="0" err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이어지는</a:t>
            </a:r>
            <a:r>
              <a:rPr sz="1700" b="1" dirty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00" b="1" dirty="0" err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질문을</a:t>
            </a:r>
            <a:r>
              <a:rPr sz="1700" b="1" dirty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00" b="1" dirty="0" err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완전한</a:t>
            </a:r>
            <a:r>
              <a:rPr sz="1700" b="1" dirty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00" b="1" dirty="0" err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질문으로</a:t>
            </a:r>
            <a:r>
              <a:rPr sz="1700" b="1" dirty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00" b="1" dirty="0" err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바꾼다</a:t>
            </a:r>
            <a:endParaRPr sz="1700" b="1" dirty="0">
              <a:solidFill>
                <a:srgbClr val="16201F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dirty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"</a:t>
            </a:r>
            <a:r>
              <a:rPr sz="1400" b="0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그럼</a:t>
            </a:r>
            <a:r>
              <a:rPr sz="1400" b="0" dirty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400" b="0" dirty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 안 </a:t>
            </a:r>
            <a:r>
              <a:rPr sz="1400" b="0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되면</a:t>
            </a:r>
            <a:r>
              <a:rPr sz="1400" b="0" dirty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?" → "2026-2학기 </a:t>
            </a:r>
            <a:r>
              <a:rPr sz="1400" b="0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수강지도</a:t>
            </a:r>
            <a:r>
              <a:rPr sz="1400" b="0" dirty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상담</a:t>
            </a:r>
            <a:r>
              <a:rPr sz="1400" b="0" dirty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미승인</a:t>
            </a:r>
            <a:r>
              <a:rPr sz="1400" b="0" dirty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 시 </a:t>
            </a:r>
            <a:r>
              <a:rPr sz="1400" b="0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제한</a:t>
            </a:r>
            <a:r>
              <a:rPr sz="1400" b="0" dirty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703320"/>
            <a:ext cx="502920" cy="9601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3959352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831336"/>
            <a:ext cx="99056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dirty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그 </a:t>
            </a:r>
            <a:r>
              <a:rPr sz="1700" b="1" dirty="0" err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질문으로</a:t>
            </a:r>
            <a:r>
              <a:rPr sz="1700" b="1" dirty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00" b="1" dirty="0" err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검색하되</a:t>
            </a:r>
            <a:r>
              <a:rPr sz="1700" b="1" dirty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700" b="1" dirty="0" err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공지와</a:t>
            </a:r>
            <a:r>
              <a:rPr sz="1700" b="1" dirty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00" b="1" dirty="0" err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후기를</a:t>
            </a:r>
            <a:r>
              <a:rPr sz="1700" b="1" dirty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00" b="1" dirty="0" err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구분한다</a:t>
            </a:r>
            <a:endParaRPr sz="1700" b="1" dirty="0">
              <a:solidFill>
                <a:srgbClr val="16201F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일정·신청은</a:t>
            </a:r>
            <a:r>
              <a:rPr sz="1400" b="0" dirty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공식</a:t>
            </a:r>
            <a:r>
              <a:rPr sz="1400" b="0" dirty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공지만</a:t>
            </a:r>
            <a:r>
              <a:rPr sz="1400" b="0" dirty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 / </a:t>
            </a:r>
            <a:r>
              <a:rPr sz="1400" b="0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강의</a:t>
            </a:r>
            <a:r>
              <a:rPr sz="1400" b="0" dirty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후기는</a:t>
            </a:r>
            <a:r>
              <a:rPr sz="1400" b="0" dirty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에브리타임만</a:t>
            </a:r>
            <a:endParaRPr sz="1400" b="0" dirty="0">
              <a:solidFill>
                <a:srgbClr val="66746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85800" y="4846320"/>
            <a:ext cx="502920" cy="9601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5102352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974336"/>
            <a:ext cx="99056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검색된 자료만으로 답하고 출처를 붙인다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무엇을 묻는지 모르면 추측하지 않고 되묻는다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6035040"/>
            <a:ext cx="10820095" cy="685800"/>
          </a:xfrm>
          <a:prstGeom prst="rect">
            <a:avLst/>
          </a:prstGeom>
          <a:solidFill>
            <a:srgbClr val="D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6199632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핵심 — 이전 대화는 '무엇을 찾을지' 정할 때만 쓰고, 답변의 근거로는 쓰지 않습니다.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E7C86"/>
                </a:solidFill>
                <a:latin typeface="맑은 고딕"/>
                <a:ea typeface="맑은 고딕"/>
                <a:cs typeface="맑은 고딕"/>
              </a:rPr>
              <a:t>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200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이번에 배운 것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72768"/>
            <a:ext cx="100584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5725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D6DEDE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965960"/>
          <a:ext cx="10820093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50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7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477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109728" marR="109728" marT="36576" marB="36576" anchor="ctr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결정</a:t>
                      </a:r>
                    </a:p>
                  </a:txBody>
                  <a:tcPr marL="109728" marR="109728" marT="36576" marB="36576" anchor="ctr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이유</a:t>
                      </a:r>
                    </a:p>
                  </a:txBody>
                  <a:tcPr marL="109728" marR="109728" marT="36576" marB="36576" anchor="ctr"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청킹 500 토큰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그대로 유지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우리 문서 길이(중간값 445)와 잘 맞음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Overlap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쓰지 않음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좋아진 건 확인 못 하고 비용만 늘어남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리랭킹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지금은 보류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점수는 그대로인데 2.2초 느려짐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프롬프트 전략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다음에 구현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이어지는 질문 처리가 필요함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160520"/>
            <a:ext cx="10820095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700" b="1">
                <a:solidFill>
                  <a:srgbClr val="0E7C86"/>
                </a:solidFill>
                <a:latin typeface="맑은 고딕"/>
                <a:ea typeface="맑은 고딕"/>
                <a:cs typeface="맑은 고딕"/>
              </a:rPr>
              <a:t>✓  </a:t>
            </a:r>
            <a:r>
              <a:rPr sz="1700" b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관행이라고 그냥 쓰지 않고, 넣어보고 재보고 근거를 갖고 뺐습니다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700" b="1">
                <a:solidFill>
                  <a:srgbClr val="0E7C86"/>
                </a:solidFill>
                <a:latin typeface="맑은 고딕"/>
                <a:ea typeface="맑은 고딕"/>
                <a:cs typeface="맑은 고딕"/>
              </a:rPr>
              <a:t>✓  </a:t>
            </a:r>
            <a:r>
              <a:rPr sz="1700" b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안 되는 이유를 찾다 보니 우리 데이터의 성격을 훨씬 잘 알게 됐습니다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700" b="1">
                <a:solidFill>
                  <a:srgbClr val="0E7C86"/>
                </a:solidFill>
                <a:latin typeface="맑은 고딕"/>
                <a:ea typeface="맑은 고딕"/>
                <a:cs typeface="맑은 고딕"/>
              </a:rPr>
              <a:t>✓  </a:t>
            </a:r>
            <a:r>
              <a:rPr sz="1700" b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아직 검증이 덜 끝난 부분은 덜 끝났다고 말하는 게 맞다고 생각합니다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922</Words>
  <Application>Microsoft Office PowerPoint</Application>
  <PresentationFormat>와이드스크린</PresentationFormat>
  <Paragraphs>223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정서인</cp:lastModifiedBy>
  <cp:revision>3</cp:revision>
  <dcterms:created xsi:type="dcterms:W3CDTF">2013-01-27T09:14:16Z</dcterms:created>
  <dcterms:modified xsi:type="dcterms:W3CDTF">2026-08-11T10:04:15Z</dcterms:modified>
  <cp:category/>
</cp:coreProperties>
</file>